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15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B35">
                  <a:alpha val="10000"/>
                </a:srgbClr>
              </a:gs>
              <a:gs pos="100000">
                <a:srgbClr val="FF6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30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905000"/>
            <a:ext cx="38100" cy="3048000"/>
          </a:xfrm>
          <a:prstGeom prst="rect">
            <a:avLst/>
          </a:prstGeom>
          <a:solidFill>
            <a:srgbClr val="00D4FF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66750" y="2286000"/>
            <a:ext cx="38100" cy="2286000"/>
          </a:xfrm>
          <a:prstGeom prst="rect">
            <a:avLst/>
          </a:prstGeom>
          <a:solidFill>
            <a:srgbClr val="4ECDC4">
              <a:alpha val="4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715500" y="666750"/>
            <a:ext cx="1524000" cy="1524000"/>
          </a:xfrm>
          <a:prstGeom prst="ellipse">
            <a:avLst/>
          </a:prstGeom>
          <a:noFill/>
          <a:ln w="9525">
            <a:solidFill>
              <a:srgbClr val="00D4FF">
                <a:alpha val="20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906000" y="857250"/>
            <a:ext cx="1143000" cy="1143000"/>
          </a:xfrm>
          <a:prstGeom prst="ellipse">
            <a:avLst/>
          </a:prstGeom>
          <a:noFill/>
          <a:ln w="9525">
            <a:solidFill>
              <a:srgbClr val="4ECDC4">
                <a:alpha val="15000"/>
              </a:srgbClr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810750" y="4572000"/>
            <a:ext cx="2286000" cy="2286000"/>
          </a:xfrm>
          <a:prstGeom prst="ellipse">
            <a:avLst/>
          </a:prstGeom>
          <a:noFill/>
          <a:ln w="9525">
            <a:solidFill>
              <a:srgbClr val="FF6B35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190504" y="2404110"/>
            <a:ext cx="581099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00D4FF"/>
                    </a:gs>
                    <a:gs pos="100000">
                      <a:srgbClr val="4ECDC4"/>
                    </a:gs>
                  </a:gsLst>
                  <a:lin ang="27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PyMS 网页爬虫控制台</a:t>
            </a:r>
            <a:endParaRPr lang="zh-CN" sz="4200" b="1" dirty="0">
              <a:gradFill>
                <a:gsLst>
                  <a:gs pos="0">
                    <a:srgbClr val="00D4FF"/>
                  </a:gs>
                  <a:gs pos="100000">
                    <a:srgbClr val="4ECDC4"/>
                  </a:gs>
                </a:gsLst>
                <a:lin ang="2700000" scaled="1"/>
              </a:gra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282982" y="3297555"/>
            <a:ext cx="56260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8EAED">
                    <a:alphaMod val="9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 Python 的数据爬虫与可视化云服务设计</a:t>
            </a:r>
            <a:endParaRPr lang="zh-CN" sz="2100" dirty="0">
              <a:solidFill>
                <a:srgbClr val="E8EAED">
                  <a:alphaMod val="9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4191000" y="39052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00D4FF">
                <a:alpha val="6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538788" y="4235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课程设计汇报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28703" y="4537710"/>
            <a:ext cx="9345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 年 6 月</a:t>
            </a:r>
            <a:endParaRPr 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4ECDC4">
              <a:alpha val="2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285750" y="285750"/>
            <a:ext cx="381000" cy="1905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285750" y="285750"/>
            <a:ext cx="19050" cy="38100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1525250" y="285750"/>
            <a:ext cx="381000" cy="1905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1887200" y="285750"/>
            <a:ext cx="19050" cy="38100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285750" y="6553200"/>
            <a:ext cx="381000" cy="1905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285750" y="6191250"/>
            <a:ext cx="19050" cy="38100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1525250" y="6553200"/>
            <a:ext cx="381000" cy="1905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11887200" y="6191250"/>
            <a:ext cx="19050" cy="38100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项目概述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3333750" cy="5143500"/>
          </a:xfrm>
          <a:prstGeom prst="roundRect">
            <a:avLst>
              <a:gd name="adj" fmla="val 342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428750"/>
            <a:ext cx="28575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3920" y="1441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项目定位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5355" y="1949768"/>
            <a:ext cx="1062990" cy="80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计算机专业</a:t>
            </a:r>
            <a:r>
              <a:rPr lang="zh-CN" sz="13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大一学生的</a:t>
            </a:r>
            <a:r>
              <a:rPr lang="zh-CN" sz="13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课程设计项目</a:t>
            </a:r>
            <a:endParaRPr lang="zh-CN" sz="13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2286000" y="1905000"/>
            <a:ext cx="762000" cy="762000"/>
          </a:xfrm>
          <a:prstGeom prst="ellipse">
            <a:avLst/>
          </a:prstGeom>
          <a:noFill/>
          <a:ln w="19050">
            <a:solidFill>
              <a:srgbClr val="00D4FF">
                <a:alpha val="3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2552700" y="2076450"/>
            <a:ext cx="228600" cy="228600"/>
          </a:xfrm>
          <a:prstGeom prst="ellipse">
            <a:avLst/>
          </a:prstGeom>
          <a:noFill/>
          <a:ln w="19050">
            <a:solidFill>
              <a:srgbClr val="00D4FF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2476500" y="2413000"/>
            <a:ext cx="381000" cy="63500"/>
          </a:xfrm>
          <a:custGeom>
            <a:avLst/>
            <a:gdLst/>
            <a:ahLst/>
            <a:cxnLst/>
            <a:rect l="l" t="t" r="r" b="b"/>
            <a:pathLst>
              <a:path w="381000" h="63500">
                <a:moveTo>
                  <a:pt x="0" y="63500"/>
                </a:moveTo>
                <a:cubicBezTo>
                  <a:pt x="127000" y="0"/>
                  <a:pt x="254000" y="0"/>
                  <a:pt x="381000" y="63500"/>
                </a:cubicBez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62000" y="3238500"/>
            <a:ext cx="28575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3920" y="3250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核心目标</a:t>
            </a:r>
            <a:endParaRPr lang="zh-CN" sz="16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7260" y="3680460"/>
            <a:ext cx="14249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2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综合运用 Python </a:t>
            </a:r>
            <a:r>
              <a:rPr lang="zh-CN" sz="12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 开发、数据爬取</a:t>
            </a:r>
            <a:r>
              <a:rPr lang="zh-CN" sz="12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清洗与可视化技术</a:t>
            </a:r>
            <a:endParaRPr lang="zh-CN" sz="12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4191000" y="1143000"/>
            <a:ext cx="7429500" cy="5143500"/>
          </a:xfrm>
          <a:prstGeom prst="roundRect">
            <a:avLst>
              <a:gd name="adj" fmla="val 222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81500" y="1428750"/>
            <a:ext cx="28575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03420" y="1441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主要功能流程</a:t>
            </a:r>
            <a:endParaRPr lang="zh-CN" sz="16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4572000" y="2095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891669" y="2299335"/>
            <a:ext cx="6941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URL 提交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987290" y="25698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配置参数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5905500" y="2476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286500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477000" y="2095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92468" y="2299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网页爬取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832282" y="25698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多线程并发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7810500" y="2476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8191500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382000" y="2095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697468" y="2299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数据清洗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737282" y="25698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去重规范化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4572000" y="3619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887468" y="3823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词云生成</a:t>
            </a:r>
            <a:endParaRPr lang="zh-CN" sz="12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954286" y="4093845"/>
            <a:ext cx="568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 分词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9048750" y="2857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9001125" y="3238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5238750" y="3333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3810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D4FF"/>
            </a:solidFill>
            <a:custDash>
              <a:ds d="250000" sp="250000"/>
            </a:custDash>
          </a:ln>
        </p:spPr>
      </p:sp>
      <p:sp>
        <p:nvSpPr>
          <p:cNvPr id="38" name="Line 38"/>
          <p:cNvSpPr/>
          <p:nvPr/>
        </p:nvSpPr>
        <p:spPr>
          <a:xfrm>
            <a:off x="5238750" y="3333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519112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40" name="Line 40"/>
          <p:cNvSpPr/>
          <p:nvPr/>
        </p:nvSpPr>
        <p:spPr>
          <a:xfrm>
            <a:off x="5905500" y="4000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6286500" y="3952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477000" y="3619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792468" y="3823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情感分析</a:t>
            </a:r>
            <a:endParaRPr lang="zh-CN" sz="12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829282" y="4093845"/>
            <a:ext cx="6289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Senta 模型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Line 45"/>
          <p:cNvSpPr/>
          <p:nvPr/>
        </p:nvSpPr>
        <p:spPr>
          <a:xfrm>
            <a:off x="7810500" y="4000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8191500" y="3952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382000" y="3619500"/>
            <a:ext cx="1333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697468" y="3823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结果导出</a:t>
            </a:r>
            <a:endParaRPr lang="zh-CN" sz="12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761286" y="40938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JSON/CSV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4381500" y="4953000"/>
            <a:ext cx="7048500" cy="952500"/>
          </a:xfrm>
          <a:prstGeom prst="roundRect">
            <a:avLst>
              <a:gd name="adj" fmla="val 8000"/>
            </a:avLst>
          </a:prstGeom>
          <a:solidFill>
            <a:srgbClr val="0F1419">
              <a:alpha val="5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556760" y="5156835"/>
            <a:ext cx="42550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PyMS 是一个基于 Python Sanic 框架的网页爬虫控制台系统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558665" y="5458778"/>
            <a:ext cx="5760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通过浏览器提交 URL，系统自动抓取网页、清洗数据、生成词云图、进行情感分析、展示结果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2027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技术栈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64105" y="5019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Tech Stack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143000"/>
            <a:ext cx="2571750" cy="2476500"/>
          </a:xfrm>
          <a:prstGeom prst="roundRect">
            <a:avLst>
              <a:gd name="adj" fmla="val 461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2571750" cy="2476500"/>
          </a:xfrm>
          <a:prstGeom prst="roundRect">
            <a:avLst>
              <a:gd name="adj" fmla="val 4615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524000" y="1428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619250" y="1571625"/>
            <a:ext cx="381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619250" y="1666875"/>
            <a:ext cx="381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619250" y="1762125"/>
            <a:ext cx="381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828800" y="1590675"/>
            <a:ext cx="57150" cy="5715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09410" y="2107882"/>
            <a:ext cx="10006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 框架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6325" y="2473642"/>
            <a:ext cx="5068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</a:t>
            </a:r>
            <a:endParaRPr lang="zh-CN" sz="135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6354" y="27441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高性能异步框架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36345" y="29346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支持异步请求处理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4348" y="3125152"/>
            <a:ext cx="1090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RESTful API 路由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3333750" y="1143000"/>
            <a:ext cx="2571750" cy="2476500"/>
          </a:xfrm>
          <a:prstGeom prst="roundRect">
            <a:avLst>
              <a:gd name="adj" fmla="val 461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333750" y="1143000"/>
            <a:ext cx="2571750" cy="2476500"/>
          </a:xfrm>
          <a:prstGeom prst="roundRect">
            <a:avLst>
              <a:gd name="adj" fmla="val 4615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286250" y="1428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4381500" y="1543050"/>
            <a:ext cx="381000" cy="152400"/>
          </a:xfrm>
          <a:prstGeom prst="ellipse">
            <a:avLst/>
          </a:prstGeom>
          <a:noFill/>
          <a:ln w="19050">
            <a:solidFill>
              <a:srgbClr val="4ECDC4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438150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solidFill>
            <a:srgbClr val="000000"/>
          </a:solidFill>
          <a:ln w="19050">
            <a:solidFill>
              <a:srgbClr val="4ECDC4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476250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solidFill>
            <a:srgbClr val="000000"/>
          </a:solidFill>
          <a:ln w="19050">
            <a:solidFill>
              <a:srgbClr val="4ECDC4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4381500" y="1781175"/>
            <a:ext cx="381000" cy="152400"/>
          </a:xfrm>
          <a:prstGeom prst="ellipse">
            <a:avLst/>
          </a:prstGeom>
          <a:noFill/>
          <a:ln w="19050">
            <a:solidFill>
              <a:srgbClr val="4ECDC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088987" y="2107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数据存储</a:t>
            </a:r>
            <a:endParaRPr lang="zh-CN" sz="16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247692" y="2473642"/>
            <a:ext cx="6486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</a:t>
            </a:r>
            <a:endParaRPr lang="zh-CN" sz="135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138612" y="27441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轻量级数据库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68604" y="29346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存储任务、队列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928586" y="31251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原始数据、清洗结果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0" y="1143000"/>
            <a:ext cx="2571750" cy="2476500"/>
          </a:xfrm>
          <a:prstGeom prst="roundRect">
            <a:avLst>
              <a:gd name="adj" fmla="val 461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096000" y="1143000"/>
            <a:ext cx="2571750" cy="2476500"/>
          </a:xfrm>
          <a:prstGeom prst="roundRect">
            <a:avLst>
              <a:gd name="adj" fmla="val 4615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7048500" y="1428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7191375" y="1524000"/>
            <a:ext cx="285750" cy="285750"/>
          </a:xfrm>
          <a:prstGeom prst="ellipse">
            <a:avLst/>
          </a:prstGeom>
          <a:noFill/>
          <a:ln w="19050">
            <a:solidFill>
              <a:srgbClr val="FF6B35"/>
            </a:solidFill>
          </a:ln>
        </p:spPr>
      </p:sp>
      <p:sp>
        <p:nvSpPr>
          <p:cNvPr id="35" name="Line 35"/>
          <p:cNvSpPr/>
          <p:nvPr/>
        </p:nvSpPr>
        <p:spPr>
          <a:xfrm>
            <a:off x="7191375" y="166687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FF6B35"/>
            </a:solidFill>
          </a:ln>
        </p:spPr>
      </p:sp>
      <p:sp>
        <p:nvSpPr>
          <p:cNvPr id="36" name="Line 36"/>
          <p:cNvSpPr/>
          <p:nvPr/>
        </p:nvSpPr>
        <p:spPr>
          <a:xfrm>
            <a:off x="7334250" y="1524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FF6B35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7219950" y="1571625"/>
            <a:ext cx="228600" cy="19050"/>
          </a:xfrm>
          <a:custGeom>
            <a:avLst/>
            <a:gdLst/>
            <a:ahLst/>
            <a:cxnLst/>
            <a:rect l="l" t="t" r="r" b="b"/>
            <a:pathLst>
              <a:path w="228600" h="19050">
                <a:moveTo>
                  <a:pt x="0" y="0"/>
                </a:moveTo>
                <a:cubicBezTo>
                  <a:pt x="76200" y="19050"/>
                  <a:pt x="152400" y="19050"/>
                  <a:pt x="228600" y="0"/>
                </a:cubicBezTo>
              </a:path>
            </a:pathLst>
          </a:custGeom>
          <a:noFill/>
          <a:ln w="9525">
            <a:solidFill>
              <a:srgbClr val="FF6B35"/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7219950" y="1743075"/>
            <a:ext cx="228600" cy="19050"/>
          </a:xfrm>
          <a:custGeom>
            <a:avLst/>
            <a:gdLst/>
            <a:ahLst/>
            <a:cxnLst/>
            <a:rect l="l" t="t" r="r" b="b"/>
            <a:pathLst>
              <a:path w="228600" h="19050">
                <a:moveTo>
                  <a:pt x="0" y="19050"/>
                </a:moveTo>
                <a:cubicBezTo>
                  <a:pt x="76200" y="0"/>
                  <a:pt x="152400" y="0"/>
                  <a:pt x="228600" y="19050"/>
                </a:cubicBezTo>
              </a:path>
            </a:pathLst>
          </a:custGeom>
          <a:noFill/>
          <a:ln w="9525">
            <a:solidFill>
              <a:srgbClr val="FF6B3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851237" y="2107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网页解析</a:t>
            </a:r>
            <a:endParaRPr lang="zh-CN" sz="16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714134" y="2489835"/>
            <a:ext cx="12402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Requests + BS4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865858" y="2744152"/>
            <a:ext cx="9367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HTTP 客户端库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921865" y="2934652"/>
            <a:ext cx="8247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HTML 解析库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900862" y="31251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提取网页内容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8858250" y="1143000"/>
            <a:ext cx="2571750" cy="2476500"/>
          </a:xfrm>
          <a:prstGeom prst="roundRect">
            <a:avLst>
              <a:gd name="adj" fmla="val 461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858250" y="1143000"/>
            <a:ext cx="2571750" cy="2476500"/>
          </a:xfrm>
          <a:prstGeom prst="roundRect">
            <a:avLst>
              <a:gd name="adj" fmla="val 4615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9810750" y="1428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941624" y="15201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Aa</a:t>
            </a:r>
            <a:endParaRPr lang="zh-CN" sz="18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9906000" y="1809750"/>
            <a:ext cx="381000" cy="2857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9953625" y="1876425"/>
            <a:ext cx="285750" cy="28575"/>
          </a:xfrm>
          <a:prstGeom prst="rect">
            <a:avLst/>
          </a:prstGeom>
          <a:solidFill>
            <a:srgbClr val="00D4FF">
              <a:alpha val="6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661112" y="2107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文本处理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431598" y="2489835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 + WordCloud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738236" y="2727960"/>
            <a:ext cx="8117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snownlp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500711" y="298227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中文分词、词云生成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850755" y="31727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情感分析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571500" y="4000500"/>
            <a:ext cx="10858500" cy="2286000"/>
          </a:xfrm>
          <a:prstGeom prst="roundRect">
            <a:avLst>
              <a:gd name="adj" fmla="val 5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742950" y="4219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前端技术</a:t>
            </a:r>
            <a:endParaRPr lang="zh-CN" sz="15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762000" y="4572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082230" y="4680585"/>
            <a:ext cx="5025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HTML5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Rectangle 59"/>
          <p:cNvSpPr/>
          <p:nvPr/>
        </p:nvSpPr>
        <p:spPr>
          <a:xfrm>
            <a:off x="2095500" y="4572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4ECDC4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2475738" y="4680585"/>
            <a:ext cx="3825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CSS3</a:t>
            </a:r>
            <a:endParaRPr lang="zh-CN" sz="12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3429000" y="4572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FF6B35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3565207" y="468058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JavaScript</a:t>
            </a:r>
            <a:endParaRPr lang="zh-CN" sz="12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4762500" y="4572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186744" y="4680585"/>
            <a:ext cx="2945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SSE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6082665" y="46967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实时事件流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742950" y="5267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后端技术</a:t>
            </a:r>
            <a:endParaRPr lang="zh-CN" sz="15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762000" y="5619750"/>
            <a:ext cx="13335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49452" y="5728335"/>
            <a:ext cx="9585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Python 3.8+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2286000" y="5619750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4ECDC4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2546985" y="5728335"/>
            <a:ext cx="4305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</a:t>
            </a:r>
            <a:endParaRPr lang="zh-CN" sz="12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3429000" y="56197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FF6B35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725227" y="5728335"/>
            <a:ext cx="5505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</a:t>
            </a:r>
            <a:endParaRPr lang="zh-CN" sz="12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4762500" y="5619750"/>
            <a:ext cx="13335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37938" y="5728335"/>
            <a:ext cx="11826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BeautifulSoup4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5" name="Rectangle 75"/>
          <p:cNvSpPr/>
          <p:nvPr/>
        </p:nvSpPr>
        <p:spPr>
          <a:xfrm>
            <a:off x="6286500" y="5619750"/>
            <a:ext cx="9525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4ECDC4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6567488" y="5728335"/>
            <a:ext cx="3905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</a:t>
            </a:r>
            <a:endParaRPr lang="zh-CN" sz="12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7" name="Rectangle 77"/>
          <p:cNvSpPr/>
          <p:nvPr/>
        </p:nvSpPr>
        <p:spPr>
          <a:xfrm>
            <a:off x="7429500" y="5619750"/>
            <a:ext cx="123825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FF6B35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7641336" y="5728335"/>
            <a:ext cx="8145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WordCloud</a:t>
            </a:r>
            <a:endParaRPr lang="zh-CN" sz="12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Rectangle 79"/>
          <p:cNvSpPr/>
          <p:nvPr/>
        </p:nvSpPr>
        <p:spPr>
          <a:xfrm>
            <a:off x="8858250" y="56197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9110472" y="5728335"/>
            <a:ext cx="6385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snownlp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2" name="Rectangle 8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系统架构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64105" y="501968"/>
            <a:ext cx="18615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System Architecture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952500" y="142875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15296" y="16163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用户浏览器</a:t>
            </a:r>
            <a:endParaRPr lang="zh-CN" sz="13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11630" y="1886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前端界面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2857500" y="1809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3619500" y="176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0" y="142875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93986" y="1616392"/>
            <a:ext cx="1537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 Web 服务器</a:t>
            </a:r>
            <a:endParaRPr lang="zh-CN" sz="13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378119" y="1886902"/>
            <a:ext cx="7687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RESTful API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5715000" y="1809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6477000" y="176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667500" y="142875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224808" y="1616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任务管理</a:t>
            </a:r>
            <a:endParaRPr lang="zh-CN" sz="13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239119" y="1886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service.py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8572500" y="1809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FF6B35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9334500" y="176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9525000" y="14287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816936" y="1616392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爬虫 Worker</a:t>
            </a:r>
            <a:endParaRPr lang="zh-CN" sz="13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008370" y="1886902"/>
            <a:ext cx="747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worker.py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1905000" y="2857500"/>
            <a:ext cx="8572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4ECDC4"/>
            </a:solidFill>
            <a:custDash>
              <a:ds d="250000" sp="250000"/>
            </a:custDash>
          </a:ln>
        </p:spPr>
      </p:sp>
      <p:sp>
        <p:nvSpPr>
          <p:cNvPr id="27" name="TextBox 27"/>
          <p:cNvSpPr txBox="1"/>
          <p:nvPr/>
        </p:nvSpPr>
        <p:spPr>
          <a:xfrm>
            <a:off x="5647134" y="3028950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数据处理层</a:t>
            </a:r>
            <a:endParaRPr lang="zh-CN" sz="15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28734" y="331565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cleaning.py - 数据清洗、词云生成、情感分析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10382250" y="2190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30" name="Line 30"/>
          <p:cNvSpPr/>
          <p:nvPr/>
        </p:nvSpPr>
        <p:spPr>
          <a:xfrm>
            <a:off x="6191250" y="25717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4191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D4FF"/>
            </a:solidFill>
            <a:custDash>
              <a:ds d="250000" sp="250000"/>
            </a:custDash>
          </a:ln>
        </p:spPr>
      </p:sp>
      <p:sp>
        <p:nvSpPr>
          <p:cNvPr id="31" name="Line 31"/>
          <p:cNvSpPr/>
          <p:nvPr/>
        </p:nvSpPr>
        <p:spPr>
          <a:xfrm>
            <a:off x="6191250" y="2571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6143625" y="2857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1905000" y="4191000"/>
            <a:ext cx="38100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20296" y="44262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可视化展示</a:t>
            </a:r>
            <a:endParaRPr lang="zh-CN" sz="13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086076" y="474440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词云图 + 情感分析饼图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42862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37" name="Line 37"/>
          <p:cNvSpPr/>
          <p:nvPr/>
        </p:nvSpPr>
        <p:spPr>
          <a:xfrm>
            <a:off x="3810000" y="39052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476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ECDC4"/>
            </a:solidFill>
            <a:custDash>
              <a:ds d="250000" sp="250000"/>
            </a:custDash>
          </a:ln>
        </p:spPr>
      </p:sp>
      <p:sp>
        <p:nvSpPr>
          <p:cNvPr id="38" name="Line 38"/>
          <p:cNvSpPr/>
          <p:nvPr/>
        </p:nvSpPr>
        <p:spPr>
          <a:xfrm>
            <a:off x="3810000" y="3905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3762375" y="4191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667500" y="4191000"/>
            <a:ext cx="38100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177308" y="4426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结果导出</a:t>
            </a:r>
            <a:endParaRPr lang="zh-CN" sz="13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034099" y="4744402"/>
            <a:ext cx="10768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 / CSV 格式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80962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44" name="Line 44"/>
          <p:cNvSpPr/>
          <p:nvPr/>
        </p:nvSpPr>
        <p:spPr>
          <a:xfrm>
            <a:off x="8096250" y="39052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4ECDC4"/>
            </a:solidFill>
            <a:custDash>
              <a:ds d="250000" sp="250000"/>
            </a:custDash>
          </a:ln>
        </p:spPr>
      </p:sp>
      <p:sp>
        <p:nvSpPr>
          <p:cNvPr id="45" name="Line 45"/>
          <p:cNvSpPr/>
          <p:nvPr/>
        </p:nvSpPr>
        <p:spPr>
          <a:xfrm>
            <a:off x="8572500" y="3905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8524875" y="4191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3810000" y="571500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484364" y="5886450"/>
            <a:ext cx="14137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 数据库</a:t>
            </a:r>
            <a:endParaRPr lang="zh-CN" sz="15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412599" y="6094095"/>
            <a:ext cx="35573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tasks / queue_items / raw_items / clean_items / event_logs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Line 50"/>
          <p:cNvSpPr/>
          <p:nvPr/>
        </p:nvSpPr>
        <p:spPr>
          <a:xfrm>
            <a:off x="4762500" y="2190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1" name="Line 51"/>
          <p:cNvSpPr/>
          <p:nvPr/>
        </p:nvSpPr>
        <p:spPr>
          <a:xfrm>
            <a:off x="4762500" y="24765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2" name="Line 52"/>
          <p:cNvSpPr/>
          <p:nvPr/>
        </p:nvSpPr>
        <p:spPr>
          <a:xfrm>
            <a:off x="7620000" y="2190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3" name="Line 53"/>
          <p:cNvSpPr/>
          <p:nvPr/>
        </p:nvSpPr>
        <p:spPr>
          <a:xfrm>
            <a:off x="7620000" y="24765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4" name="Line 54"/>
          <p:cNvSpPr/>
          <p:nvPr/>
        </p:nvSpPr>
        <p:spPr>
          <a:xfrm>
            <a:off x="10382250" y="21907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5" name="Line 55"/>
          <p:cNvSpPr/>
          <p:nvPr/>
        </p:nvSpPr>
        <p:spPr>
          <a:xfrm>
            <a:off x="8572500" y="2476500"/>
            <a:ext cx="1809750" cy="9525"/>
          </a:xfrm>
          <a:custGeom>
            <a:avLst/>
            <a:gdLst/>
            <a:ahLst/>
            <a:cxnLst/>
            <a:rect l="l" t="t" r="r" b="b"/>
            <a:pathLst>
              <a:path w="1809750" h="9525">
                <a:moveTo>
                  <a:pt x="180975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6" name="Line 56"/>
          <p:cNvSpPr/>
          <p:nvPr/>
        </p:nvSpPr>
        <p:spPr>
          <a:xfrm>
            <a:off x="8572500" y="24765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57" name="Rectangle 57"/>
          <p:cNvSpPr/>
          <p:nvPr/>
        </p:nvSpPr>
        <p:spPr>
          <a:xfrm>
            <a:off x="952500" y="2667000"/>
            <a:ext cx="762000" cy="285750"/>
          </a:xfrm>
          <a:prstGeom prst="roundRect">
            <a:avLst>
              <a:gd name="adj" fmla="val 13333"/>
            </a:avLst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218107" y="2760345"/>
            <a:ext cx="2307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SSE</a:t>
            </a:r>
            <a:endParaRPr lang="zh-CN" sz="9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Line 59"/>
          <p:cNvSpPr/>
          <p:nvPr/>
        </p:nvSpPr>
        <p:spPr>
          <a:xfrm>
            <a:off x="1714500" y="280987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00D4FF"/>
            </a:solidFill>
            <a:custDash>
              <a:ds d="300000" sp="300000"/>
            </a:custDash>
          </a:ln>
        </p:spPr>
      </p:sp>
      <p:sp>
        <p:nvSpPr>
          <p:cNvPr id="60" name="Polygon 60"/>
          <p:cNvSpPr/>
          <p:nvPr/>
        </p:nvSpPr>
        <p:spPr>
          <a:xfrm>
            <a:off x="3810000" y="2762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952500" y="5905500"/>
            <a:ext cx="1905000" cy="381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2D3748"/>
            </a:solidFill>
          </a:ln>
        </p:spPr>
      </p:sp>
      <p:sp>
        <p:nvSpPr>
          <p:cNvPr id="62" name="Line 62"/>
          <p:cNvSpPr/>
          <p:nvPr/>
        </p:nvSpPr>
        <p:spPr>
          <a:xfrm>
            <a:off x="1047750" y="60960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417320" y="604647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数据流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Line 64"/>
          <p:cNvSpPr/>
          <p:nvPr/>
        </p:nvSpPr>
        <p:spPr>
          <a:xfrm>
            <a:off x="1905000" y="60960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9525">
            <a:solidFill>
              <a:srgbClr val="2D3748"/>
            </a:solidFill>
            <a:custDash>
              <a:ds d="300000" sp="300000"/>
            </a:custDash>
          </a:ln>
        </p:spPr>
      </p:sp>
      <p:sp>
        <p:nvSpPr>
          <p:cNvPr id="65" name="TextBox 65"/>
          <p:cNvSpPr txBox="1"/>
          <p:nvPr/>
        </p:nvSpPr>
        <p:spPr>
          <a:xfrm>
            <a:off x="2274570" y="604647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数据库连接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任务状态机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840355" y="5019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State Machine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6667500" cy="5334000"/>
          </a:xfrm>
          <a:prstGeom prst="roundRect">
            <a:avLst>
              <a:gd name="adj" fmla="val 2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238250" y="1428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36532" y="1744028"/>
            <a:ext cx="555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pending</a:t>
            </a:r>
            <a:endParaRPr lang="zh-CN" sz="10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3048" y="19507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等待中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3333750" y="1428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532032" y="1744028"/>
            <a:ext cx="555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running</a:t>
            </a:r>
            <a:endParaRPr lang="zh-CN" sz="10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18548" y="19507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运行中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Ellipse 14"/>
          <p:cNvSpPr/>
          <p:nvPr/>
        </p:nvSpPr>
        <p:spPr>
          <a:xfrm>
            <a:off x="2381250" y="3333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601585" y="3649028"/>
            <a:ext cx="511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paused</a:t>
            </a:r>
            <a:endParaRPr lang="zh-CN" sz="10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666048" y="38557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已暂停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4762500" y="3333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EF4444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942405" y="36490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stopped</a:t>
            </a:r>
            <a:endParaRPr lang="zh-CN" sz="10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047298" y="38557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已停止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Ellipse 20"/>
          <p:cNvSpPr/>
          <p:nvPr/>
        </p:nvSpPr>
        <p:spPr>
          <a:xfrm>
            <a:off x="3333750" y="4857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10B98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513655" y="51730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success</a:t>
            </a:r>
            <a:endParaRPr lang="zh-CN" sz="1050" b="1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678555" y="53797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成功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5429250" y="4857750"/>
            <a:ext cx="952500" cy="952500"/>
          </a:xfrm>
          <a:prstGeom prst="ellipse">
            <a:avLst/>
          </a:prstGeom>
          <a:solidFill>
            <a:srgbClr val="0F1419"/>
          </a:solidFill>
          <a:ln w="19050">
            <a:solidFill>
              <a:srgbClr val="EF444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686339" y="5173028"/>
            <a:ext cx="4383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failed</a:t>
            </a:r>
            <a:endParaRPr lang="zh-CN" sz="10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774055" y="537972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失败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2190750" y="1905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3333750" y="1857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048000" y="2333625"/>
            <a:ext cx="476250" cy="1047750"/>
          </a:xfrm>
          <a:custGeom>
            <a:avLst/>
            <a:gdLst/>
            <a:ahLst/>
            <a:cxnLst/>
            <a:rect l="l" t="t" r="r" b="b"/>
            <a:pathLst>
              <a:path w="476250" h="1047750">
                <a:moveTo>
                  <a:pt x="476250" y="0"/>
                </a:moveTo>
                <a:cubicBezTo>
                  <a:pt x="285750" y="349250"/>
                  <a:pt x="127000" y="698500"/>
                  <a:pt x="0" y="1047750"/>
                </a:cubicBezTo>
              </a:path>
            </a:pathLst>
          </a:custGeom>
          <a:noFill/>
          <a:ln w="19050">
            <a:solidFill>
              <a:srgbClr val="FF6B35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3000375" y="338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4095750" y="2333625"/>
            <a:ext cx="952500" cy="1047750"/>
          </a:xfrm>
          <a:custGeom>
            <a:avLst/>
            <a:gdLst/>
            <a:ahLst/>
            <a:cxnLst/>
            <a:rect l="l" t="t" r="r" b="b"/>
            <a:pathLst>
              <a:path w="952500" h="1047750">
                <a:moveTo>
                  <a:pt x="0" y="0"/>
                </a:moveTo>
                <a:cubicBezTo>
                  <a:pt x="317500" y="349250"/>
                  <a:pt x="635000" y="698500"/>
                  <a:pt x="952500" y="1047750"/>
                </a:cubicBezTo>
              </a:path>
            </a:pathLst>
          </a:custGeom>
          <a:noFill/>
          <a:ln w="19050">
            <a:solidFill>
              <a:srgbClr val="EF4444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5000625" y="338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3810000" y="2381250"/>
            <a:ext cx="9525" cy="2476500"/>
          </a:xfrm>
          <a:custGeom>
            <a:avLst/>
            <a:gdLst/>
            <a:ahLst/>
            <a:cxnLst/>
            <a:rect l="l" t="t" r="r" b="b"/>
            <a:pathLst>
              <a:path w="9525" h="2476500">
                <a:moveTo>
                  <a:pt x="0" y="0"/>
                </a:moveTo>
                <a:cubicBezTo>
                  <a:pt x="0" y="635000"/>
                  <a:pt x="0" y="1460500"/>
                  <a:pt x="0" y="2476500"/>
                </a:cubicBez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3762375" y="4857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095750" y="2286000"/>
            <a:ext cx="1619250" cy="2619375"/>
          </a:xfrm>
          <a:custGeom>
            <a:avLst/>
            <a:gdLst/>
            <a:ahLst/>
            <a:cxnLst/>
            <a:rect l="l" t="t" r="r" b="b"/>
            <a:pathLst>
              <a:path w="1619250" h="2619375">
                <a:moveTo>
                  <a:pt x="0" y="0"/>
                </a:moveTo>
                <a:cubicBezTo>
                  <a:pt x="635000" y="381000"/>
                  <a:pt x="1174750" y="1254125"/>
                  <a:pt x="1619250" y="2619375"/>
                </a:cubicBezTo>
              </a:path>
            </a:pathLst>
          </a:custGeom>
          <a:noFill/>
          <a:ln w="19050">
            <a:solidFill>
              <a:srgbClr val="EF4444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667375" y="4905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3143250" y="2381250"/>
            <a:ext cx="476250" cy="1047750"/>
          </a:xfrm>
          <a:custGeom>
            <a:avLst/>
            <a:gdLst/>
            <a:ahLst/>
            <a:cxnLst/>
            <a:rect l="l" t="t" r="r" b="b"/>
            <a:pathLst>
              <a:path w="476250" h="1047750">
                <a:moveTo>
                  <a:pt x="0" y="1047750"/>
                </a:moveTo>
                <a:cubicBezTo>
                  <a:pt x="254000" y="666750"/>
                  <a:pt x="412750" y="317500"/>
                  <a:pt x="476250" y="0"/>
                </a:cubicBezTo>
              </a:path>
            </a:pathLst>
          </a:custGeom>
          <a:noFill/>
          <a:ln w="19050">
            <a:solidFill>
              <a:srgbClr val="4ECDC4"/>
            </a:solidFill>
            <a:custDash>
              <a:ds d="250000" sp="250000"/>
            </a:custDash>
          </a:ln>
        </p:spPr>
      </p:sp>
      <p:sp>
        <p:nvSpPr>
          <p:cNvPr id="37" name="Polygon 37"/>
          <p:cNvSpPr/>
          <p:nvPr/>
        </p:nvSpPr>
        <p:spPr>
          <a:xfrm>
            <a:off x="3571875" y="228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47625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3333750" y="3810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rgbClr val="EF4444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4762500" y="376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7620000" y="1047750"/>
            <a:ext cx="4000500" cy="5334000"/>
          </a:xfrm>
          <a:prstGeom prst="roundRect">
            <a:avLst>
              <a:gd name="adj" fmla="val 285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789545" y="1250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状态说明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7810500" y="1619250"/>
            <a:ext cx="28575" cy="190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938135" y="1651635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pending - 等待中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940040" y="185832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任务创建后，等待启动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7810500" y="2190750"/>
            <a:ext cx="28575" cy="190500"/>
          </a:xfrm>
          <a:prstGeom prst="rect">
            <a:avLst/>
          </a:prstGeom>
          <a:solidFill>
            <a:srgbClr val="4ECDC4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938135" y="2223135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running - 运行中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940040" y="242982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任务正在执行爬取操作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7810500" y="2762250"/>
            <a:ext cx="28575" cy="1905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938135" y="2794635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paused - 已暂停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940040" y="300132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任务暂停，可恢复执行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7810500" y="3333750"/>
            <a:ext cx="28575" cy="1905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938135" y="3366135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stopped - 已停止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940040" y="357282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任务被手动终止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7810500" y="3905250"/>
            <a:ext cx="28575" cy="1905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938135" y="3937635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success - 成功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7940040" y="41443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任务完成，数据就绪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7810500" y="4476750"/>
            <a:ext cx="28575" cy="1905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938135" y="4509135"/>
            <a:ext cx="10302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failed - 失败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7940040" y="47158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任务执行出错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7810500" y="514350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985760" y="529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设计模式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7987665" y="555402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使用枚举定义状态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7987665" y="574452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字典定义状态转换规则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7987665" y="5935028"/>
            <a:ext cx="1559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避免复杂的 if-else 嵌套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数据清洗流程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11855" y="5019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Data Cleaning Pipeline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952500" y="1714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14558" y="1949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原始数据</a:t>
            </a:r>
            <a:endParaRPr lang="zh-CN" sz="13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8359" y="2220278"/>
            <a:ext cx="922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raw_items 表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6240" y="2426970"/>
            <a:ext cx="1307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HTML 内容、标题、日期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2667000" y="2190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333750" y="2143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868930" y="19983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读取</a:t>
            </a:r>
            <a:endParaRPr lang="zh-CN" sz="9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3524250" y="152400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524250" y="1524000"/>
            <a:ext cx="1905000" cy="333375"/>
          </a:xfrm>
          <a:prstGeom prst="roundRect">
            <a:avLst>
              <a:gd name="adj" fmla="val 22857"/>
            </a:avLst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43220" y="1632585"/>
            <a:ext cx="14670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步骤 1：HTML 清理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01415" y="1982152"/>
            <a:ext cx="960120" cy="632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去除 HTML 标签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保留纯文本内容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处理特殊字符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066270" y="2617470"/>
            <a:ext cx="8209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BeautifulSoup</a:t>
            </a:r>
            <a:endParaRPr lang="zh-CN" sz="900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5429250" y="2190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096000" y="2143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31180" y="199834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清理</a:t>
            </a:r>
            <a:endParaRPr lang="zh-CN" sz="9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286500" y="152400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1524000"/>
            <a:ext cx="1905000" cy="333375"/>
          </a:xfrm>
          <a:prstGeom prst="roundRect">
            <a:avLst>
              <a:gd name="adj" fmla="val 22857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80267" y="1632585"/>
            <a:ext cx="15174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步骤 2：日期规范化</a:t>
            </a:r>
            <a:endParaRPr lang="zh-CN" sz="12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63665" y="1982152"/>
            <a:ext cx="1093470" cy="632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统一日期格式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YYYY-MM-DD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处理多种输入格式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32508" y="2617470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regex + datetime</a:t>
            </a:r>
            <a:endParaRPr lang="zh-CN" sz="900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8191500" y="2190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8858250" y="2143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33422" y="19983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规范化</a:t>
            </a:r>
            <a:endParaRPr lang="zh-CN" sz="9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9048750" y="152400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048750" y="1524000"/>
            <a:ext cx="1905000" cy="333375"/>
          </a:xfrm>
          <a:prstGeom prst="roundRect">
            <a:avLst>
              <a:gd name="adj" fmla="val 22857"/>
            </a:avLst>
          </a:prstGeom>
          <a:solidFill>
            <a:srgbClr val="FF6B35">
              <a:alpha val="2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26528" y="1632585"/>
            <a:ext cx="1349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步骤 3：文本去重</a:t>
            </a:r>
            <a:endParaRPr lang="zh-CN" sz="12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225915" y="1982152"/>
            <a:ext cx="826770" cy="632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基于内容哈希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UNIQUE 约束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避免重复数据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524762" y="261747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hashlib + UNIQUE</a:t>
            </a:r>
            <a:endParaRPr lang="zh-CN" sz="900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9048750" y="3619500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19050">
            <a:solidFill>
              <a:srgbClr val="10B98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606058" y="3854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清洗结果</a:t>
            </a:r>
            <a:endParaRPr lang="zh-CN" sz="1350" b="1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494353" y="4125278"/>
            <a:ext cx="10137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clean_items 表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509760" y="433197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去重、规范化数据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10001250" y="2857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995362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286500" y="3619500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19050">
            <a:solidFill>
              <a:srgbClr val="EF444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843808" y="3854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质量检查</a:t>
            </a:r>
            <a:endParaRPr lang="zh-CN" sz="1350" b="1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620089" y="4125278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clean_status 字段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798516" y="4331970"/>
            <a:ext cx="880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成功 / 失败标记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Line 46"/>
          <p:cNvSpPr/>
          <p:nvPr/>
        </p:nvSpPr>
        <p:spPr>
          <a:xfrm>
            <a:off x="7239000" y="2857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9050">
            <a:solidFill>
              <a:srgbClr val="EF4444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719137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952500" y="4000500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414558" y="4235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结果导出</a:t>
            </a:r>
            <a:endParaRPr lang="zh-CN" sz="13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1047750" y="4572000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467374" y="4649152"/>
            <a:ext cx="6847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 格式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1047750" y="4905375"/>
            <a:ext cx="1524000" cy="285750"/>
          </a:xfrm>
          <a:prstGeom prst="roundRect">
            <a:avLst>
              <a:gd name="adj" fmla="val 13333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519880" y="4982528"/>
            <a:ext cx="579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CSV 格式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2667000" y="4095750"/>
            <a:ext cx="6381750" cy="285750"/>
          </a:xfrm>
          <a:custGeom>
            <a:avLst/>
            <a:gdLst/>
            <a:ahLst/>
            <a:cxnLst/>
            <a:rect l="l" t="t" r="r" b="b"/>
            <a:pathLst>
              <a:path w="6381750" h="285750">
                <a:moveTo>
                  <a:pt x="6381750" y="0"/>
                </a:moveTo>
                <a:cubicBezTo>
                  <a:pt x="5429250" y="0"/>
                  <a:pt x="3302000" y="95250"/>
                  <a:pt x="0" y="285750"/>
                </a:cubicBezTo>
              </a:path>
            </a:pathLst>
          </a:custGeom>
          <a:noFill/>
          <a:ln w="19050">
            <a:solidFill>
              <a:srgbClr val="00D4FF"/>
            </a:solidFill>
            <a:custDash>
              <a:ds d="250000" sp="250000"/>
            </a:custDash>
          </a:ln>
        </p:spPr>
      </p:sp>
      <p:sp>
        <p:nvSpPr>
          <p:cNvPr id="55" name="Polygon 55"/>
          <p:cNvSpPr/>
          <p:nvPr/>
        </p:nvSpPr>
        <p:spPr>
          <a:xfrm>
            <a:off x="2571750" y="4333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952500" y="5524500"/>
            <a:ext cx="10096500" cy="666750"/>
          </a:xfrm>
          <a:prstGeom prst="roundRect">
            <a:avLst>
              <a:gd name="adj" fmla="val 11429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223010" y="5680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关键技术点：</a:t>
            </a:r>
            <a:endParaRPr lang="zh-CN" sz="12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651760" y="5680710"/>
            <a:ext cx="51671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BeautifulSoup 解析 HTML | 正则表达式规范化日期 | hashlib 生成去重键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224915" y="5982652"/>
            <a:ext cx="52073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数据清洗是保证数据质量的关键步骤，清洗后的数据可直接用于词云生成和情感分析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词云与情感分析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02355" y="5019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Word Cloud &amp; Sentiment Analysis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5334000" cy="5334000"/>
          </a:xfrm>
          <a:prstGeom prst="roundRect">
            <a:avLst>
              <a:gd name="adj" fmla="val 2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1045" y="1250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词云生成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952500" y="161925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870710" y="1994535"/>
            <a:ext cx="1316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D4FF">
                    <a:alphaMod val="9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Python</a:t>
            </a:r>
            <a:endParaRPr lang="zh-CN" sz="2700" b="1" dirty="0">
              <a:solidFill>
                <a:srgbClr val="00D4FF">
                  <a:alphaMod val="9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92830" y="1868805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ECDC4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</a:t>
            </a:r>
            <a:endParaRPr lang="zh-CN" sz="2100" b="1" dirty="0">
              <a:solidFill>
                <a:srgbClr val="4ECDC4">
                  <a:alphaMod val="8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05890" y="2567940"/>
            <a:ext cx="5257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6B35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爬虫</a:t>
            </a:r>
            <a:endParaRPr lang="zh-CN" sz="1800" dirty="0">
              <a:solidFill>
                <a:srgbClr val="FF6B35">
                  <a:alphaMod val="7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70020" y="2407920"/>
            <a:ext cx="90106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D4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</a:t>
            </a:r>
            <a:endParaRPr lang="zh-CN" sz="2400" b="1" dirty="0">
              <a:solidFill>
                <a:srgbClr val="00D4FF">
                  <a:alphaMod val="8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62200" y="2981325"/>
            <a:ext cx="6381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ECDC4">
                    <a:alphaMod val="6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可视化</a:t>
            </a:r>
            <a:endParaRPr lang="zh-CN" sz="1500" dirty="0">
              <a:solidFill>
                <a:srgbClr val="4ECDC4">
                  <a:alphaMod val="6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69105" y="3092768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分析</a:t>
            </a:r>
            <a:endParaRPr lang="zh-CN" sz="1350" dirty="0">
              <a:solidFill>
                <a:srgbClr val="9AA0A6">
                  <a:alphaMod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93545" y="3346132"/>
            <a:ext cx="4819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6B35">
                    <a:alphaMod val="7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词云</a:t>
            </a:r>
            <a:endParaRPr lang="zh-CN" sz="1650" dirty="0">
              <a:solidFill>
                <a:srgbClr val="FF6B35">
                  <a:alphaMod val="7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318510" y="3585210"/>
            <a:ext cx="350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>
                    <a:alphaMod val="4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清洗</a:t>
            </a:r>
            <a:endParaRPr lang="zh-CN" sz="1200" dirty="0">
              <a:solidFill>
                <a:srgbClr val="6B7280">
                  <a:alphaMod val="4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47235" y="3408998"/>
            <a:ext cx="55464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D4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</a:t>
            </a:r>
            <a:endParaRPr lang="zh-CN" sz="1950" b="1" dirty="0">
              <a:solidFill>
                <a:srgbClr val="00D4FF">
                  <a:alphaMod val="8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4915" y="38871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情感</a:t>
            </a:r>
            <a:endParaRPr lang="zh-CN" sz="1050" dirty="0">
              <a:solidFill>
                <a:srgbClr val="9AA0A6">
                  <a:alphaMod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4855" y="45215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生成流程</a:t>
            </a:r>
            <a:endParaRPr lang="zh-CN" sz="135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952500" y="485775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4288">
            <a:solidFill>
              <a:srgbClr val="00D4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2125" y="4982528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 分词</a:t>
            </a:r>
            <a:endParaRPr lang="zh-CN" sz="105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2095500" y="504825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00D4FF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238125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476500" y="485775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4288">
            <a:solidFill>
              <a:srgbClr val="4ECDC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2684621" y="498252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停用词过滤</a:t>
            </a:r>
            <a:endParaRPr lang="zh-CN" sz="105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619500" y="504825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4ECDC4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90525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000500" y="4857750"/>
            <a:ext cx="1143000" cy="381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4288">
            <a:solidFill>
              <a:srgbClr val="FF6B3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054602" y="4982528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WordCloud 渲染</a:t>
            </a:r>
            <a:endParaRPr lang="zh-CN" sz="105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1905000" y="5524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00D4FF">
              <a:alpha val="20000"/>
            </a:srgbClr>
          </a:solidFill>
          <a:ln w="14288">
            <a:solidFill>
              <a:srgbClr val="00D4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216110" y="5649278"/>
            <a:ext cx="9017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下载 PNG 图片</a:t>
            </a:r>
            <a:endParaRPr lang="zh-CN" sz="105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6286500" y="1047750"/>
            <a:ext cx="5334000" cy="5334000"/>
          </a:xfrm>
          <a:prstGeom prst="roundRect">
            <a:avLst>
              <a:gd name="adj" fmla="val 2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456045" y="1250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情感分析</a:t>
            </a:r>
            <a:endParaRPr lang="zh-CN" sz="16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6667500" y="161925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36" name="Arc 36"/>
          <p:cNvSpPr/>
          <p:nvPr/>
        </p:nvSpPr>
        <p:spPr>
          <a:xfrm>
            <a:off x="8096250" y="1714500"/>
            <a:ext cx="1238080" cy="1620943"/>
          </a:xfrm>
          <a:custGeom>
            <a:avLst/>
            <a:gdLst/>
            <a:ahLst/>
            <a:cxnLst/>
            <a:rect l="l" t="t" r="r" b="b"/>
            <a:pathLst>
              <a:path w="1238080" h="1620943">
                <a:moveTo>
                  <a:pt x="0" y="0"/>
                </a:moveTo>
                <a:lnTo>
                  <a:pt x="122646" y="6089"/>
                </a:lnTo>
                <a:lnTo>
                  <a:pt x="244086" y="24296"/>
                </a:lnTo>
                <a:lnTo>
                  <a:pt x="363125" y="54441"/>
                </a:lnTo>
                <a:lnTo>
                  <a:pt x="478593" y="96229"/>
                </a:lnTo>
                <a:lnTo>
                  <a:pt x="589355" y="149249"/>
                </a:lnTo>
                <a:lnTo>
                  <a:pt x="694320" y="212978"/>
                </a:lnTo>
                <a:lnTo>
                  <a:pt x="792457" y="286790"/>
                </a:lnTo>
                <a:lnTo>
                  <a:pt x="882800" y="369960"/>
                </a:lnTo>
                <a:lnTo>
                  <a:pt x="964461" y="461669"/>
                </a:lnTo>
                <a:lnTo>
                  <a:pt x="1036637" y="561016"/>
                </a:lnTo>
                <a:lnTo>
                  <a:pt x="1098618" y="667023"/>
                </a:lnTo>
                <a:lnTo>
                  <a:pt x="1149795" y="778647"/>
                </a:lnTo>
                <a:lnTo>
                  <a:pt x="1189664" y="894792"/>
                </a:lnTo>
                <a:lnTo>
                  <a:pt x="1217832" y="1014315"/>
                </a:lnTo>
                <a:lnTo>
                  <a:pt x="1234024" y="1136039"/>
                </a:lnTo>
                <a:lnTo>
                  <a:pt x="1238080" y="1258769"/>
                </a:lnTo>
                <a:lnTo>
                  <a:pt x="1229960" y="1381298"/>
                </a:lnTo>
                <a:lnTo>
                  <a:pt x="1209743" y="1502419"/>
                </a:lnTo>
                <a:lnTo>
                  <a:pt x="1177629" y="1620943"/>
                </a:lnTo>
                <a:lnTo>
                  <a:pt x="634108" y="1444315"/>
                </a:lnTo>
                <a:lnTo>
                  <a:pt x="651400" y="1380495"/>
                </a:lnTo>
                <a:lnTo>
                  <a:pt x="662286" y="1315276"/>
                </a:lnTo>
                <a:lnTo>
                  <a:pt x="666658" y="1249299"/>
                </a:lnTo>
                <a:lnTo>
                  <a:pt x="664475" y="1183214"/>
                </a:lnTo>
                <a:lnTo>
                  <a:pt x="655756" y="1117669"/>
                </a:lnTo>
                <a:lnTo>
                  <a:pt x="640588" y="1053311"/>
                </a:lnTo>
                <a:lnTo>
                  <a:pt x="619120" y="990772"/>
                </a:lnTo>
                <a:lnTo>
                  <a:pt x="591564" y="930666"/>
                </a:lnTo>
                <a:lnTo>
                  <a:pt x="558189" y="873585"/>
                </a:lnTo>
                <a:lnTo>
                  <a:pt x="519325" y="820091"/>
                </a:lnTo>
                <a:lnTo>
                  <a:pt x="475354" y="770709"/>
                </a:lnTo>
                <a:lnTo>
                  <a:pt x="426707" y="725926"/>
                </a:lnTo>
                <a:lnTo>
                  <a:pt x="373865" y="686180"/>
                </a:lnTo>
                <a:lnTo>
                  <a:pt x="317345" y="651865"/>
                </a:lnTo>
                <a:lnTo>
                  <a:pt x="257704" y="623316"/>
                </a:lnTo>
                <a:lnTo>
                  <a:pt x="195529" y="600815"/>
                </a:lnTo>
                <a:lnTo>
                  <a:pt x="131431" y="584582"/>
                </a:lnTo>
                <a:lnTo>
                  <a:pt x="66040" y="574779"/>
                </a:lnTo>
                <a:lnTo>
                  <a:pt x="0" y="571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7" name="Arc 37"/>
          <p:cNvSpPr/>
          <p:nvPr/>
        </p:nvSpPr>
        <p:spPr>
          <a:xfrm>
            <a:off x="8096645" y="3158815"/>
            <a:ext cx="1177234" cy="1032185"/>
          </a:xfrm>
          <a:custGeom>
            <a:avLst/>
            <a:gdLst/>
            <a:ahLst/>
            <a:cxnLst/>
            <a:rect l="l" t="t" r="r" b="b"/>
            <a:pathLst>
              <a:path w="1177234" h="1032185">
                <a:moveTo>
                  <a:pt x="1177234" y="176627"/>
                </a:moveTo>
                <a:lnTo>
                  <a:pt x="1143597" y="267798"/>
                </a:lnTo>
                <a:lnTo>
                  <a:pt x="1102913" y="356050"/>
                </a:lnTo>
                <a:lnTo>
                  <a:pt x="1055435" y="440839"/>
                </a:lnTo>
                <a:lnTo>
                  <a:pt x="1001454" y="521645"/>
                </a:lnTo>
                <a:lnTo>
                  <a:pt x="941302" y="597968"/>
                </a:lnTo>
                <a:lnTo>
                  <a:pt x="875350" y="669339"/>
                </a:lnTo>
                <a:lnTo>
                  <a:pt x="804004" y="735319"/>
                </a:lnTo>
                <a:lnTo>
                  <a:pt x="727705" y="795501"/>
                </a:lnTo>
                <a:lnTo>
                  <a:pt x="646920" y="849513"/>
                </a:lnTo>
                <a:lnTo>
                  <a:pt x="562149" y="897025"/>
                </a:lnTo>
                <a:lnTo>
                  <a:pt x="473913" y="937742"/>
                </a:lnTo>
                <a:lnTo>
                  <a:pt x="382755" y="971415"/>
                </a:lnTo>
                <a:lnTo>
                  <a:pt x="289238" y="997835"/>
                </a:lnTo>
                <a:lnTo>
                  <a:pt x="193937" y="1016840"/>
                </a:lnTo>
                <a:lnTo>
                  <a:pt x="97439" y="1028314"/>
                </a:lnTo>
                <a:lnTo>
                  <a:pt x="339" y="1032185"/>
                </a:lnTo>
                <a:lnTo>
                  <a:pt x="0" y="460685"/>
                </a:lnTo>
                <a:lnTo>
                  <a:pt x="52285" y="458600"/>
                </a:lnTo>
                <a:lnTo>
                  <a:pt x="104245" y="452422"/>
                </a:lnTo>
                <a:lnTo>
                  <a:pt x="155561" y="442189"/>
                </a:lnTo>
                <a:lnTo>
                  <a:pt x="205917" y="427962"/>
                </a:lnTo>
                <a:lnTo>
                  <a:pt x="255001" y="409831"/>
                </a:lnTo>
                <a:lnTo>
                  <a:pt x="302513" y="387906"/>
                </a:lnTo>
                <a:lnTo>
                  <a:pt x="348159" y="362323"/>
                </a:lnTo>
                <a:lnTo>
                  <a:pt x="391659" y="333239"/>
                </a:lnTo>
                <a:lnTo>
                  <a:pt x="432743" y="300834"/>
                </a:lnTo>
                <a:lnTo>
                  <a:pt x="471160" y="265307"/>
                </a:lnTo>
                <a:lnTo>
                  <a:pt x="506672" y="226876"/>
                </a:lnTo>
                <a:lnTo>
                  <a:pt x="539062" y="185779"/>
                </a:lnTo>
                <a:lnTo>
                  <a:pt x="568129" y="142268"/>
                </a:lnTo>
                <a:lnTo>
                  <a:pt x="593694" y="96612"/>
                </a:lnTo>
                <a:lnTo>
                  <a:pt x="615600" y="49092"/>
                </a:lnTo>
                <a:lnTo>
                  <a:pt x="633713" y="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38" name="Arc 38"/>
          <p:cNvSpPr/>
          <p:nvPr/>
        </p:nvSpPr>
        <p:spPr>
          <a:xfrm>
            <a:off x="7369338" y="3492519"/>
            <a:ext cx="727646" cy="698481"/>
          </a:xfrm>
          <a:custGeom>
            <a:avLst/>
            <a:gdLst/>
            <a:ahLst/>
            <a:cxnLst/>
            <a:rect l="l" t="t" r="r" b="b"/>
            <a:pathLst>
              <a:path w="727646" h="698481">
                <a:moveTo>
                  <a:pt x="727646" y="698481"/>
                </a:moveTo>
                <a:lnTo>
                  <a:pt x="679056" y="697556"/>
                </a:lnTo>
                <a:lnTo>
                  <a:pt x="630541" y="694725"/>
                </a:lnTo>
                <a:lnTo>
                  <a:pt x="582174" y="689993"/>
                </a:lnTo>
                <a:lnTo>
                  <a:pt x="534029" y="683366"/>
                </a:lnTo>
                <a:lnTo>
                  <a:pt x="486182" y="674855"/>
                </a:lnTo>
                <a:lnTo>
                  <a:pt x="438706" y="664474"/>
                </a:lnTo>
                <a:lnTo>
                  <a:pt x="391673" y="652237"/>
                </a:lnTo>
                <a:lnTo>
                  <a:pt x="345157" y="638164"/>
                </a:lnTo>
                <a:lnTo>
                  <a:pt x="299229" y="622277"/>
                </a:lnTo>
                <a:lnTo>
                  <a:pt x="253960" y="604600"/>
                </a:lnTo>
                <a:lnTo>
                  <a:pt x="209419" y="585160"/>
                </a:lnTo>
                <a:lnTo>
                  <a:pt x="165676" y="563987"/>
                </a:lnTo>
                <a:lnTo>
                  <a:pt x="122797" y="541114"/>
                </a:lnTo>
                <a:lnTo>
                  <a:pt x="80848" y="516576"/>
                </a:lnTo>
                <a:lnTo>
                  <a:pt x="39895" y="490411"/>
                </a:lnTo>
                <a:lnTo>
                  <a:pt x="0" y="462659"/>
                </a:lnTo>
                <a:lnTo>
                  <a:pt x="335498" y="0"/>
                </a:lnTo>
                <a:lnTo>
                  <a:pt x="356980" y="14943"/>
                </a:lnTo>
                <a:lnTo>
                  <a:pt x="379032" y="29032"/>
                </a:lnTo>
                <a:lnTo>
                  <a:pt x="401619" y="42245"/>
                </a:lnTo>
                <a:lnTo>
                  <a:pt x="424708" y="54561"/>
                </a:lnTo>
                <a:lnTo>
                  <a:pt x="448262" y="65962"/>
                </a:lnTo>
                <a:lnTo>
                  <a:pt x="472246" y="76430"/>
                </a:lnTo>
                <a:lnTo>
                  <a:pt x="496621" y="85948"/>
                </a:lnTo>
                <a:lnTo>
                  <a:pt x="521352" y="94503"/>
                </a:lnTo>
                <a:lnTo>
                  <a:pt x="546399" y="102080"/>
                </a:lnTo>
                <a:lnTo>
                  <a:pt x="571724" y="108669"/>
                </a:lnTo>
                <a:lnTo>
                  <a:pt x="597288" y="114260"/>
                </a:lnTo>
                <a:lnTo>
                  <a:pt x="623052" y="118842"/>
                </a:lnTo>
                <a:lnTo>
                  <a:pt x="648976" y="122410"/>
                </a:lnTo>
                <a:lnTo>
                  <a:pt x="675020" y="124959"/>
                </a:lnTo>
                <a:lnTo>
                  <a:pt x="701144" y="126483"/>
                </a:lnTo>
                <a:lnTo>
                  <a:pt x="727307" y="126981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429500" y="2286000"/>
            <a:ext cx="1333500" cy="1333500"/>
          </a:xfrm>
          <a:prstGeom prst="ellipse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744968" y="2775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情感分布</a:t>
            </a:r>
            <a:endParaRPr lang="zh-CN" sz="12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781782" y="2998470"/>
            <a:ext cx="6289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Senta 模型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9334500" y="20955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559290" y="2105978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正面 60%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9334500" y="24765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559290" y="2486978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中立 25%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9334500" y="28575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559290" y="2867978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负面 15%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459855" y="45215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分析模型</a:t>
            </a:r>
            <a:endParaRPr lang="zh-CN" sz="135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6667500" y="4857750"/>
            <a:ext cx="47625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842760" y="5013960"/>
            <a:ext cx="1766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Senta 模型（snownlp）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844665" y="5268278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基于中文自然语言处理的情感分析模型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844665" y="5458778"/>
            <a:ext cx="2490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输出：正面 / 中立 / 负面 三种情感倾向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6667500" y="5810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9525">
            <a:solidFill>
              <a:srgbClr val="10B981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012305" y="5903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正面</a:t>
            </a:r>
            <a:endParaRPr lang="zh-CN" sz="900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7810500" y="5810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9525">
            <a:solidFill>
              <a:srgbClr val="6B728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155305" y="5903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中立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8953500" y="5810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0F1419"/>
          </a:solidFill>
          <a:ln w="9525">
            <a:solidFill>
              <a:srgbClr val="EF4444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9298305" y="5903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F44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负面</a:t>
            </a:r>
            <a:endParaRPr lang="zh-CN" sz="900" dirty="0">
              <a:solidFill>
                <a:srgbClr val="EF44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结果导出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49855" y="501968"/>
            <a:ext cx="12314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Result Export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1430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714500" y="142875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934023" y="16630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{}</a:t>
            </a:r>
            <a:endParaRPr lang="zh-CN" sz="1800" b="1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0866" y="2377440"/>
            <a:ext cx="12302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 导出</a:t>
            </a:r>
            <a:endParaRPr lang="zh-CN" sz="18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1333500" y="2762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318260" y="2918460"/>
            <a:ext cx="1097280" cy="510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结构化数据格式</a:t>
            </a: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便于程序处理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1333500" y="3714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510665" y="379190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标准数据交换格式</a:t>
            </a:r>
            <a:endParaRPr lang="zh-CN" sz="105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1333500" y="4095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510665" y="4172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支持嵌套结构</a:t>
            </a:r>
            <a:endParaRPr lang="zh-CN" sz="105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1333500" y="4476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10665" y="4553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易于 API 集成</a:t>
            </a:r>
            <a:endParaRPr lang="zh-CN" sz="105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1143000" y="4953000"/>
            <a:ext cx="2286000" cy="571500"/>
          </a:xfrm>
          <a:prstGeom prst="roundRect">
            <a:avLst>
              <a:gd name="adj" fmla="val 6667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322070" y="50939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{"news_title": "..."}</a:t>
            </a:r>
            <a:endParaRPr lang="zh-CN" sz="900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2070" y="5284470"/>
            <a:ext cx="15350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0A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{"news_content": "..."}</a:t>
            </a:r>
            <a:endParaRPr lang="zh-CN" sz="900" dirty="0">
              <a:solidFill>
                <a:srgbClr val="9AA0A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4381500" y="11430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524500" y="142875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713178" y="1695450"/>
            <a:ext cx="3846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CSV</a:t>
            </a:r>
            <a:endParaRPr lang="zh-CN" sz="15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575378" y="2377440"/>
            <a:ext cx="10412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CSV 导出</a:t>
            </a:r>
            <a:endParaRPr lang="zh-CN" sz="18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5143500" y="2762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128260" y="2918460"/>
            <a:ext cx="1112520" cy="510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表格数据格式</a:t>
            </a: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便于 Excel 打开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5143500" y="3714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20665" y="3791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通用表格格式</a:t>
            </a:r>
            <a:endParaRPr lang="zh-CN" sz="105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143500" y="4095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0665" y="4172902"/>
            <a:ext cx="10978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Excel 直接打开</a:t>
            </a:r>
            <a:endParaRPr lang="zh-CN" sz="105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5143500" y="4476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320665" y="4553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数据分析友好</a:t>
            </a:r>
            <a:endParaRPr lang="zh-CN" sz="105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4953000" y="4953000"/>
            <a:ext cx="2286000" cy="571500"/>
          </a:xfrm>
          <a:prstGeom prst="roundRect">
            <a:avLst>
              <a:gd name="adj" fmla="val 6667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132070" y="5093970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6B3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title,content,date</a:t>
            </a:r>
            <a:endParaRPr lang="zh-CN" sz="900" dirty="0">
              <a:solidFill>
                <a:srgbClr val="FF6B35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132070" y="5284470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0A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"...","...","2026-01"</a:t>
            </a:r>
            <a:endParaRPr lang="zh-CN" sz="900" dirty="0">
              <a:solidFill>
                <a:srgbClr val="9AA0A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8191500" y="11430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9334500" y="1428750"/>
            <a:ext cx="762000" cy="762000"/>
          </a:xfrm>
          <a:prstGeom prst="roundRect">
            <a:avLst>
              <a:gd name="adj" fmla="val 10000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548146" y="1648778"/>
            <a:ext cx="334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1-20</a:t>
            </a:r>
            <a:endParaRPr lang="zh-CN" sz="105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554051" y="190309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/ 100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379077" y="23774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分页查询</a:t>
            </a:r>
            <a:endParaRPr lang="zh-CN" sz="18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8953500" y="2762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938260" y="2918460"/>
            <a:ext cx="944880" cy="510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支持大量数据</a:t>
            </a:r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分页浏览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8953500" y="3714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130665" y="3791902"/>
            <a:ext cx="1125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可配置每页数量</a:t>
            </a:r>
            <a:endParaRPr lang="zh-CN" sz="105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8953500" y="4095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30665" y="4172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支持搜索过滤</a:t>
            </a:r>
            <a:endParaRPr lang="zh-CN" sz="105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8953500" y="4476750"/>
            <a:ext cx="1905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30665" y="4553902"/>
            <a:ext cx="1062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原始/清洗视图</a:t>
            </a:r>
            <a:endParaRPr lang="zh-CN" sz="105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8763000" y="4953000"/>
            <a:ext cx="2667000" cy="571500"/>
          </a:xfrm>
          <a:prstGeom prst="roundRect">
            <a:avLst>
              <a:gd name="adj" fmla="val 6667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953500" y="5095875"/>
            <a:ext cx="381000" cy="285750"/>
          </a:xfrm>
          <a:prstGeom prst="roundRect">
            <a:avLst>
              <a:gd name="adj" fmla="val 13333"/>
            </a:avLst>
          </a:prstGeom>
          <a:solidFill>
            <a:srgbClr val="FF6B35">
              <a:alpha val="20000"/>
            </a:srgbClr>
          </a:solidFill>
          <a:ln w="9525">
            <a:solidFill>
              <a:srgbClr val="FF6B3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099566" y="51892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9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9429750" y="5095875"/>
            <a:ext cx="381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575816" y="51892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9906000" y="5095875"/>
            <a:ext cx="381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10052066" y="51892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0418445" y="51892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...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10572750" y="5095875"/>
            <a:ext cx="38100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0718816" y="51892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9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Rectangle 60"/>
          <p:cNvSpPr/>
          <p:nvPr/>
        </p:nvSpPr>
        <p:spPr>
          <a:xfrm>
            <a:off x="571500" y="600075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46760" y="6156960"/>
            <a:ext cx="7825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API 端点：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701165" y="6173152"/>
            <a:ext cx="2294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4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POST /v1/tasks/{"{id}"}/export</a:t>
            </a:r>
            <a:endParaRPr lang="zh-CN" sz="1050" dirty="0">
              <a:solidFill>
                <a:srgbClr val="00D4FF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749165" y="6173152"/>
            <a:ext cx="15948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参数：format=json/csv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3562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技术亮点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49855" y="501968"/>
            <a:ext cx="17445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Technical Highlights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2571750" cy="2667000"/>
          </a:xfrm>
          <a:prstGeom prst="roundRect">
            <a:avLst>
              <a:gd name="adj" fmla="val 444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2571750" cy="2667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476375" y="123825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619250" y="1381125"/>
            <a:ext cx="381000" cy="381000"/>
          </a:xfrm>
          <a:prstGeom prst="ellipse">
            <a:avLst/>
          </a:prstGeom>
          <a:noFill/>
          <a:ln w="19050">
            <a:solidFill>
              <a:srgbClr val="00D4FF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714500" y="14763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0"/>
                </a:moveTo>
                <a:lnTo>
                  <a:pt x="95250" y="95250"/>
                </a:lnTo>
                <a:lnTo>
                  <a:pt x="190500" y="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1714500" y="1571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95250" y="0"/>
                </a:lnTo>
                <a:lnTo>
                  <a:pt x="190500" y="95250"/>
                </a:ln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55608" y="207645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状态机设计模式</a:t>
            </a:r>
            <a:endParaRPr lang="zh-CN" sz="15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1047750" y="2381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3915" y="2553652"/>
            <a:ext cx="1093470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使用枚举定义状态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字典定义转换规则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避免 if-else 嵌套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逻辑清晰易维护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762000" y="3333750"/>
            <a:ext cx="219075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4398" y="3435191"/>
            <a:ext cx="28758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TRANSITIONS = {"{"}pending: {"{"}running{"}"}{"}"}</a:t>
            </a:r>
            <a:endParaRPr lang="zh-CN" sz="825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3333750" y="1047750"/>
            <a:ext cx="2571750" cy="2667000"/>
          </a:xfrm>
          <a:prstGeom prst="roundRect">
            <a:avLst>
              <a:gd name="adj" fmla="val 444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3333750" y="1047750"/>
            <a:ext cx="2571750" cy="2667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238625" y="123825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4429125" y="1428750"/>
            <a:ext cx="285750" cy="142875"/>
          </a:xfrm>
          <a:custGeom>
            <a:avLst/>
            <a:gdLst/>
            <a:ahLst/>
            <a:cxnLst/>
            <a:rect l="l" t="t" r="r" b="b"/>
            <a:pathLst>
              <a:path w="285750" h="142875">
                <a:moveTo>
                  <a:pt x="0" y="142875"/>
                </a:moveTo>
                <a:lnTo>
                  <a:pt x="142875" y="0"/>
                </a:lnTo>
                <a:lnTo>
                  <a:pt x="285750" y="142875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4429125" y="1666875"/>
            <a:ext cx="285750" cy="142875"/>
          </a:xfrm>
          <a:custGeom>
            <a:avLst/>
            <a:gdLst/>
            <a:ahLst/>
            <a:cxnLst/>
            <a:rect l="l" t="t" r="r" b="b"/>
            <a:pathLst>
              <a:path w="285750" h="142875">
                <a:moveTo>
                  <a:pt x="0" y="0"/>
                </a:moveTo>
                <a:lnTo>
                  <a:pt x="142875" y="142875"/>
                </a:lnTo>
                <a:lnTo>
                  <a:pt x="285750" y="0"/>
                </a:lnTo>
              </a:path>
            </a:pathLst>
          </a:custGeom>
          <a:noFill/>
          <a:ln w="19050">
            <a:solidFill>
              <a:srgbClr val="4ECDC4"/>
            </a:solidFill>
          </a:ln>
        </p:spPr>
      </p:sp>
      <p:sp>
        <p:nvSpPr>
          <p:cNvPr id="23" name="Line 23"/>
          <p:cNvSpPr/>
          <p:nvPr/>
        </p:nvSpPr>
        <p:spPr>
          <a:xfrm>
            <a:off x="4572000" y="1428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ECDC4"/>
            </a:solidFill>
            <a:custDash>
              <a:ds d="150000" sp="150000"/>
            </a:custDash>
          </a:ln>
        </p:spPr>
      </p:sp>
      <p:sp>
        <p:nvSpPr>
          <p:cNvPr id="24" name="TextBox 24"/>
          <p:cNvSpPr txBox="1"/>
          <p:nvPr/>
        </p:nvSpPr>
        <p:spPr>
          <a:xfrm>
            <a:off x="4132898" y="2076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异步编程</a:t>
            </a:r>
            <a:endParaRPr lang="zh-CN" sz="15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810000" y="2381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606165" y="2553652"/>
            <a:ext cx="1200150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 原生异步支持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异步数据库操作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SSE 实时推送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高并发处理能力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3524250" y="3333750"/>
            <a:ext cx="219075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656648" y="3435191"/>
            <a:ext cx="1572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ECDC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async def handler(request):</a:t>
            </a:r>
            <a:endParaRPr lang="zh-CN" sz="825" dirty="0">
              <a:solidFill>
                <a:srgbClr val="4ECDC4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6096000" y="1047750"/>
            <a:ext cx="2571750" cy="2667000"/>
          </a:xfrm>
          <a:prstGeom prst="roundRect">
            <a:avLst>
              <a:gd name="adj" fmla="val 444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096000" y="1047750"/>
            <a:ext cx="2571750" cy="2667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000875" y="123825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7162800" y="1400175"/>
            <a:ext cx="152400" cy="152400"/>
          </a:xfrm>
          <a:prstGeom prst="ellipse">
            <a:avLst/>
          </a:prstGeom>
          <a:noFill/>
          <a:ln w="14288">
            <a:solidFill>
              <a:srgbClr val="FF6B35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7353300" y="1400175"/>
            <a:ext cx="152400" cy="152400"/>
          </a:xfrm>
          <a:prstGeom prst="ellipse">
            <a:avLst/>
          </a:prstGeom>
          <a:noFill/>
          <a:ln w="14288">
            <a:solidFill>
              <a:srgbClr val="FF6B35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7258050" y="1590675"/>
            <a:ext cx="152400" cy="152400"/>
          </a:xfrm>
          <a:prstGeom prst="ellipse">
            <a:avLst/>
          </a:prstGeom>
          <a:noFill/>
          <a:ln w="14288">
            <a:solidFill>
              <a:srgbClr val="FF6B35"/>
            </a:solidFill>
          </a:ln>
        </p:spPr>
      </p:sp>
      <p:sp>
        <p:nvSpPr>
          <p:cNvPr id="35" name="Line 35"/>
          <p:cNvSpPr/>
          <p:nvPr/>
        </p:nvSpPr>
        <p:spPr>
          <a:xfrm>
            <a:off x="7286625" y="1524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95250"/>
                </a:lnTo>
              </a:path>
            </a:pathLst>
          </a:custGeom>
          <a:noFill/>
          <a:ln w="9525">
            <a:solidFill>
              <a:srgbClr val="FF6B35"/>
            </a:solidFill>
          </a:ln>
        </p:spPr>
      </p:sp>
      <p:sp>
        <p:nvSpPr>
          <p:cNvPr id="36" name="Line 36"/>
          <p:cNvSpPr/>
          <p:nvPr/>
        </p:nvSpPr>
        <p:spPr>
          <a:xfrm>
            <a:off x="7286625" y="1524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95250"/>
                </a:lnTo>
              </a:path>
            </a:pathLst>
          </a:custGeom>
          <a:noFill/>
          <a:ln w="9525">
            <a:solidFill>
              <a:srgbClr val="FF6B3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895148" y="2076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并发爬取</a:t>
            </a:r>
            <a:endParaRPr lang="zh-CN" sz="15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6572250" y="2381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368415" y="2553652"/>
            <a:ext cx="1313498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ThreadPoolExecutor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多线程并发抓取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线程安全数据库操作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合理并发控制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6286500" y="3333750"/>
            <a:ext cx="219075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18898" y="3435191"/>
            <a:ext cx="9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3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MAX_WORKERS = 4</a:t>
            </a:r>
            <a:endParaRPr lang="zh-CN" sz="825" dirty="0">
              <a:solidFill>
                <a:srgbClr val="FF6B35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8858250" y="1047750"/>
            <a:ext cx="2571750" cy="2667000"/>
          </a:xfrm>
          <a:prstGeom prst="roundRect">
            <a:avLst>
              <a:gd name="adj" fmla="val 444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8858250" y="1047750"/>
            <a:ext cx="2571750" cy="2667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9763125" y="123825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0F1419"/>
          </a:solidFill>
          <a:ln w="19050">
            <a:solidFill>
              <a:srgbClr val="10B981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10096500" y="138112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/>
          </a:solidFill>
          <a:ln w="19050">
            <a:solidFill>
              <a:srgbClr val="10B981"/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9953625" y="138112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95250"/>
                </a:moveTo>
                <a:lnTo>
                  <a:pt x="142875" y="0"/>
                </a:lnTo>
                <a:lnTo>
                  <a:pt x="285750" y="9525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10001250" y="1714500"/>
            <a:ext cx="190500" cy="142875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10B981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10067925" y="175260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657398" y="2076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安全设计</a:t>
            </a:r>
            <a:endParaRPr lang="zh-CN" sz="1500" b="1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Line 50"/>
          <p:cNvSpPr/>
          <p:nvPr/>
        </p:nvSpPr>
        <p:spPr>
          <a:xfrm>
            <a:off x="9334500" y="2381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0665" y="2553652"/>
            <a:ext cx="953452" cy="842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URL 白名单验证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防止 SSRF 攻击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API Key 鉴权</a:t>
            </a:r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内网地址限制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9048750" y="3333750"/>
            <a:ext cx="2190750" cy="28575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181148" y="3435191"/>
            <a:ext cx="13631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0B98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validate_target_url(url)</a:t>
            </a:r>
            <a:endParaRPr lang="zh-CN" sz="825" dirty="0">
              <a:solidFill>
                <a:srgbClr val="10B98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571500" y="4000500"/>
            <a:ext cx="10858500" cy="2381250"/>
          </a:xfrm>
          <a:prstGeom prst="roundRect">
            <a:avLst>
              <a:gd name="adj" fmla="val 48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41045" y="4203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设计原则</a:t>
            </a:r>
            <a:endParaRPr lang="zh-CN" sz="165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762000" y="4572000"/>
            <a:ext cx="4762500" cy="152400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7260" y="4728210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模块化设计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939165" y="498252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职责分离，每个模块负责单一功能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37260" y="5252085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松耦合架构</a:t>
            </a:r>
            <a:endParaRPr lang="zh-CN" sz="12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39165" y="55064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模块间通过接口交互，易于扩展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937260" y="5775960"/>
            <a:ext cx="8065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易于测试</a:t>
            </a:r>
            <a:endParaRPr lang="zh-CN" sz="12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939165" y="5935028"/>
            <a:ext cx="2322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每个模块可独立测试，39 个测试用例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5905500" y="45720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9525">
            <a:solidFill>
              <a:srgbClr val="2D3748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6080760" y="47282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核心依赖</a:t>
            </a:r>
            <a:endParaRPr lang="zh-CN" sz="120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6096000" y="5048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6410801" y="514159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</a:t>
            </a:r>
            <a:endParaRPr lang="zh-CN" sz="9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7239000" y="5048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9525">
            <a:solidFill>
              <a:srgbClr val="4ECDC4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7508796" y="5141595"/>
            <a:ext cx="412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</a:t>
            </a:r>
            <a:endParaRPr lang="zh-CN" sz="9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8382000" y="5048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6B35">
              <a:alpha val="20000"/>
            </a:srgbClr>
          </a:solidFill>
          <a:ln w="9525">
            <a:solidFill>
              <a:srgbClr val="FF6B35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8747808" y="5141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BS4</a:t>
            </a:r>
            <a:endParaRPr lang="zh-CN" sz="9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9525000" y="5048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9854803" y="514159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</a:t>
            </a:r>
            <a:endParaRPr lang="zh-CN" sz="900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6096000" y="55245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6362033" y="5617845"/>
            <a:ext cx="610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WordCloud</a:t>
            </a:r>
            <a:endParaRPr lang="zh-CN" sz="9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5" name="Rectangle 75"/>
          <p:cNvSpPr/>
          <p:nvPr/>
        </p:nvSpPr>
        <p:spPr>
          <a:xfrm>
            <a:off x="7429500" y="55245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9525">
            <a:solidFill>
              <a:srgbClr val="4ECDC4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7761541" y="5617845"/>
            <a:ext cx="478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snownlp</a:t>
            </a:r>
            <a:endParaRPr lang="zh-CN" sz="9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7" name="Rectangle 77"/>
          <p:cNvSpPr/>
          <p:nvPr/>
        </p:nvSpPr>
        <p:spPr>
          <a:xfrm>
            <a:off x="8763000" y="55245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FF6B35">
              <a:alpha val="20000"/>
            </a:srgbClr>
          </a:solidFill>
          <a:ln w="9525">
            <a:solidFill>
              <a:srgbClr val="FF6B35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059037" y="561784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Requests</a:t>
            </a:r>
            <a:endParaRPr lang="zh-CN" sz="9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8575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15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4ECDC4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381000"/>
            <a:ext cx="38100" cy="3810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7710" y="3562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项目总结</a:t>
            </a:r>
            <a:endParaRPr lang="zh-CN" sz="27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649855" y="501968"/>
            <a:ext cx="1501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Project Summary</a:t>
            </a:r>
            <a:endParaRPr lang="zh-CN" sz="13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04775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582108" y="1393508"/>
            <a:ext cx="70277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PyMS 项目综合运用了 Python Web 开发、数据爬取、清洗与可视化技术</a:t>
            </a:r>
            <a:endParaRPr lang="zh-CN" sz="16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94798" y="1726882"/>
            <a:ext cx="40024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完成了从数据采集到分析展示的完整流程</a:t>
            </a:r>
            <a:endParaRPr lang="zh-CN" sz="16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20590" y="215646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一个完整的数据采集与分析云服务系统</a:t>
            </a:r>
            <a:endParaRPr lang="zh-CN" sz="12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571500" y="2762250"/>
            <a:ext cx="3429000" cy="217678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714500" y="2952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00D4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857375" y="3091815"/>
            <a:ext cx="2857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</a:t>
            </a:r>
            <a:endParaRPr lang="zh-CN" sz="18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02987" y="3631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技术收获</a:t>
            </a:r>
            <a:endParaRPr lang="zh-CN" sz="165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38212" y="3974306"/>
            <a:ext cx="1343025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Sanic 框架开发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 数据库设计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 中文分词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WordCloud 词云生成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snownlp 情感分析</a:t>
            </a:r>
            <a:endParaRPr lang="zh-CN" sz="1125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282440" y="2758440"/>
            <a:ext cx="3429000" cy="218059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810250" y="2952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4ECDC4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53125" y="3091815"/>
            <a:ext cx="2857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</a:t>
            </a:r>
            <a:endParaRPr lang="zh-CN" sz="18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12987" y="3631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能力提升</a:t>
            </a:r>
            <a:endParaRPr lang="zh-CN" sz="165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48212" y="3974306"/>
            <a:ext cx="13144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Web 应用开发能力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数据处理与分析能力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系统架构设计能力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安全防护意识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项目工程化能力</a:t>
            </a:r>
            <a:endParaRPr lang="zh-CN" sz="1125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8191500" y="2758440"/>
            <a:ext cx="3429000" cy="221615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9531985" y="2952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19050">
            <a:solidFill>
              <a:srgbClr val="FF6B3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674860" y="3091815"/>
            <a:ext cx="2857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展</a:t>
            </a:r>
            <a:endParaRPr lang="zh-CN" sz="1800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334722" y="363950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未来展望</a:t>
            </a:r>
            <a:endParaRPr lang="zh-CN" sz="165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558212" y="3974306"/>
            <a:ext cx="1171575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支持更多数据源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增加机器学习模型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优化用户界面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支持分布式爬取</a:t>
            </a:r>
            <a:r>
              <a:rPr lang="zh-CN" sz="1125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数据持久化优化</a:t>
            </a:r>
            <a:endParaRPr lang="zh-CN" sz="1125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571500" y="4953000"/>
            <a:ext cx="11049000" cy="1333500"/>
          </a:xfrm>
          <a:prstGeom prst="roundRect">
            <a:avLst>
              <a:gd name="adj" fmla="val 8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42950" y="517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项目数据</a:t>
            </a:r>
            <a:endParaRPr lang="zh-CN" sz="1500" b="1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952500" y="5524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00D4F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97470" y="5535930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</a:t>
            </a:r>
            <a:endParaRPr lang="zh-CN" sz="2100" b="1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41621" y="58874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核心依赖包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3238500" y="5524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4ECDC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002610" y="55359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2100" b="1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897630" y="5887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核心模块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5524500" y="5524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FF6B3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288610" y="55359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6B3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2100" b="1" dirty="0">
              <a:solidFill>
                <a:srgbClr val="FF6B3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204633" y="5887402"/>
            <a:ext cx="5447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API 接口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7810500" y="55245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10B98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574610" y="55359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39</a:t>
            </a:r>
            <a:endParaRPr lang="zh-CN" sz="2100" b="1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469630" y="5887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测试用例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10096500" y="5524500"/>
            <a:ext cx="1333500" cy="57150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 w="9525">
            <a:solidFill>
              <a:srgbClr val="6B728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0655720" y="5535930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2100" b="1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0469880" y="5887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任务状态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30227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00D4FF">
                  <a:alpha val="50000"/>
                </a:srgbClr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B35">
                  <a:alpha val="10000"/>
                </a:srgbClr>
              </a:gs>
              <a:gs pos="100000">
                <a:srgbClr val="FF6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>
                <a:alpha val="20000"/>
              </a:srgbClr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52500" y="476250"/>
            <a:ext cx="1905000" cy="1905000"/>
          </a:xfrm>
          <a:prstGeom prst="ellipse">
            <a:avLst/>
          </a:prstGeom>
          <a:noFill/>
          <a:ln w="9525">
            <a:solidFill>
              <a:srgbClr val="00D4FF">
                <a:alpha val="10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143000" y="666750"/>
            <a:ext cx="1524000" cy="1524000"/>
          </a:xfrm>
          <a:prstGeom prst="ellipse">
            <a:avLst/>
          </a:prstGeom>
          <a:noFill/>
          <a:ln w="9525">
            <a:solidFill>
              <a:srgbClr val="4ECDC4">
                <a:alpha val="8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9334500" y="4572000"/>
            <a:ext cx="2286000" cy="2286000"/>
          </a:xfrm>
          <a:prstGeom prst="ellipse">
            <a:avLst/>
          </a:prstGeom>
          <a:noFill/>
          <a:ln w="9525">
            <a:solidFill>
              <a:srgbClr val="FF6B35">
                <a:alpha val="10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620250" y="4857750"/>
            <a:ext cx="1714500" cy="1714500"/>
          </a:xfrm>
          <a:prstGeom prst="ellipse">
            <a:avLst/>
          </a:prstGeom>
          <a:noFill/>
          <a:ln w="9525">
            <a:solidFill>
              <a:srgbClr val="00D4FF">
                <a:alpha val="8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381250"/>
            <a:ext cx="38100" cy="2095500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66750" y="2667000"/>
            <a:ext cx="38100" cy="1524000"/>
          </a:xfrm>
          <a:prstGeom prst="rect">
            <a:avLst/>
          </a:prstGeom>
          <a:solidFill>
            <a:srgbClr val="4ECDC4">
              <a:alpha val="3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582400" y="2381250"/>
            <a:ext cx="38100" cy="2095500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487150" y="2667000"/>
            <a:ext cx="38100" cy="1524000"/>
          </a:xfrm>
          <a:prstGeom prst="rect">
            <a:avLst/>
          </a:prstGeom>
          <a:solidFill>
            <a:srgbClr val="4ECDC4">
              <a:alpha val="3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78692" y="21812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gradFill>
                  <a:gsLst>
                    <a:gs pos="0">
                      <a:srgbClr val="00D4FF"/>
                    </a:gs>
                    <a:gs pos="100000">
                      <a:srgbClr val="4ECDC4"/>
                    </a:gs>
                  </a:gsLst>
                  <a:lin ang="27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感谢聆听</a:t>
            </a:r>
            <a:endParaRPr lang="zh-CN" sz="4500" b="1" dirty="0">
              <a:gradFill>
                <a:gsLst>
                  <a:gs pos="0">
                    <a:srgbClr val="00D4FF"/>
                  </a:gs>
                  <a:gs pos="100000">
                    <a:srgbClr val="4ECDC4"/>
                  </a:gs>
                </a:gsLst>
                <a:lin ang="2700000" scaled="1"/>
              </a:gra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089208" y="301180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8EAED">
                    <a:alphaMod val="9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欢迎提问与交流</a:t>
            </a:r>
            <a:endParaRPr lang="zh-CN" sz="2100" dirty="0">
              <a:solidFill>
                <a:srgbClr val="E8EAED">
                  <a:alphaMod val="9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4191000" y="3619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00D4FF">
                <a:alpha val="6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6057900" y="35814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106829" y="3933825"/>
            <a:ext cx="19783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PyMS 网页爬虫控制台</a:t>
            </a:r>
            <a:endParaRPr lang="zh-CN" sz="150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287631" y="4283392"/>
            <a:ext cx="3616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 Python 的数据爬虫与可视化云服务设计</a:t>
            </a:r>
            <a:endParaRPr lang="zh-CN" sz="13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3238500" y="4857750"/>
            <a:ext cx="5715000" cy="1143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855720" y="51092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D4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项目地址</a:t>
            </a:r>
            <a:endParaRPr lang="zh-CN" sz="1200" dirty="0">
              <a:solidFill>
                <a:srgbClr val="00D4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589592" y="5363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AE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github.com/pyms</a:t>
            </a:r>
            <a:endParaRPr lang="zh-CN" sz="1050" dirty="0">
              <a:solidFill>
                <a:srgbClr val="E8EAED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5143500" y="504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793230" y="5109210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ECD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技术栈</a:t>
            </a:r>
            <a:endParaRPr lang="zh-CN" sz="1200" dirty="0">
              <a:solidFill>
                <a:srgbClr val="4ECDC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240566" y="5363528"/>
            <a:ext cx="16158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EA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Python + Sanic + SQLite</a:t>
            </a:r>
            <a:endParaRPr lang="zh-CN" sz="1050" dirty="0">
              <a:solidFill>
                <a:srgbClr val="E8EAE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107549" y="5601652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AA0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jieba + WordCloud + snownlp</a:t>
            </a:r>
            <a:endParaRPr lang="zh-CN" sz="1050" dirty="0">
              <a:solidFill>
                <a:srgbClr val="9AA0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4ECDC4">
              <a:alpha val="15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85750" y="285750"/>
            <a:ext cx="381000" cy="1905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85750" y="285750"/>
            <a:ext cx="19050" cy="38100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11525250" y="285750"/>
            <a:ext cx="381000" cy="1905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11887200" y="285750"/>
            <a:ext cx="19050" cy="381000"/>
          </a:xfrm>
          <a:prstGeom prst="rect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85750" y="6553200"/>
            <a:ext cx="381000" cy="1905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285750" y="6191250"/>
            <a:ext cx="19050" cy="38100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1525250" y="6553200"/>
            <a:ext cx="381000" cy="1905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1887200" y="6191250"/>
            <a:ext cx="19050" cy="381000"/>
          </a:xfrm>
          <a:prstGeom prst="rect">
            <a:avLst/>
          </a:prstGeom>
          <a:solidFill>
            <a:srgbClr val="4ECDC4">
              <a:alpha val="5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3022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11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2782</Words>
  <Application>WPS 演示</Application>
  <PresentationFormat>On-screen Show (16:9)</PresentationFormat>
  <Paragraphs>558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muyuhuanghun</cp:lastModifiedBy>
  <cp:revision>2</cp:revision>
  <dcterms:created xsi:type="dcterms:W3CDTF">2026-06-15T02:27:00Z</dcterms:created>
  <dcterms:modified xsi:type="dcterms:W3CDTF">2026-06-15T02:29:43Z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B86FF696FDF044B4AEABE03003B1DD9E_12</vt:lpwstr>
  </property>
  <property fmtid="{D5CDD505-2E9C-101B-9397-08002B2CF9AE}" pid="3" name="KSOProductBuildVer">
    <vt:lpwstr>2052-12.8.2.15091</vt:lpwstr>
  </property>
</Properties>
</file>