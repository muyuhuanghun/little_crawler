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0" d="100"/>
          <a:sy n="100" d="100"/>
        </p:scale>
        <p:origin x="232"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00D4FF">
                  <a:alpha val="15000"/>
                </a:srgbClr>
              </a:gs>
              <a:gs pos="100000">
                <a:srgbClr val="00D4FF">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FF6B35">
                  <a:alpha val="10000"/>
                </a:srgbClr>
              </a:gs>
              <a:gs pos="100000">
                <a:srgbClr val="FF6B35">
                  <a:alpha val="0"/>
                </a:srgbClr>
              </a:gs>
            </a:gsLst>
            <a:path path="circle">
              <a:fillToRect l="50000" t="50000" r="50000" b="50000"/>
            </a:path>
          </a:gradFill>
          <a:ln>
            <a:noFill/>
          </a:ln>
        </p:spPr>
        <p:txBody>
          <a:bodyPr/>
          <a:lstStyle/>
          <a:p>
            <a:endParaRPr lang="zh-CN" altLang="en-US"/>
          </a:p>
        </p:txBody>
      </p:sp>
      <p:sp>
        <p:nvSpPr>
          <p:cNvPr id="5" name="Line 5"/>
          <p:cNvSpPr/>
          <p:nvPr/>
        </p:nvSpPr>
        <p:spPr>
          <a:xfrm>
            <a:off x="0" y="1714500"/>
            <a:ext cx="12192000" cy="9525"/>
          </a:xfrm>
          <a:custGeom>
            <a:avLst/>
            <a:gdLst/>
            <a:ahLst/>
            <a:cxnLst/>
            <a:rect l="l" t="t" r="r" b="b"/>
            <a:pathLst>
              <a:path w="12192000" h="9525">
                <a:moveTo>
                  <a:pt x="0" y="0"/>
                </a:moveTo>
                <a:lnTo>
                  <a:pt x="12192000" y="0"/>
                </a:lnTo>
              </a:path>
            </a:pathLst>
          </a:custGeom>
          <a:noFill/>
          <a:ln w="4762">
            <a:solidFill>
              <a:srgbClr val="2D3748">
                <a:alpha val="30000"/>
              </a:srgbClr>
            </a:solidFill>
          </a:ln>
        </p:spPr>
        <p:txBody>
          <a:bodyPr/>
          <a:lstStyle/>
          <a:p>
            <a:endParaRPr lang="zh-CN" altLang="en-US"/>
          </a:p>
        </p:txBody>
      </p:sp>
      <p:sp>
        <p:nvSpPr>
          <p:cNvPr id="6" name="Line 6"/>
          <p:cNvSpPr/>
          <p:nvPr/>
        </p:nvSpPr>
        <p:spPr>
          <a:xfrm>
            <a:off x="0" y="3429000"/>
            <a:ext cx="12192000" cy="9525"/>
          </a:xfrm>
          <a:custGeom>
            <a:avLst/>
            <a:gdLst/>
            <a:ahLst/>
            <a:cxnLst/>
            <a:rect l="l" t="t" r="r" b="b"/>
            <a:pathLst>
              <a:path w="12192000" h="9525">
                <a:moveTo>
                  <a:pt x="0" y="0"/>
                </a:moveTo>
                <a:lnTo>
                  <a:pt x="12192000" y="0"/>
                </a:lnTo>
              </a:path>
            </a:pathLst>
          </a:custGeom>
          <a:noFill/>
          <a:ln w="4762">
            <a:solidFill>
              <a:srgbClr val="2D3748">
                <a:alpha val="30000"/>
              </a:srgbClr>
            </a:solidFill>
          </a:ln>
        </p:spPr>
        <p:txBody>
          <a:bodyPr/>
          <a:lstStyle/>
          <a:p>
            <a:endParaRPr lang="zh-CN" altLang="en-US"/>
          </a:p>
        </p:txBody>
      </p:sp>
      <p:sp>
        <p:nvSpPr>
          <p:cNvPr id="7" name="Line 7"/>
          <p:cNvSpPr/>
          <p:nvPr/>
        </p:nvSpPr>
        <p:spPr>
          <a:xfrm>
            <a:off x="0" y="5143500"/>
            <a:ext cx="12192000" cy="9525"/>
          </a:xfrm>
          <a:custGeom>
            <a:avLst/>
            <a:gdLst/>
            <a:ahLst/>
            <a:cxnLst/>
            <a:rect l="l" t="t" r="r" b="b"/>
            <a:pathLst>
              <a:path w="12192000" h="9525">
                <a:moveTo>
                  <a:pt x="0" y="0"/>
                </a:moveTo>
                <a:lnTo>
                  <a:pt x="12192000" y="0"/>
                </a:lnTo>
              </a:path>
            </a:pathLst>
          </a:custGeom>
          <a:noFill/>
          <a:ln w="4762">
            <a:solidFill>
              <a:srgbClr val="2D3748">
                <a:alpha val="30000"/>
              </a:srgbClr>
            </a:solidFill>
          </a:ln>
        </p:spPr>
        <p:txBody>
          <a:bodyPr/>
          <a:lstStyle/>
          <a:p>
            <a:endParaRPr lang="zh-CN" altLang="en-US"/>
          </a:p>
        </p:txBody>
      </p:sp>
      <p:sp>
        <p:nvSpPr>
          <p:cNvPr id="8" name="Line 8"/>
          <p:cNvSpPr/>
          <p:nvPr/>
        </p:nvSpPr>
        <p:spPr>
          <a:xfrm>
            <a:off x="3048000" y="0"/>
            <a:ext cx="9525" cy="6858000"/>
          </a:xfrm>
          <a:custGeom>
            <a:avLst/>
            <a:gdLst/>
            <a:ahLst/>
            <a:cxnLst/>
            <a:rect l="l" t="t" r="r" b="b"/>
            <a:pathLst>
              <a:path w="9525" h="6858000">
                <a:moveTo>
                  <a:pt x="0" y="0"/>
                </a:moveTo>
                <a:lnTo>
                  <a:pt x="0" y="6858000"/>
                </a:lnTo>
              </a:path>
            </a:pathLst>
          </a:custGeom>
          <a:noFill/>
          <a:ln w="4762">
            <a:solidFill>
              <a:srgbClr val="2D3748">
                <a:alpha val="30000"/>
              </a:srgbClr>
            </a:solidFill>
          </a:ln>
        </p:spPr>
        <p:txBody>
          <a:bodyPr/>
          <a:lstStyle/>
          <a:p>
            <a:endParaRPr lang="zh-CN" altLang="en-US"/>
          </a:p>
        </p:txBody>
      </p:sp>
      <p:sp>
        <p:nvSpPr>
          <p:cNvPr id="9" name="Line 9"/>
          <p:cNvSpPr/>
          <p:nvPr/>
        </p:nvSpPr>
        <p:spPr>
          <a:xfrm>
            <a:off x="6096000" y="0"/>
            <a:ext cx="9525" cy="6858000"/>
          </a:xfrm>
          <a:custGeom>
            <a:avLst/>
            <a:gdLst/>
            <a:ahLst/>
            <a:cxnLst/>
            <a:rect l="l" t="t" r="r" b="b"/>
            <a:pathLst>
              <a:path w="9525" h="6858000">
                <a:moveTo>
                  <a:pt x="0" y="0"/>
                </a:moveTo>
                <a:lnTo>
                  <a:pt x="0" y="6858000"/>
                </a:lnTo>
              </a:path>
            </a:pathLst>
          </a:custGeom>
          <a:noFill/>
          <a:ln w="4762">
            <a:solidFill>
              <a:srgbClr val="2D3748">
                <a:alpha val="30000"/>
              </a:srgbClr>
            </a:solidFill>
          </a:ln>
        </p:spPr>
        <p:txBody>
          <a:bodyPr/>
          <a:lstStyle/>
          <a:p>
            <a:endParaRPr lang="zh-CN" altLang="en-US"/>
          </a:p>
        </p:txBody>
      </p:sp>
      <p:sp>
        <p:nvSpPr>
          <p:cNvPr id="10" name="Line 10"/>
          <p:cNvSpPr/>
          <p:nvPr/>
        </p:nvSpPr>
        <p:spPr>
          <a:xfrm>
            <a:off x="9144000" y="0"/>
            <a:ext cx="9525" cy="6858000"/>
          </a:xfrm>
          <a:custGeom>
            <a:avLst/>
            <a:gdLst/>
            <a:ahLst/>
            <a:cxnLst/>
            <a:rect l="l" t="t" r="r" b="b"/>
            <a:pathLst>
              <a:path w="9525" h="6858000">
                <a:moveTo>
                  <a:pt x="0" y="0"/>
                </a:moveTo>
                <a:lnTo>
                  <a:pt x="0" y="6858000"/>
                </a:lnTo>
              </a:path>
            </a:pathLst>
          </a:custGeom>
          <a:noFill/>
          <a:ln w="4762">
            <a:solidFill>
              <a:srgbClr val="2D3748">
                <a:alpha val="30000"/>
              </a:srgbClr>
            </a:solidFill>
          </a:ln>
        </p:spPr>
        <p:txBody>
          <a:bodyPr/>
          <a:lstStyle/>
          <a:p>
            <a:endParaRPr lang="zh-CN" altLang="en-US"/>
          </a:p>
        </p:txBody>
      </p:sp>
      <p:sp>
        <p:nvSpPr>
          <p:cNvPr id="11" name="Rectangle 11"/>
          <p:cNvSpPr/>
          <p:nvPr/>
        </p:nvSpPr>
        <p:spPr>
          <a:xfrm>
            <a:off x="571500" y="1905000"/>
            <a:ext cx="38100" cy="3048000"/>
          </a:xfrm>
          <a:prstGeom prst="rect">
            <a:avLst/>
          </a:prstGeom>
          <a:solidFill>
            <a:srgbClr val="00D4FF">
              <a:alpha val="60000"/>
            </a:srgbClr>
          </a:solidFill>
          <a:ln>
            <a:noFill/>
          </a:ln>
        </p:spPr>
        <p:txBody>
          <a:bodyPr/>
          <a:lstStyle/>
          <a:p>
            <a:endParaRPr lang="zh-CN" altLang="en-US"/>
          </a:p>
        </p:txBody>
      </p:sp>
      <p:sp>
        <p:nvSpPr>
          <p:cNvPr id="12" name="Rectangle 12"/>
          <p:cNvSpPr/>
          <p:nvPr/>
        </p:nvSpPr>
        <p:spPr>
          <a:xfrm>
            <a:off x="666750" y="2286000"/>
            <a:ext cx="38100" cy="2286000"/>
          </a:xfrm>
          <a:prstGeom prst="rect">
            <a:avLst/>
          </a:prstGeom>
          <a:solidFill>
            <a:srgbClr val="4ECDC4">
              <a:alpha val="40000"/>
            </a:srgbClr>
          </a:solidFill>
          <a:ln>
            <a:noFill/>
          </a:ln>
        </p:spPr>
        <p:txBody>
          <a:bodyPr/>
          <a:lstStyle/>
          <a:p>
            <a:endParaRPr lang="zh-CN" altLang="en-US"/>
          </a:p>
        </p:txBody>
      </p:sp>
      <p:sp>
        <p:nvSpPr>
          <p:cNvPr id="13" name="Ellipse 13"/>
          <p:cNvSpPr/>
          <p:nvPr/>
        </p:nvSpPr>
        <p:spPr>
          <a:xfrm>
            <a:off x="9715500" y="666750"/>
            <a:ext cx="1524000" cy="1524000"/>
          </a:xfrm>
          <a:prstGeom prst="ellipse">
            <a:avLst/>
          </a:prstGeom>
          <a:noFill/>
          <a:ln w="9525">
            <a:solidFill>
              <a:srgbClr val="00D4FF">
                <a:alpha val="20000"/>
              </a:srgbClr>
            </a:solidFill>
          </a:ln>
        </p:spPr>
        <p:txBody>
          <a:bodyPr/>
          <a:lstStyle/>
          <a:p>
            <a:endParaRPr lang="zh-CN" altLang="en-US"/>
          </a:p>
        </p:txBody>
      </p:sp>
      <p:sp>
        <p:nvSpPr>
          <p:cNvPr id="14" name="Ellipse 14"/>
          <p:cNvSpPr/>
          <p:nvPr/>
        </p:nvSpPr>
        <p:spPr>
          <a:xfrm>
            <a:off x="9906000" y="857250"/>
            <a:ext cx="1143000" cy="1143000"/>
          </a:xfrm>
          <a:prstGeom prst="ellipse">
            <a:avLst/>
          </a:prstGeom>
          <a:noFill/>
          <a:ln w="9525">
            <a:solidFill>
              <a:srgbClr val="4ECDC4">
                <a:alpha val="15000"/>
              </a:srgbClr>
            </a:solidFill>
          </a:ln>
        </p:spPr>
        <p:txBody>
          <a:bodyPr/>
          <a:lstStyle/>
          <a:p>
            <a:endParaRPr lang="zh-CN" altLang="en-US"/>
          </a:p>
        </p:txBody>
      </p:sp>
      <p:sp>
        <p:nvSpPr>
          <p:cNvPr id="15" name="Ellipse 15"/>
          <p:cNvSpPr/>
          <p:nvPr/>
        </p:nvSpPr>
        <p:spPr>
          <a:xfrm>
            <a:off x="9810750" y="4572000"/>
            <a:ext cx="2286000" cy="2286000"/>
          </a:xfrm>
          <a:prstGeom prst="ellipse">
            <a:avLst/>
          </a:prstGeom>
          <a:noFill/>
          <a:ln w="9525">
            <a:solidFill>
              <a:srgbClr val="FF6B35">
                <a:alpha val="10000"/>
              </a:srgbClr>
            </a:solidFill>
          </a:ln>
        </p:spPr>
        <p:txBody>
          <a:bodyPr/>
          <a:lstStyle/>
          <a:p>
            <a:endParaRPr lang="zh-CN" altLang="en-US"/>
          </a:p>
        </p:txBody>
      </p:sp>
      <p:sp>
        <p:nvSpPr>
          <p:cNvPr id="16" name="TextBox 16"/>
          <p:cNvSpPr txBox="1"/>
          <p:nvPr/>
        </p:nvSpPr>
        <p:spPr>
          <a:xfrm>
            <a:off x="3190504" y="2404110"/>
            <a:ext cx="5810993" cy="853440"/>
          </a:xfrm>
          <a:prstGeom prst="rect">
            <a:avLst/>
          </a:prstGeom>
          <a:noFill/>
          <a:ln>
            <a:noFill/>
          </a:ln>
        </p:spPr>
        <p:txBody>
          <a:bodyPr wrap="none" lIns="0" tIns="0" rIns="0" bIns="0" anchor="t" anchorCtr="0">
            <a:spAutoFit/>
          </a:bodyPr>
          <a:lstStyle/>
          <a:p>
            <a:pPr algn="ctr"/>
            <a:r>
              <a:rPr lang="zh-CN" sz="4200" b="1" dirty="0">
                <a:gradFill>
                  <a:gsLst>
                    <a:gs pos="0">
                      <a:srgbClr val="00D4FF"/>
                    </a:gs>
                    <a:gs pos="100000">
                      <a:srgbClr val="4ECDC4"/>
                    </a:gs>
                  </a:gsLst>
                  <a:lin ang="2700000" scaled="1"/>
                </a:gradFill>
                <a:latin typeface="Arial" panose="020B0604020202020204"/>
                <a:ea typeface="微软雅黑" panose="020B0503020204020204" charset="-122"/>
                <a:cs typeface="Arial" panose="020B0604020202020204"/>
              </a:rPr>
              <a:t>PyMS 网页爬虫控制台</a:t>
            </a:r>
          </a:p>
        </p:txBody>
      </p:sp>
      <p:sp>
        <p:nvSpPr>
          <p:cNvPr id="17" name="TextBox 17"/>
          <p:cNvSpPr txBox="1"/>
          <p:nvPr/>
        </p:nvSpPr>
        <p:spPr>
          <a:xfrm>
            <a:off x="3282982" y="3297555"/>
            <a:ext cx="5626037" cy="426720"/>
          </a:xfrm>
          <a:prstGeom prst="rect">
            <a:avLst/>
          </a:prstGeom>
          <a:noFill/>
          <a:ln>
            <a:noFill/>
          </a:ln>
        </p:spPr>
        <p:txBody>
          <a:bodyPr wrap="none" lIns="0" tIns="0" rIns="0" bIns="0" anchor="t" anchorCtr="0">
            <a:spAutoFit/>
          </a:bodyPr>
          <a:lstStyle/>
          <a:p>
            <a:pPr algn="ctr"/>
            <a:r>
              <a:rPr lang="zh-CN" sz="2100" dirty="0">
                <a:solidFill>
                  <a:srgbClr val="E8EAED">
                    <a:alphaMod val="90000"/>
                  </a:srgbClr>
                </a:solidFill>
                <a:latin typeface="Arial" panose="020B0604020202020204"/>
                <a:ea typeface="微软雅黑" panose="020B0503020204020204" charset="-122"/>
                <a:cs typeface="Arial" panose="020B0604020202020204"/>
              </a:rPr>
              <a:t>基于 Python 的数据爬虫与可视化云服务设计</a:t>
            </a:r>
          </a:p>
        </p:txBody>
      </p:sp>
      <p:sp>
        <p:nvSpPr>
          <p:cNvPr id="18" name="Line 18"/>
          <p:cNvSpPr/>
          <p:nvPr/>
        </p:nvSpPr>
        <p:spPr>
          <a:xfrm>
            <a:off x="4191000" y="3905250"/>
            <a:ext cx="3810000" cy="9525"/>
          </a:xfrm>
          <a:custGeom>
            <a:avLst/>
            <a:gdLst/>
            <a:ahLst/>
            <a:cxnLst/>
            <a:rect l="l" t="t" r="r" b="b"/>
            <a:pathLst>
              <a:path w="3810000" h="9525">
                <a:moveTo>
                  <a:pt x="0" y="0"/>
                </a:moveTo>
                <a:lnTo>
                  <a:pt x="3810000" y="0"/>
                </a:lnTo>
              </a:path>
            </a:pathLst>
          </a:custGeom>
          <a:noFill/>
          <a:ln w="19050">
            <a:solidFill>
              <a:srgbClr val="00D4FF">
                <a:alpha val="60000"/>
              </a:srgbClr>
            </a:solidFill>
          </a:ln>
        </p:spPr>
        <p:txBody>
          <a:bodyPr/>
          <a:lstStyle/>
          <a:p>
            <a:endParaRPr lang="zh-CN" altLang="en-US"/>
          </a:p>
        </p:txBody>
      </p:sp>
      <p:sp>
        <p:nvSpPr>
          <p:cNvPr id="19" name="TextBox 19"/>
          <p:cNvSpPr txBox="1"/>
          <p:nvPr/>
        </p:nvSpPr>
        <p:spPr>
          <a:xfrm>
            <a:off x="5538788" y="4235768"/>
            <a:ext cx="1114425" cy="274320"/>
          </a:xfrm>
          <a:prstGeom prst="rect">
            <a:avLst/>
          </a:prstGeom>
          <a:noFill/>
          <a:ln>
            <a:noFill/>
          </a:ln>
        </p:spPr>
        <p:txBody>
          <a:bodyPr wrap="none" lIns="0" tIns="0" rIns="0" bIns="0" anchor="t" anchorCtr="0">
            <a:spAutoFit/>
          </a:bodyPr>
          <a:lstStyle/>
          <a:p>
            <a:pPr algn="ctr"/>
            <a:r>
              <a:rPr lang="zh-CN" sz="1350" dirty="0">
                <a:solidFill>
                  <a:srgbClr val="9AA0A6"/>
                </a:solidFill>
                <a:latin typeface="Arial" panose="020B0604020202020204"/>
                <a:ea typeface="微软雅黑" panose="020B0503020204020204" charset="-122"/>
                <a:cs typeface="Arial" panose="020B0604020202020204"/>
              </a:rPr>
              <a:t>课程设计汇报</a:t>
            </a:r>
          </a:p>
        </p:txBody>
      </p:sp>
      <p:sp>
        <p:nvSpPr>
          <p:cNvPr id="20" name="TextBox 20"/>
          <p:cNvSpPr txBox="1"/>
          <p:nvPr/>
        </p:nvSpPr>
        <p:spPr>
          <a:xfrm>
            <a:off x="5628703" y="4537710"/>
            <a:ext cx="934593" cy="243840"/>
          </a:xfrm>
          <a:prstGeom prst="rect">
            <a:avLst/>
          </a:prstGeom>
          <a:noFill/>
          <a:ln>
            <a:noFill/>
          </a:ln>
        </p:spPr>
        <p:txBody>
          <a:bodyPr wrap="none" lIns="0" tIns="0" rIns="0" bIns="0" anchor="t" anchorCtr="0">
            <a:spAutoFit/>
          </a:bodyPr>
          <a:lstStyle/>
          <a:p>
            <a:pPr algn="ctr"/>
            <a:r>
              <a:rPr lang="zh-CN" sz="1200" dirty="0">
                <a:solidFill>
                  <a:srgbClr val="6B7280"/>
                </a:solidFill>
                <a:latin typeface="Arial" panose="020B0604020202020204"/>
                <a:ea typeface="微软雅黑" panose="020B0503020204020204" charset="-122"/>
                <a:cs typeface="Arial" panose="020B0604020202020204"/>
              </a:rPr>
              <a:t>2026 年 6 月</a:t>
            </a:r>
          </a:p>
        </p:txBody>
      </p:sp>
      <p:sp>
        <p:nvSpPr>
          <p:cNvPr id="21" name="Rectangle 21"/>
          <p:cNvSpPr/>
          <p:nvPr/>
        </p:nvSpPr>
        <p:spPr>
          <a:xfrm>
            <a:off x="0" y="6667500"/>
            <a:ext cx="12192000" cy="190500"/>
          </a:xfrm>
          <a:prstGeom prst="rect">
            <a:avLst/>
          </a:prstGeom>
          <a:solidFill>
            <a:srgbClr val="00D4FF">
              <a:alpha val="30000"/>
            </a:srgbClr>
          </a:solidFill>
          <a:ln>
            <a:noFill/>
          </a:ln>
        </p:spPr>
        <p:txBody>
          <a:bodyPr/>
          <a:lstStyle/>
          <a:p>
            <a:endParaRPr lang="zh-CN" altLang="en-US"/>
          </a:p>
        </p:txBody>
      </p:sp>
      <p:sp>
        <p:nvSpPr>
          <p:cNvPr id="22" name="Rectangle 22"/>
          <p:cNvSpPr/>
          <p:nvPr/>
        </p:nvSpPr>
        <p:spPr>
          <a:xfrm>
            <a:off x="0" y="6762750"/>
            <a:ext cx="12192000" cy="95250"/>
          </a:xfrm>
          <a:prstGeom prst="rect">
            <a:avLst/>
          </a:prstGeom>
          <a:solidFill>
            <a:srgbClr val="4ECDC4">
              <a:alpha val="20000"/>
            </a:srgbClr>
          </a:solidFill>
          <a:ln>
            <a:noFill/>
          </a:ln>
        </p:spPr>
        <p:txBody>
          <a:bodyPr/>
          <a:lstStyle/>
          <a:p>
            <a:endParaRPr lang="zh-CN" altLang="en-US"/>
          </a:p>
        </p:txBody>
      </p:sp>
      <p:sp>
        <p:nvSpPr>
          <p:cNvPr id="23" name="Rectangle 23"/>
          <p:cNvSpPr/>
          <p:nvPr/>
        </p:nvSpPr>
        <p:spPr>
          <a:xfrm>
            <a:off x="285750" y="285750"/>
            <a:ext cx="381000" cy="19050"/>
          </a:xfrm>
          <a:prstGeom prst="rect">
            <a:avLst/>
          </a:prstGeom>
          <a:solidFill>
            <a:srgbClr val="00D4FF">
              <a:alpha val="50000"/>
            </a:srgbClr>
          </a:solidFill>
          <a:ln>
            <a:noFill/>
          </a:ln>
        </p:spPr>
        <p:txBody>
          <a:bodyPr/>
          <a:lstStyle/>
          <a:p>
            <a:endParaRPr lang="zh-CN" altLang="en-US"/>
          </a:p>
        </p:txBody>
      </p:sp>
      <p:sp>
        <p:nvSpPr>
          <p:cNvPr id="24" name="Rectangle 24"/>
          <p:cNvSpPr/>
          <p:nvPr/>
        </p:nvSpPr>
        <p:spPr>
          <a:xfrm>
            <a:off x="285750" y="285750"/>
            <a:ext cx="19050" cy="381000"/>
          </a:xfrm>
          <a:prstGeom prst="rect">
            <a:avLst/>
          </a:prstGeom>
          <a:solidFill>
            <a:srgbClr val="00D4FF">
              <a:alpha val="50000"/>
            </a:srgbClr>
          </a:solidFill>
          <a:ln>
            <a:noFill/>
          </a:ln>
        </p:spPr>
        <p:txBody>
          <a:bodyPr/>
          <a:lstStyle/>
          <a:p>
            <a:endParaRPr lang="zh-CN" altLang="en-US"/>
          </a:p>
        </p:txBody>
      </p:sp>
      <p:sp>
        <p:nvSpPr>
          <p:cNvPr id="25" name="Rectangle 25"/>
          <p:cNvSpPr/>
          <p:nvPr/>
        </p:nvSpPr>
        <p:spPr>
          <a:xfrm>
            <a:off x="11525250" y="285750"/>
            <a:ext cx="381000" cy="19050"/>
          </a:xfrm>
          <a:prstGeom prst="rect">
            <a:avLst/>
          </a:prstGeom>
          <a:solidFill>
            <a:srgbClr val="00D4FF">
              <a:alpha val="50000"/>
            </a:srgbClr>
          </a:solidFill>
          <a:ln>
            <a:noFill/>
          </a:ln>
        </p:spPr>
        <p:txBody>
          <a:bodyPr/>
          <a:lstStyle/>
          <a:p>
            <a:endParaRPr lang="zh-CN" altLang="en-US"/>
          </a:p>
        </p:txBody>
      </p:sp>
      <p:sp>
        <p:nvSpPr>
          <p:cNvPr id="26" name="Rectangle 26"/>
          <p:cNvSpPr/>
          <p:nvPr/>
        </p:nvSpPr>
        <p:spPr>
          <a:xfrm>
            <a:off x="11887200" y="285750"/>
            <a:ext cx="19050" cy="381000"/>
          </a:xfrm>
          <a:prstGeom prst="rect">
            <a:avLst/>
          </a:prstGeom>
          <a:solidFill>
            <a:srgbClr val="00D4FF">
              <a:alpha val="50000"/>
            </a:srgbClr>
          </a:solidFill>
          <a:ln>
            <a:noFill/>
          </a:ln>
        </p:spPr>
        <p:txBody>
          <a:bodyPr/>
          <a:lstStyle/>
          <a:p>
            <a:endParaRPr lang="zh-CN" altLang="en-US"/>
          </a:p>
        </p:txBody>
      </p:sp>
      <p:sp>
        <p:nvSpPr>
          <p:cNvPr id="27" name="Rectangle 27"/>
          <p:cNvSpPr/>
          <p:nvPr/>
        </p:nvSpPr>
        <p:spPr>
          <a:xfrm>
            <a:off x="285750" y="6553200"/>
            <a:ext cx="381000" cy="19050"/>
          </a:xfrm>
          <a:prstGeom prst="rect">
            <a:avLst/>
          </a:prstGeom>
          <a:solidFill>
            <a:srgbClr val="4ECDC4">
              <a:alpha val="50000"/>
            </a:srgbClr>
          </a:solidFill>
          <a:ln>
            <a:noFill/>
          </a:ln>
        </p:spPr>
        <p:txBody>
          <a:bodyPr/>
          <a:lstStyle/>
          <a:p>
            <a:endParaRPr lang="zh-CN" altLang="en-US"/>
          </a:p>
        </p:txBody>
      </p:sp>
      <p:sp>
        <p:nvSpPr>
          <p:cNvPr id="28" name="Rectangle 28"/>
          <p:cNvSpPr/>
          <p:nvPr/>
        </p:nvSpPr>
        <p:spPr>
          <a:xfrm>
            <a:off x="285750" y="6191250"/>
            <a:ext cx="19050" cy="381000"/>
          </a:xfrm>
          <a:prstGeom prst="rect">
            <a:avLst/>
          </a:prstGeom>
          <a:solidFill>
            <a:srgbClr val="4ECDC4">
              <a:alpha val="50000"/>
            </a:srgbClr>
          </a:solidFill>
          <a:ln>
            <a:noFill/>
          </a:ln>
        </p:spPr>
        <p:txBody>
          <a:bodyPr/>
          <a:lstStyle/>
          <a:p>
            <a:endParaRPr lang="zh-CN" altLang="en-US"/>
          </a:p>
        </p:txBody>
      </p:sp>
      <p:sp>
        <p:nvSpPr>
          <p:cNvPr id="29" name="Rectangle 29"/>
          <p:cNvSpPr/>
          <p:nvPr/>
        </p:nvSpPr>
        <p:spPr>
          <a:xfrm>
            <a:off x="11525250" y="6553200"/>
            <a:ext cx="381000" cy="19050"/>
          </a:xfrm>
          <a:prstGeom prst="rect">
            <a:avLst/>
          </a:prstGeom>
          <a:solidFill>
            <a:srgbClr val="4ECDC4">
              <a:alpha val="50000"/>
            </a:srgbClr>
          </a:solidFill>
          <a:ln>
            <a:noFill/>
          </a:ln>
        </p:spPr>
        <p:txBody>
          <a:bodyPr/>
          <a:lstStyle/>
          <a:p>
            <a:endParaRPr lang="zh-CN" altLang="en-US"/>
          </a:p>
        </p:txBody>
      </p:sp>
      <p:sp>
        <p:nvSpPr>
          <p:cNvPr id="30" name="Rectangle 30"/>
          <p:cNvSpPr/>
          <p:nvPr/>
        </p:nvSpPr>
        <p:spPr>
          <a:xfrm>
            <a:off x="11887200" y="6191250"/>
            <a:ext cx="19050" cy="381000"/>
          </a:xfrm>
          <a:prstGeom prst="rect">
            <a:avLst/>
          </a:prstGeom>
          <a:solidFill>
            <a:srgbClr val="4ECDC4">
              <a:alpha val="50000"/>
            </a:srgbClr>
          </a:soli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4" name="Rectangle 4"/>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5" name="TextBox 5"/>
          <p:cNvSpPr txBox="1"/>
          <p:nvPr/>
        </p:nvSpPr>
        <p:spPr>
          <a:xfrm>
            <a:off x="727710" y="356235"/>
            <a:ext cx="1580769"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项目概述</a:t>
            </a:r>
          </a:p>
        </p:txBody>
      </p:sp>
      <p:sp>
        <p:nvSpPr>
          <p:cNvPr id="6" name="Rectangle 6"/>
          <p:cNvSpPr/>
          <p:nvPr/>
        </p:nvSpPr>
        <p:spPr>
          <a:xfrm>
            <a:off x="571500" y="1143000"/>
            <a:ext cx="3333750" cy="5143500"/>
          </a:xfrm>
          <a:prstGeom prst="roundRect">
            <a:avLst>
              <a:gd name="adj" fmla="val 3429"/>
            </a:avLst>
          </a:prstGeom>
          <a:solidFill>
            <a:srgbClr val="1A2332"/>
          </a:solidFill>
          <a:ln w="9525">
            <a:solidFill>
              <a:srgbClr val="2D3748"/>
            </a:solidFill>
          </a:ln>
        </p:spPr>
        <p:txBody>
          <a:bodyPr/>
          <a:lstStyle/>
          <a:p>
            <a:endParaRPr lang="zh-CN" altLang="en-US"/>
          </a:p>
        </p:txBody>
      </p:sp>
      <p:sp>
        <p:nvSpPr>
          <p:cNvPr id="7" name="Rectangle 7"/>
          <p:cNvSpPr/>
          <p:nvPr/>
        </p:nvSpPr>
        <p:spPr>
          <a:xfrm>
            <a:off x="762000" y="1428750"/>
            <a:ext cx="28575" cy="228600"/>
          </a:xfrm>
          <a:prstGeom prst="rect">
            <a:avLst/>
          </a:prstGeom>
          <a:solidFill>
            <a:srgbClr val="00D4FF"/>
          </a:solidFill>
          <a:ln>
            <a:noFill/>
          </a:ln>
        </p:spPr>
        <p:txBody>
          <a:bodyPr/>
          <a:lstStyle/>
          <a:p>
            <a:endParaRPr lang="zh-CN" altLang="en-US"/>
          </a:p>
        </p:txBody>
      </p:sp>
      <p:sp>
        <p:nvSpPr>
          <p:cNvPr id="8" name="TextBox 8"/>
          <p:cNvSpPr txBox="1"/>
          <p:nvPr/>
        </p:nvSpPr>
        <p:spPr>
          <a:xfrm>
            <a:off x="883920" y="1441132"/>
            <a:ext cx="966026" cy="335280"/>
          </a:xfrm>
          <a:prstGeom prst="rect">
            <a:avLst/>
          </a:prstGeom>
          <a:noFill/>
          <a:ln>
            <a:noFill/>
          </a:ln>
        </p:spPr>
        <p:txBody>
          <a:bodyPr wrap="none" lIns="0" tIns="0" rIns="0" bIns="0" anchor="t" anchorCtr="0">
            <a:spAutoFit/>
          </a:bodyPr>
          <a:lstStyle/>
          <a:p>
            <a:pPr algn="l"/>
            <a:r>
              <a:rPr lang="zh-CN" sz="1650" b="1" dirty="0">
                <a:solidFill>
                  <a:srgbClr val="00D4FF"/>
                </a:solidFill>
                <a:latin typeface="Arial" panose="020B0604020202020204"/>
                <a:ea typeface="微软雅黑" panose="020B0503020204020204" charset="-122"/>
                <a:cs typeface="Arial" panose="020B0604020202020204"/>
              </a:rPr>
              <a:t>项目定位</a:t>
            </a:r>
          </a:p>
        </p:txBody>
      </p:sp>
      <p:sp>
        <p:nvSpPr>
          <p:cNvPr id="9" name="TextBox 9"/>
          <p:cNvSpPr txBox="1"/>
          <p:nvPr/>
        </p:nvSpPr>
        <p:spPr>
          <a:xfrm>
            <a:off x="790575" y="1949768"/>
            <a:ext cx="1207770" cy="1129982"/>
          </a:xfrm>
          <a:prstGeom prst="rect">
            <a:avLst/>
          </a:prstGeom>
          <a:noFill/>
          <a:ln>
            <a:noFill/>
          </a:ln>
        </p:spPr>
        <p:txBody>
          <a:bodyPr wrap="square" lIns="0" tIns="0" rIns="0" bIns="0" anchor="t" anchorCtr="0"/>
          <a:lstStyle/>
          <a:p>
            <a:pPr algn="l">
              <a:lnSpc>
                <a:spcPts val="2100"/>
              </a:lnSpc>
            </a:pPr>
            <a:r>
              <a:rPr lang="zh-CN" sz="1600" dirty="0">
                <a:solidFill>
                  <a:srgbClr val="E8EAED"/>
                </a:solidFill>
                <a:latin typeface="Arial" panose="020B0604020202020204"/>
                <a:ea typeface="微软雅黑" panose="020B0503020204020204" charset="-122"/>
                <a:cs typeface="Arial" panose="020B0604020202020204"/>
              </a:rPr>
              <a:t>计算机专业大一学生的课程设计项目</a:t>
            </a:r>
          </a:p>
        </p:txBody>
      </p:sp>
      <p:sp>
        <p:nvSpPr>
          <p:cNvPr id="10" name="Ellipse 10"/>
          <p:cNvSpPr/>
          <p:nvPr/>
        </p:nvSpPr>
        <p:spPr>
          <a:xfrm>
            <a:off x="2286000" y="1905000"/>
            <a:ext cx="762000" cy="762000"/>
          </a:xfrm>
          <a:prstGeom prst="ellipse">
            <a:avLst/>
          </a:prstGeom>
          <a:noFill/>
          <a:ln w="19050">
            <a:solidFill>
              <a:srgbClr val="00D4FF">
                <a:alpha val="30000"/>
              </a:srgbClr>
            </a:solidFill>
          </a:ln>
        </p:spPr>
        <p:txBody>
          <a:bodyPr/>
          <a:lstStyle/>
          <a:p>
            <a:endParaRPr lang="zh-CN" altLang="en-US"/>
          </a:p>
        </p:txBody>
      </p:sp>
      <p:sp>
        <p:nvSpPr>
          <p:cNvPr id="11" name="Ellipse 11"/>
          <p:cNvSpPr/>
          <p:nvPr/>
        </p:nvSpPr>
        <p:spPr>
          <a:xfrm>
            <a:off x="2552700" y="2076450"/>
            <a:ext cx="228600" cy="228600"/>
          </a:xfrm>
          <a:prstGeom prst="ellipse">
            <a:avLst/>
          </a:prstGeom>
          <a:noFill/>
          <a:ln w="19050">
            <a:solidFill>
              <a:srgbClr val="00D4FF"/>
            </a:solidFill>
          </a:ln>
        </p:spPr>
        <p:txBody>
          <a:bodyPr/>
          <a:lstStyle/>
          <a:p>
            <a:endParaRPr lang="zh-CN" altLang="en-US"/>
          </a:p>
        </p:txBody>
      </p:sp>
      <p:sp>
        <p:nvSpPr>
          <p:cNvPr id="12" name="Freeform 12"/>
          <p:cNvSpPr/>
          <p:nvPr/>
        </p:nvSpPr>
        <p:spPr>
          <a:xfrm>
            <a:off x="2476500" y="2413000"/>
            <a:ext cx="381000" cy="63500"/>
          </a:xfrm>
          <a:custGeom>
            <a:avLst/>
            <a:gdLst/>
            <a:ahLst/>
            <a:cxnLst/>
            <a:rect l="l" t="t" r="r" b="b"/>
            <a:pathLst>
              <a:path w="381000" h="63500">
                <a:moveTo>
                  <a:pt x="0" y="63500"/>
                </a:moveTo>
                <a:cubicBezTo>
                  <a:pt x="127000" y="0"/>
                  <a:pt x="254000" y="0"/>
                  <a:pt x="381000" y="63500"/>
                </a:cubicBezTo>
              </a:path>
            </a:pathLst>
          </a:custGeom>
          <a:noFill/>
          <a:ln w="19050">
            <a:solidFill>
              <a:srgbClr val="00D4FF"/>
            </a:solidFill>
          </a:ln>
        </p:spPr>
        <p:txBody>
          <a:bodyPr/>
          <a:lstStyle/>
          <a:p>
            <a:endParaRPr lang="zh-CN" altLang="en-US"/>
          </a:p>
        </p:txBody>
      </p:sp>
      <p:sp>
        <p:nvSpPr>
          <p:cNvPr id="13" name="Rectangle 13"/>
          <p:cNvSpPr/>
          <p:nvPr/>
        </p:nvSpPr>
        <p:spPr>
          <a:xfrm>
            <a:off x="762000" y="3238500"/>
            <a:ext cx="28575" cy="228600"/>
          </a:xfrm>
          <a:prstGeom prst="rect">
            <a:avLst/>
          </a:prstGeom>
          <a:solidFill>
            <a:srgbClr val="4ECDC4"/>
          </a:solidFill>
          <a:ln>
            <a:noFill/>
          </a:ln>
        </p:spPr>
        <p:txBody>
          <a:bodyPr/>
          <a:lstStyle/>
          <a:p>
            <a:endParaRPr lang="zh-CN" altLang="en-US"/>
          </a:p>
        </p:txBody>
      </p:sp>
      <p:sp>
        <p:nvSpPr>
          <p:cNvPr id="14" name="TextBox 14"/>
          <p:cNvSpPr txBox="1"/>
          <p:nvPr/>
        </p:nvSpPr>
        <p:spPr>
          <a:xfrm>
            <a:off x="883920" y="3250882"/>
            <a:ext cx="966026" cy="335280"/>
          </a:xfrm>
          <a:prstGeom prst="rect">
            <a:avLst/>
          </a:prstGeom>
          <a:noFill/>
          <a:ln>
            <a:noFill/>
          </a:ln>
        </p:spPr>
        <p:txBody>
          <a:bodyPr wrap="none" lIns="0" tIns="0" rIns="0" bIns="0" anchor="t" anchorCtr="0">
            <a:spAutoFit/>
          </a:bodyPr>
          <a:lstStyle/>
          <a:p>
            <a:pPr algn="l"/>
            <a:r>
              <a:rPr lang="zh-CN" sz="1650" b="1" dirty="0">
                <a:solidFill>
                  <a:srgbClr val="4ECDC4"/>
                </a:solidFill>
                <a:latin typeface="Arial" panose="020B0604020202020204"/>
                <a:ea typeface="微软雅黑" panose="020B0503020204020204" charset="-122"/>
                <a:cs typeface="Arial" panose="020B0604020202020204"/>
              </a:rPr>
              <a:t>核心目标</a:t>
            </a:r>
          </a:p>
        </p:txBody>
      </p:sp>
      <p:sp>
        <p:nvSpPr>
          <p:cNvPr id="15" name="TextBox 15"/>
          <p:cNvSpPr txBox="1"/>
          <p:nvPr/>
        </p:nvSpPr>
        <p:spPr>
          <a:xfrm>
            <a:off x="756285" y="3680460"/>
            <a:ext cx="1720215" cy="1272540"/>
          </a:xfrm>
          <a:prstGeom prst="rect">
            <a:avLst/>
          </a:prstGeom>
          <a:noFill/>
          <a:ln>
            <a:noFill/>
          </a:ln>
        </p:spPr>
        <p:txBody>
          <a:bodyPr wrap="square" lIns="0" tIns="0" rIns="0" bIns="0" anchor="t" anchorCtr="0"/>
          <a:lstStyle/>
          <a:p>
            <a:pPr algn="l">
              <a:lnSpc>
                <a:spcPts val="1800"/>
              </a:lnSpc>
            </a:pPr>
            <a:r>
              <a:rPr lang="zh-CN" dirty="0">
                <a:solidFill>
                  <a:srgbClr val="9AA0A6"/>
                </a:solidFill>
                <a:latin typeface="Arial" panose="020B0604020202020204"/>
                <a:ea typeface="微软雅黑" panose="020B0503020204020204" charset="-122"/>
                <a:cs typeface="Arial" panose="020B0604020202020204"/>
              </a:rPr>
              <a:t>综合运用 Python Web 开发、数据爬取清洗与可视化技术</a:t>
            </a:r>
          </a:p>
        </p:txBody>
      </p:sp>
      <p:sp>
        <p:nvSpPr>
          <p:cNvPr id="16" name="Rectangle 16"/>
          <p:cNvSpPr/>
          <p:nvPr/>
        </p:nvSpPr>
        <p:spPr>
          <a:xfrm>
            <a:off x="4191000" y="1143000"/>
            <a:ext cx="7429500" cy="5143500"/>
          </a:xfrm>
          <a:prstGeom prst="roundRect">
            <a:avLst>
              <a:gd name="adj" fmla="val 2222"/>
            </a:avLst>
          </a:prstGeom>
          <a:solidFill>
            <a:srgbClr val="1A2332"/>
          </a:solidFill>
          <a:ln w="9525">
            <a:solidFill>
              <a:srgbClr val="2D3748"/>
            </a:solidFill>
          </a:ln>
        </p:spPr>
        <p:txBody>
          <a:bodyPr/>
          <a:lstStyle/>
          <a:p>
            <a:endParaRPr lang="zh-CN" altLang="en-US"/>
          </a:p>
        </p:txBody>
      </p:sp>
      <p:sp>
        <p:nvSpPr>
          <p:cNvPr id="17" name="Rectangle 17"/>
          <p:cNvSpPr/>
          <p:nvPr/>
        </p:nvSpPr>
        <p:spPr>
          <a:xfrm>
            <a:off x="4381500" y="1428750"/>
            <a:ext cx="28575" cy="228600"/>
          </a:xfrm>
          <a:prstGeom prst="rect">
            <a:avLst/>
          </a:prstGeom>
          <a:solidFill>
            <a:srgbClr val="FF6B35"/>
          </a:solidFill>
          <a:ln>
            <a:noFill/>
          </a:ln>
        </p:spPr>
        <p:txBody>
          <a:bodyPr/>
          <a:lstStyle/>
          <a:p>
            <a:endParaRPr lang="zh-CN" altLang="en-US"/>
          </a:p>
        </p:txBody>
      </p:sp>
      <p:sp>
        <p:nvSpPr>
          <p:cNvPr id="18" name="TextBox 18"/>
          <p:cNvSpPr txBox="1"/>
          <p:nvPr/>
        </p:nvSpPr>
        <p:spPr>
          <a:xfrm>
            <a:off x="4503420" y="1441132"/>
            <a:ext cx="1428083" cy="335280"/>
          </a:xfrm>
          <a:prstGeom prst="rect">
            <a:avLst/>
          </a:prstGeom>
          <a:noFill/>
          <a:ln>
            <a:noFill/>
          </a:ln>
        </p:spPr>
        <p:txBody>
          <a:bodyPr wrap="none" lIns="0" tIns="0" rIns="0" bIns="0" anchor="t" anchorCtr="0">
            <a:spAutoFit/>
          </a:bodyPr>
          <a:lstStyle/>
          <a:p>
            <a:pPr algn="l"/>
            <a:r>
              <a:rPr lang="zh-CN" sz="1650" b="1" dirty="0">
                <a:solidFill>
                  <a:srgbClr val="FF6B35"/>
                </a:solidFill>
                <a:latin typeface="Arial" panose="020B0604020202020204"/>
                <a:ea typeface="微软雅黑" panose="020B0503020204020204" charset="-122"/>
                <a:cs typeface="Arial" panose="020B0604020202020204"/>
              </a:rPr>
              <a:t>主要功能流程</a:t>
            </a:r>
          </a:p>
        </p:txBody>
      </p:sp>
      <p:sp>
        <p:nvSpPr>
          <p:cNvPr id="19" name="Rectangle 19"/>
          <p:cNvSpPr/>
          <p:nvPr/>
        </p:nvSpPr>
        <p:spPr>
          <a:xfrm>
            <a:off x="4572000" y="2095500"/>
            <a:ext cx="1333500" cy="762000"/>
          </a:xfrm>
          <a:prstGeom prst="roundRect">
            <a:avLst>
              <a:gd name="adj" fmla="val 10000"/>
            </a:avLst>
          </a:prstGeom>
          <a:solidFill>
            <a:srgbClr val="0F1419"/>
          </a:solidFill>
          <a:ln w="19050">
            <a:solidFill>
              <a:srgbClr val="00D4FF"/>
            </a:solidFill>
          </a:ln>
        </p:spPr>
        <p:txBody>
          <a:bodyPr/>
          <a:lstStyle/>
          <a:p>
            <a:endParaRPr lang="zh-CN" altLang="en-US"/>
          </a:p>
        </p:txBody>
      </p:sp>
      <p:sp>
        <p:nvSpPr>
          <p:cNvPr id="20" name="TextBox 20"/>
          <p:cNvSpPr txBox="1"/>
          <p:nvPr/>
        </p:nvSpPr>
        <p:spPr>
          <a:xfrm>
            <a:off x="4891669" y="2299335"/>
            <a:ext cx="694163" cy="243840"/>
          </a:xfrm>
          <a:prstGeom prst="rect">
            <a:avLst/>
          </a:prstGeom>
          <a:noFill/>
          <a:ln>
            <a:noFill/>
          </a:ln>
        </p:spPr>
        <p:txBody>
          <a:bodyPr wrap="none" lIns="0" tIns="0" rIns="0" bIns="0" anchor="t" anchorCtr="0">
            <a:spAutoFit/>
          </a:bodyPr>
          <a:lstStyle/>
          <a:p>
            <a:pPr algn="ctr"/>
            <a:r>
              <a:rPr lang="zh-CN" sz="1200" b="1" dirty="0">
                <a:solidFill>
                  <a:srgbClr val="00D4FF"/>
                </a:solidFill>
                <a:latin typeface="Arial" panose="020B0604020202020204"/>
                <a:ea typeface="微软雅黑" panose="020B0503020204020204" charset="-122"/>
                <a:cs typeface="Arial" panose="020B0604020202020204"/>
              </a:rPr>
              <a:t>URL 提交</a:t>
            </a:r>
          </a:p>
        </p:txBody>
      </p:sp>
      <p:sp>
        <p:nvSpPr>
          <p:cNvPr id="21" name="TextBox 21"/>
          <p:cNvSpPr txBox="1"/>
          <p:nvPr/>
        </p:nvSpPr>
        <p:spPr>
          <a:xfrm>
            <a:off x="4987290" y="2569845"/>
            <a:ext cx="502920"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配置参数</a:t>
            </a:r>
          </a:p>
        </p:txBody>
      </p:sp>
      <p:sp>
        <p:nvSpPr>
          <p:cNvPr id="22" name="Line 22"/>
          <p:cNvSpPr/>
          <p:nvPr/>
        </p:nvSpPr>
        <p:spPr>
          <a:xfrm>
            <a:off x="5905500" y="2476500"/>
            <a:ext cx="381000" cy="9525"/>
          </a:xfrm>
          <a:custGeom>
            <a:avLst/>
            <a:gdLst/>
            <a:ahLst/>
            <a:cxnLst/>
            <a:rect l="l" t="t" r="r" b="b"/>
            <a:pathLst>
              <a:path w="381000" h="9525">
                <a:moveTo>
                  <a:pt x="0" y="0"/>
                </a:moveTo>
                <a:lnTo>
                  <a:pt x="381000" y="0"/>
                </a:lnTo>
              </a:path>
            </a:pathLst>
          </a:custGeom>
          <a:noFill/>
          <a:ln w="19050">
            <a:solidFill>
              <a:srgbClr val="00D4FF"/>
            </a:solidFill>
          </a:ln>
        </p:spPr>
        <p:txBody>
          <a:bodyPr/>
          <a:lstStyle/>
          <a:p>
            <a:endParaRPr lang="zh-CN" altLang="en-US"/>
          </a:p>
        </p:txBody>
      </p:sp>
      <p:sp>
        <p:nvSpPr>
          <p:cNvPr id="23" name="Polygon 23"/>
          <p:cNvSpPr/>
          <p:nvPr/>
        </p:nvSpPr>
        <p:spPr>
          <a:xfrm>
            <a:off x="6286500" y="2428875"/>
            <a:ext cx="95250" cy="95250"/>
          </a:xfrm>
          <a:custGeom>
            <a:avLst/>
            <a:gdLst/>
            <a:ahLst/>
            <a:cxnLst/>
            <a:rect l="l" t="t" r="r" b="b"/>
            <a:pathLst>
              <a:path w="95250" h="95250">
                <a:moveTo>
                  <a:pt x="0" y="0"/>
                </a:moveTo>
                <a:lnTo>
                  <a:pt x="95250" y="47625"/>
                </a:lnTo>
                <a:lnTo>
                  <a:pt x="0" y="95250"/>
                </a:lnTo>
                <a:close/>
              </a:path>
            </a:pathLst>
          </a:custGeom>
          <a:solidFill>
            <a:srgbClr val="00D4FF"/>
          </a:solidFill>
          <a:ln>
            <a:noFill/>
          </a:ln>
        </p:spPr>
        <p:txBody>
          <a:bodyPr/>
          <a:lstStyle/>
          <a:p>
            <a:endParaRPr lang="zh-CN" altLang="en-US"/>
          </a:p>
        </p:txBody>
      </p:sp>
      <p:sp>
        <p:nvSpPr>
          <p:cNvPr id="24" name="Rectangle 24"/>
          <p:cNvSpPr/>
          <p:nvPr/>
        </p:nvSpPr>
        <p:spPr>
          <a:xfrm>
            <a:off x="6477000" y="2095500"/>
            <a:ext cx="1333500" cy="762000"/>
          </a:xfrm>
          <a:prstGeom prst="roundRect">
            <a:avLst>
              <a:gd name="adj" fmla="val 10000"/>
            </a:avLst>
          </a:prstGeom>
          <a:solidFill>
            <a:srgbClr val="0F1419"/>
          </a:solidFill>
          <a:ln w="19050">
            <a:solidFill>
              <a:srgbClr val="00D4FF"/>
            </a:solidFill>
          </a:ln>
        </p:spPr>
        <p:txBody>
          <a:bodyPr/>
          <a:lstStyle/>
          <a:p>
            <a:endParaRPr lang="zh-CN" altLang="en-US"/>
          </a:p>
        </p:txBody>
      </p:sp>
      <p:sp>
        <p:nvSpPr>
          <p:cNvPr id="25" name="TextBox 25"/>
          <p:cNvSpPr txBox="1"/>
          <p:nvPr/>
        </p:nvSpPr>
        <p:spPr>
          <a:xfrm>
            <a:off x="6792468" y="2299335"/>
            <a:ext cx="702564" cy="243840"/>
          </a:xfrm>
          <a:prstGeom prst="rect">
            <a:avLst/>
          </a:prstGeom>
          <a:noFill/>
          <a:ln>
            <a:noFill/>
          </a:ln>
        </p:spPr>
        <p:txBody>
          <a:bodyPr wrap="none" lIns="0" tIns="0" rIns="0" bIns="0" anchor="t" anchorCtr="0">
            <a:spAutoFit/>
          </a:bodyPr>
          <a:lstStyle/>
          <a:p>
            <a:pPr algn="ctr"/>
            <a:r>
              <a:rPr lang="zh-CN" sz="1200" b="1" dirty="0">
                <a:solidFill>
                  <a:srgbClr val="00D4FF"/>
                </a:solidFill>
                <a:latin typeface="Arial" panose="020B0604020202020204"/>
                <a:ea typeface="微软雅黑" panose="020B0503020204020204" charset="-122"/>
                <a:cs typeface="Arial" panose="020B0604020202020204"/>
              </a:rPr>
              <a:t>网页爬取</a:t>
            </a:r>
          </a:p>
        </p:txBody>
      </p:sp>
      <p:sp>
        <p:nvSpPr>
          <p:cNvPr id="26" name="TextBox 26"/>
          <p:cNvSpPr txBox="1"/>
          <p:nvPr/>
        </p:nvSpPr>
        <p:spPr>
          <a:xfrm>
            <a:off x="6832282" y="2569845"/>
            <a:ext cx="622935"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多线程并发</a:t>
            </a:r>
          </a:p>
        </p:txBody>
      </p:sp>
      <p:sp>
        <p:nvSpPr>
          <p:cNvPr id="27" name="Line 27"/>
          <p:cNvSpPr/>
          <p:nvPr/>
        </p:nvSpPr>
        <p:spPr>
          <a:xfrm>
            <a:off x="7810500" y="2476500"/>
            <a:ext cx="381000" cy="9525"/>
          </a:xfrm>
          <a:custGeom>
            <a:avLst/>
            <a:gdLst/>
            <a:ahLst/>
            <a:cxnLst/>
            <a:rect l="l" t="t" r="r" b="b"/>
            <a:pathLst>
              <a:path w="381000" h="9525">
                <a:moveTo>
                  <a:pt x="0" y="0"/>
                </a:moveTo>
                <a:lnTo>
                  <a:pt x="381000" y="0"/>
                </a:lnTo>
              </a:path>
            </a:pathLst>
          </a:custGeom>
          <a:noFill/>
          <a:ln w="19050">
            <a:solidFill>
              <a:srgbClr val="00D4FF"/>
            </a:solidFill>
          </a:ln>
        </p:spPr>
        <p:txBody>
          <a:bodyPr/>
          <a:lstStyle/>
          <a:p>
            <a:endParaRPr lang="zh-CN" altLang="en-US"/>
          </a:p>
        </p:txBody>
      </p:sp>
      <p:sp>
        <p:nvSpPr>
          <p:cNvPr id="28" name="Polygon 28"/>
          <p:cNvSpPr/>
          <p:nvPr/>
        </p:nvSpPr>
        <p:spPr>
          <a:xfrm>
            <a:off x="8191500" y="2428875"/>
            <a:ext cx="95250" cy="95250"/>
          </a:xfrm>
          <a:custGeom>
            <a:avLst/>
            <a:gdLst/>
            <a:ahLst/>
            <a:cxnLst/>
            <a:rect l="l" t="t" r="r" b="b"/>
            <a:pathLst>
              <a:path w="95250" h="95250">
                <a:moveTo>
                  <a:pt x="0" y="0"/>
                </a:moveTo>
                <a:lnTo>
                  <a:pt x="95250" y="47625"/>
                </a:lnTo>
                <a:lnTo>
                  <a:pt x="0" y="95250"/>
                </a:lnTo>
                <a:close/>
              </a:path>
            </a:pathLst>
          </a:custGeom>
          <a:solidFill>
            <a:srgbClr val="00D4FF"/>
          </a:solidFill>
          <a:ln>
            <a:noFill/>
          </a:ln>
        </p:spPr>
        <p:txBody>
          <a:bodyPr/>
          <a:lstStyle/>
          <a:p>
            <a:endParaRPr lang="zh-CN" altLang="en-US"/>
          </a:p>
        </p:txBody>
      </p:sp>
      <p:sp>
        <p:nvSpPr>
          <p:cNvPr id="29" name="Rectangle 29"/>
          <p:cNvSpPr/>
          <p:nvPr/>
        </p:nvSpPr>
        <p:spPr>
          <a:xfrm>
            <a:off x="8382000" y="2095500"/>
            <a:ext cx="1333500" cy="762000"/>
          </a:xfrm>
          <a:prstGeom prst="roundRect">
            <a:avLst>
              <a:gd name="adj" fmla="val 10000"/>
            </a:avLst>
          </a:prstGeom>
          <a:solidFill>
            <a:srgbClr val="0F1419"/>
          </a:solidFill>
          <a:ln w="19050">
            <a:solidFill>
              <a:srgbClr val="00D4FF"/>
            </a:solidFill>
          </a:ln>
        </p:spPr>
        <p:txBody>
          <a:bodyPr/>
          <a:lstStyle/>
          <a:p>
            <a:endParaRPr lang="zh-CN" altLang="en-US"/>
          </a:p>
        </p:txBody>
      </p:sp>
      <p:sp>
        <p:nvSpPr>
          <p:cNvPr id="30" name="TextBox 30"/>
          <p:cNvSpPr txBox="1"/>
          <p:nvPr/>
        </p:nvSpPr>
        <p:spPr>
          <a:xfrm>
            <a:off x="8697468" y="2299335"/>
            <a:ext cx="702564" cy="243840"/>
          </a:xfrm>
          <a:prstGeom prst="rect">
            <a:avLst/>
          </a:prstGeom>
          <a:noFill/>
          <a:ln>
            <a:noFill/>
          </a:ln>
        </p:spPr>
        <p:txBody>
          <a:bodyPr wrap="none" lIns="0" tIns="0" rIns="0" bIns="0" anchor="t" anchorCtr="0">
            <a:spAutoFit/>
          </a:bodyPr>
          <a:lstStyle/>
          <a:p>
            <a:pPr algn="ctr"/>
            <a:r>
              <a:rPr lang="zh-CN" sz="1200" b="1" dirty="0">
                <a:solidFill>
                  <a:srgbClr val="00D4FF"/>
                </a:solidFill>
                <a:latin typeface="Arial" panose="020B0604020202020204"/>
                <a:ea typeface="微软雅黑" panose="020B0503020204020204" charset="-122"/>
                <a:cs typeface="Arial" panose="020B0604020202020204"/>
              </a:rPr>
              <a:t>数据清洗</a:t>
            </a:r>
          </a:p>
        </p:txBody>
      </p:sp>
      <p:sp>
        <p:nvSpPr>
          <p:cNvPr id="31" name="TextBox 31"/>
          <p:cNvSpPr txBox="1"/>
          <p:nvPr/>
        </p:nvSpPr>
        <p:spPr>
          <a:xfrm>
            <a:off x="8737282" y="2569845"/>
            <a:ext cx="622935"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去重规范化</a:t>
            </a:r>
          </a:p>
        </p:txBody>
      </p:sp>
      <p:sp>
        <p:nvSpPr>
          <p:cNvPr id="32" name="Rectangle 32"/>
          <p:cNvSpPr/>
          <p:nvPr/>
        </p:nvSpPr>
        <p:spPr>
          <a:xfrm>
            <a:off x="4572000" y="3619500"/>
            <a:ext cx="1333500" cy="762000"/>
          </a:xfrm>
          <a:prstGeom prst="roundRect">
            <a:avLst>
              <a:gd name="adj" fmla="val 10000"/>
            </a:avLst>
          </a:prstGeom>
          <a:solidFill>
            <a:srgbClr val="0F1419"/>
          </a:solidFill>
          <a:ln w="19050">
            <a:solidFill>
              <a:srgbClr val="4ECDC4"/>
            </a:solidFill>
          </a:ln>
        </p:spPr>
        <p:txBody>
          <a:bodyPr/>
          <a:lstStyle/>
          <a:p>
            <a:endParaRPr lang="zh-CN" altLang="en-US"/>
          </a:p>
        </p:txBody>
      </p:sp>
      <p:sp>
        <p:nvSpPr>
          <p:cNvPr id="33" name="TextBox 33"/>
          <p:cNvSpPr txBox="1"/>
          <p:nvPr/>
        </p:nvSpPr>
        <p:spPr>
          <a:xfrm>
            <a:off x="4887468" y="3823335"/>
            <a:ext cx="702564" cy="243840"/>
          </a:xfrm>
          <a:prstGeom prst="rect">
            <a:avLst/>
          </a:prstGeom>
          <a:noFill/>
          <a:ln>
            <a:noFill/>
          </a:ln>
        </p:spPr>
        <p:txBody>
          <a:bodyPr wrap="none" lIns="0" tIns="0" rIns="0" bIns="0" anchor="t" anchorCtr="0">
            <a:spAutoFit/>
          </a:bodyPr>
          <a:lstStyle/>
          <a:p>
            <a:pPr algn="ctr"/>
            <a:r>
              <a:rPr lang="zh-CN" sz="1200" b="1" dirty="0">
                <a:solidFill>
                  <a:srgbClr val="4ECDC4"/>
                </a:solidFill>
                <a:latin typeface="Arial" panose="020B0604020202020204"/>
                <a:ea typeface="微软雅黑" panose="020B0503020204020204" charset="-122"/>
                <a:cs typeface="Arial" panose="020B0604020202020204"/>
              </a:rPr>
              <a:t>词云生成</a:t>
            </a:r>
          </a:p>
        </p:txBody>
      </p:sp>
      <p:sp>
        <p:nvSpPr>
          <p:cNvPr id="34" name="TextBox 34"/>
          <p:cNvSpPr txBox="1"/>
          <p:nvPr/>
        </p:nvSpPr>
        <p:spPr>
          <a:xfrm>
            <a:off x="4954286" y="4093845"/>
            <a:ext cx="568928"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jieba 分词</a:t>
            </a:r>
          </a:p>
        </p:txBody>
      </p:sp>
      <p:sp>
        <p:nvSpPr>
          <p:cNvPr id="35" name="Line 35"/>
          <p:cNvSpPr/>
          <p:nvPr/>
        </p:nvSpPr>
        <p:spPr>
          <a:xfrm>
            <a:off x="9048750" y="2857500"/>
            <a:ext cx="9525" cy="381000"/>
          </a:xfrm>
          <a:custGeom>
            <a:avLst/>
            <a:gdLst/>
            <a:ahLst/>
            <a:cxnLst/>
            <a:rect l="l" t="t" r="r" b="b"/>
            <a:pathLst>
              <a:path w="9525" h="381000">
                <a:moveTo>
                  <a:pt x="0" y="0"/>
                </a:moveTo>
                <a:lnTo>
                  <a:pt x="0" y="381000"/>
                </a:lnTo>
              </a:path>
            </a:pathLst>
          </a:custGeom>
          <a:noFill/>
          <a:ln w="19050">
            <a:solidFill>
              <a:srgbClr val="00D4FF"/>
            </a:solidFill>
          </a:ln>
        </p:spPr>
        <p:txBody>
          <a:bodyPr/>
          <a:lstStyle/>
          <a:p>
            <a:endParaRPr lang="zh-CN" altLang="en-US"/>
          </a:p>
        </p:txBody>
      </p:sp>
      <p:sp>
        <p:nvSpPr>
          <p:cNvPr id="36" name="Polygon 36"/>
          <p:cNvSpPr/>
          <p:nvPr/>
        </p:nvSpPr>
        <p:spPr>
          <a:xfrm>
            <a:off x="9001125" y="3238500"/>
            <a:ext cx="95250" cy="95250"/>
          </a:xfrm>
          <a:custGeom>
            <a:avLst/>
            <a:gdLst/>
            <a:ahLst/>
            <a:cxnLst/>
            <a:rect l="l" t="t" r="r" b="b"/>
            <a:pathLst>
              <a:path w="95250" h="95250">
                <a:moveTo>
                  <a:pt x="0" y="0"/>
                </a:moveTo>
                <a:lnTo>
                  <a:pt x="47625" y="95250"/>
                </a:lnTo>
                <a:lnTo>
                  <a:pt x="95250" y="0"/>
                </a:lnTo>
                <a:close/>
              </a:path>
            </a:pathLst>
          </a:custGeom>
          <a:solidFill>
            <a:srgbClr val="00D4FF"/>
          </a:solidFill>
          <a:ln>
            <a:noFill/>
          </a:ln>
        </p:spPr>
        <p:txBody>
          <a:bodyPr/>
          <a:lstStyle/>
          <a:p>
            <a:endParaRPr lang="zh-CN" altLang="en-US"/>
          </a:p>
        </p:txBody>
      </p:sp>
      <p:sp>
        <p:nvSpPr>
          <p:cNvPr id="37" name="Line 37"/>
          <p:cNvSpPr/>
          <p:nvPr/>
        </p:nvSpPr>
        <p:spPr>
          <a:xfrm>
            <a:off x="5238750" y="3333750"/>
            <a:ext cx="3810000" cy="9525"/>
          </a:xfrm>
          <a:custGeom>
            <a:avLst/>
            <a:gdLst/>
            <a:ahLst/>
            <a:cxnLst/>
            <a:rect l="l" t="t" r="r" b="b"/>
            <a:pathLst>
              <a:path w="3810000" h="9525">
                <a:moveTo>
                  <a:pt x="3810000" y="0"/>
                </a:moveTo>
                <a:lnTo>
                  <a:pt x="0" y="0"/>
                </a:lnTo>
              </a:path>
            </a:pathLst>
          </a:custGeom>
          <a:noFill/>
          <a:ln w="19050">
            <a:solidFill>
              <a:srgbClr val="00D4FF"/>
            </a:solidFill>
            <a:custDash>
              <a:ds d="250000" sp="250000"/>
            </a:custDash>
          </a:ln>
        </p:spPr>
        <p:txBody>
          <a:bodyPr/>
          <a:lstStyle/>
          <a:p>
            <a:endParaRPr lang="zh-CN" altLang="en-US"/>
          </a:p>
        </p:txBody>
      </p:sp>
      <p:sp>
        <p:nvSpPr>
          <p:cNvPr id="38" name="Line 38"/>
          <p:cNvSpPr/>
          <p:nvPr/>
        </p:nvSpPr>
        <p:spPr>
          <a:xfrm>
            <a:off x="5238750" y="3333750"/>
            <a:ext cx="9525" cy="285750"/>
          </a:xfrm>
          <a:custGeom>
            <a:avLst/>
            <a:gdLst/>
            <a:ahLst/>
            <a:cxnLst/>
            <a:rect l="l" t="t" r="r" b="b"/>
            <a:pathLst>
              <a:path w="9525" h="285750">
                <a:moveTo>
                  <a:pt x="0" y="0"/>
                </a:moveTo>
                <a:lnTo>
                  <a:pt x="0" y="285750"/>
                </a:lnTo>
              </a:path>
            </a:pathLst>
          </a:custGeom>
          <a:noFill/>
          <a:ln w="19050">
            <a:solidFill>
              <a:srgbClr val="00D4FF"/>
            </a:solidFill>
          </a:ln>
        </p:spPr>
        <p:txBody>
          <a:bodyPr/>
          <a:lstStyle/>
          <a:p>
            <a:endParaRPr lang="zh-CN" altLang="en-US"/>
          </a:p>
        </p:txBody>
      </p:sp>
      <p:sp>
        <p:nvSpPr>
          <p:cNvPr id="39" name="Polygon 39"/>
          <p:cNvSpPr/>
          <p:nvPr/>
        </p:nvSpPr>
        <p:spPr>
          <a:xfrm>
            <a:off x="5191125" y="3619500"/>
            <a:ext cx="95250" cy="95250"/>
          </a:xfrm>
          <a:custGeom>
            <a:avLst/>
            <a:gdLst/>
            <a:ahLst/>
            <a:cxnLst/>
            <a:rect l="l" t="t" r="r" b="b"/>
            <a:pathLst>
              <a:path w="95250" h="95250">
                <a:moveTo>
                  <a:pt x="0" y="0"/>
                </a:moveTo>
                <a:lnTo>
                  <a:pt x="47625" y="95250"/>
                </a:lnTo>
                <a:lnTo>
                  <a:pt x="95250" y="0"/>
                </a:lnTo>
                <a:close/>
              </a:path>
            </a:pathLst>
          </a:custGeom>
          <a:solidFill>
            <a:srgbClr val="00D4FF"/>
          </a:solidFill>
          <a:ln>
            <a:noFill/>
          </a:ln>
        </p:spPr>
        <p:txBody>
          <a:bodyPr/>
          <a:lstStyle/>
          <a:p>
            <a:endParaRPr lang="zh-CN" altLang="en-US"/>
          </a:p>
        </p:txBody>
      </p:sp>
      <p:sp>
        <p:nvSpPr>
          <p:cNvPr id="40" name="Line 40"/>
          <p:cNvSpPr/>
          <p:nvPr/>
        </p:nvSpPr>
        <p:spPr>
          <a:xfrm>
            <a:off x="5905500" y="4000500"/>
            <a:ext cx="381000" cy="9525"/>
          </a:xfrm>
          <a:custGeom>
            <a:avLst/>
            <a:gdLst/>
            <a:ahLst/>
            <a:cxnLst/>
            <a:rect l="l" t="t" r="r" b="b"/>
            <a:pathLst>
              <a:path w="381000" h="9525">
                <a:moveTo>
                  <a:pt x="0" y="0"/>
                </a:moveTo>
                <a:lnTo>
                  <a:pt x="381000" y="0"/>
                </a:lnTo>
              </a:path>
            </a:pathLst>
          </a:custGeom>
          <a:noFill/>
          <a:ln w="19050">
            <a:solidFill>
              <a:srgbClr val="4ECDC4"/>
            </a:solidFill>
          </a:ln>
        </p:spPr>
        <p:txBody>
          <a:bodyPr/>
          <a:lstStyle/>
          <a:p>
            <a:endParaRPr lang="zh-CN" altLang="en-US"/>
          </a:p>
        </p:txBody>
      </p:sp>
      <p:sp>
        <p:nvSpPr>
          <p:cNvPr id="41" name="Polygon 41"/>
          <p:cNvSpPr/>
          <p:nvPr/>
        </p:nvSpPr>
        <p:spPr>
          <a:xfrm>
            <a:off x="6286500" y="3952875"/>
            <a:ext cx="95250" cy="95250"/>
          </a:xfrm>
          <a:custGeom>
            <a:avLst/>
            <a:gdLst/>
            <a:ahLst/>
            <a:cxnLst/>
            <a:rect l="l" t="t" r="r" b="b"/>
            <a:pathLst>
              <a:path w="95250" h="95250">
                <a:moveTo>
                  <a:pt x="0" y="0"/>
                </a:moveTo>
                <a:lnTo>
                  <a:pt x="95250" y="47625"/>
                </a:lnTo>
                <a:lnTo>
                  <a:pt x="0" y="95250"/>
                </a:lnTo>
                <a:close/>
              </a:path>
            </a:pathLst>
          </a:custGeom>
          <a:solidFill>
            <a:srgbClr val="4ECDC4"/>
          </a:solidFill>
          <a:ln>
            <a:noFill/>
          </a:ln>
        </p:spPr>
        <p:txBody>
          <a:bodyPr/>
          <a:lstStyle/>
          <a:p>
            <a:endParaRPr lang="zh-CN" altLang="en-US"/>
          </a:p>
        </p:txBody>
      </p:sp>
      <p:sp>
        <p:nvSpPr>
          <p:cNvPr id="42" name="Rectangle 42"/>
          <p:cNvSpPr/>
          <p:nvPr/>
        </p:nvSpPr>
        <p:spPr>
          <a:xfrm>
            <a:off x="6477000" y="3619500"/>
            <a:ext cx="1333500" cy="762000"/>
          </a:xfrm>
          <a:prstGeom prst="roundRect">
            <a:avLst>
              <a:gd name="adj" fmla="val 10000"/>
            </a:avLst>
          </a:prstGeom>
          <a:solidFill>
            <a:srgbClr val="0F1419"/>
          </a:solidFill>
          <a:ln w="19050">
            <a:solidFill>
              <a:srgbClr val="4ECDC4"/>
            </a:solidFill>
          </a:ln>
        </p:spPr>
        <p:txBody>
          <a:bodyPr/>
          <a:lstStyle/>
          <a:p>
            <a:endParaRPr lang="zh-CN" altLang="en-US"/>
          </a:p>
        </p:txBody>
      </p:sp>
      <p:sp>
        <p:nvSpPr>
          <p:cNvPr id="43" name="TextBox 43"/>
          <p:cNvSpPr txBox="1"/>
          <p:nvPr/>
        </p:nvSpPr>
        <p:spPr>
          <a:xfrm>
            <a:off x="6792468" y="3823335"/>
            <a:ext cx="702564" cy="243840"/>
          </a:xfrm>
          <a:prstGeom prst="rect">
            <a:avLst/>
          </a:prstGeom>
          <a:noFill/>
          <a:ln>
            <a:noFill/>
          </a:ln>
        </p:spPr>
        <p:txBody>
          <a:bodyPr wrap="none" lIns="0" tIns="0" rIns="0" bIns="0" anchor="t" anchorCtr="0">
            <a:spAutoFit/>
          </a:bodyPr>
          <a:lstStyle/>
          <a:p>
            <a:pPr algn="ctr"/>
            <a:r>
              <a:rPr lang="zh-CN" sz="1200" b="1" dirty="0">
                <a:solidFill>
                  <a:srgbClr val="4ECDC4"/>
                </a:solidFill>
                <a:latin typeface="Arial" panose="020B0604020202020204"/>
                <a:ea typeface="微软雅黑" panose="020B0503020204020204" charset="-122"/>
                <a:cs typeface="Arial" panose="020B0604020202020204"/>
              </a:rPr>
              <a:t>情感分析</a:t>
            </a:r>
          </a:p>
        </p:txBody>
      </p:sp>
      <p:sp>
        <p:nvSpPr>
          <p:cNvPr id="44" name="TextBox 44"/>
          <p:cNvSpPr txBox="1"/>
          <p:nvPr/>
        </p:nvSpPr>
        <p:spPr>
          <a:xfrm>
            <a:off x="6829282" y="4093845"/>
            <a:ext cx="628936"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Senta 模型</a:t>
            </a:r>
          </a:p>
        </p:txBody>
      </p:sp>
      <p:sp>
        <p:nvSpPr>
          <p:cNvPr id="45" name="Line 45"/>
          <p:cNvSpPr/>
          <p:nvPr/>
        </p:nvSpPr>
        <p:spPr>
          <a:xfrm>
            <a:off x="7810500" y="4000500"/>
            <a:ext cx="381000" cy="9525"/>
          </a:xfrm>
          <a:custGeom>
            <a:avLst/>
            <a:gdLst/>
            <a:ahLst/>
            <a:cxnLst/>
            <a:rect l="l" t="t" r="r" b="b"/>
            <a:pathLst>
              <a:path w="381000" h="9525">
                <a:moveTo>
                  <a:pt x="0" y="0"/>
                </a:moveTo>
                <a:lnTo>
                  <a:pt x="381000" y="0"/>
                </a:lnTo>
              </a:path>
            </a:pathLst>
          </a:custGeom>
          <a:noFill/>
          <a:ln w="19050">
            <a:solidFill>
              <a:srgbClr val="4ECDC4"/>
            </a:solidFill>
          </a:ln>
        </p:spPr>
        <p:txBody>
          <a:bodyPr/>
          <a:lstStyle/>
          <a:p>
            <a:endParaRPr lang="zh-CN" altLang="en-US"/>
          </a:p>
        </p:txBody>
      </p:sp>
      <p:sp>
        <p:nvSpPr>
          <p:cNvPr id="46" name="Polygon 46"/>
          <p:cNvSpPr/>
          <p:nvPr/>
        </p:nvSpPr>
        <p:spPr>
          <a:xfrm>
            <a:off x="8191500" y="3952875"/>
            <a:ext cx="95250" cy="95250"/>
          </a:xfrm>
          <a:custGeom>
            <a:avLst/>
            <a:gdLst/>
            <a:ahLst/>
            <a:cxnLst/>
            <a:rect l="l" t="t" r="r" b="b"/>
            <a:pathLst>
              <a:path w="95250" h="95250">
                <a:moveTo>
                  <a:pt x="0" y="0"/>
                </a:moveTo>
                <a:lnTo>
                  <a:pt x="95250" y="47625"/>
                </a:lnTo>
                <a:lnTo>
                  <a:pt x="0" y="95250"/>
                </a:lnTo>
                <a:close/>
              </a:path>
            </a:pathLst>
          </a:custGeom>
          <a:solidFill>
            <a:srgbClr val="4ECDC4"/>
          </a:solidFill>
          <a:ln>
            <a:noFill/>
          </a:ln>
        </p:spPr>
        <p:txBody>
          <a:bodyPr/>
          <a:lstStyle/>
          <a:p>
            <a:endParaRPr lang="zh-CN" altLang="en-US"/>
          </a:p>
        </p:txBody>
      </p:sp>
      <p:sp>
        <p:nvSpPr>
          <p:cNvPr id="47" name="Rectangle 47"/>
          <p:cNvSpPr/>
          <p:nvPr/>
        </p:nvSpPr>
        <p:spPr>
          <a:xfrm>
            <a:off x="8382000" y="3619500"/>
            <a:ext cx="1333500" cy="762000"/>
          </a:xfrm>
          <a:prstGeom prst="roundRect">
            <a:avLst>
              <a:gd name="adj" fmla="val 10000"/>
            </a:avLst>
          </a:prstGeom>
          <a:solidFill>
            <a:srgbClr val="0F1419"/>
          </a:solidFill>
          <a:ln w="19050">
            <a:solidFill>
              <a:srgbClr val="FF6B35"/>
            </a:solidFill>
          </a:ln>
        </p:spPr>
        <p:txBody>
          <a:bodyPr/>
          <a:lstStyle/>
          <a:p>
            <a:endParaRPr lang="zh-CN" altLang="en-US"/>
          </a:p>
        </p:txBody>
      </p:sp>
      <p:sp>
        <p:nvSpPr>
          <p:cNvPr id="48" name="TextBox 48"/>
          <p:cNvSpPr txBox="1"/>
          <p:nvPr/>
        </p:nvSpPr>
        <p:spPr>
          <a:xfrm>
            <a:off x="8697468" y="3823335"/>
            <a:ext cx="702564" cy="243840"/>
          </a:xfrm>
          <a:prstGeom prst="rect">
            <a:avLst/>
          </a:prstGeom>
          <a:noFill/>
          <a:ln>
            <a:noFill/>
          </a:ln>
        </p:spPr>
        <p:txBody>
          <a:bodyPr wrap="none" lIns="0" tIns="0" rIns="0" bIns="0" anchor="t" anchorCtr="0">
            <a:spAutoFit/>
          </a:bodyPr>
          <a:lstStyle/>
          <a:p>
            <a:pPr algn="ctr"/>
            <a:r>
              <a:rPr lang="zh-CN" sz="1200" b="1" dirty="0">
                <a:solidFill>
                  <a:srgbClr val="FF6B35"/>
                </a:solidFill>
                <a:latin typeface="Arial" panose="020B0604020202020204"/>
                <a:ea typeface="微软雅黑" panose="020B0503020204020204" charset="-122"/>
                <a:cs typeface="Arial" panose="020B0604020202020204"/>
              </a:rPr>
              <a:t>结果导出</a:t>
            </a:r>
          </a:p>
        </p:txBody>
      </p:sp>
      <p:sp>
        <p:nvSpPr>
          <p:cNvPr id="49" name="TextBox 49"/>
          <p:cNvSpPr txBox="1"/>
          <p:nvPr/>
        </p:nvSpPr>
        <p:spPr>
          <a:xfrm>
            <a:off x="8761286" y="4093845"/>
            <a:ext cx="574929"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JSON/CSV</a:t>
            </a:r>
          </a:p>
        </p:txBody>
      </p:sp>
      <p:sp>
        <p:nvSpPr>
          <p:cNvPr id="50" name="Rectangle 50"/>
          <p:cNvSpPr/>
          <p:nvPr/>
        </p:nvSpPr>
        <p:spPr>
          <a:xfrm>
            <a:off x="4381500" y="4953000"/>
            <a:ext cx="7048500" cy="952500"/>
          </a:xfrm>
          <a:prstGeom prst="roundRect">
            <a:avLst>
              <a:gd name="adj" fmla="val 8000"/>
            </a:avLst>
          </a:prstGeom>
          <a:solidFill>
            <a:srgbClr val="0F1419">
              <a:alpha val="50000"/>
            </a:srgbClr>
          </a:solidFill>
          <a:ln>
            <a:noFill/>
          </a:ln>
        </p:spPr>
        <p:txBody>
          <a:bodyPr/>
          <a:lstStyle/>
          <a:p>
            <a:endParaRPr lang="zh-CN" altLang="en-US"/>
          </a:p>
        </p:txBody>
      </p:sp>
      <p:sp>
        <p:nvSpPr>
          <p:cNvPr id="51" name="TextBox 51"/>
          <p:cNvSpPr txBox="1"/>
          <p:nvPr/>
        </p:nvSpPr>
        <p:spPr>
          <a:xfrm>
            <a:off x="4556760" y="5156835"/>
            <a:ext cx="4255008" cy="243840"/>
          </a:xfrm>
          <a:prstGeom prst="rect">
            <a:avLst/>
          </a:prstGeom>
          <a:noFill/>
          <a:ln>
            <a:noFill/>
          </a:ln>
        </p:spPr>
        <p:txBody>
          <a:bodyPr wrap="none" lIns="0" tIns="0" rIns="0" bIns="0" anchor="t" anchorCtr="0">
            <a:spAutoFit/>
          </a:bodyPr>
          <a:lstStyle/>
          <a:p>
            <a:pPr algn="l"/>
            <a:r>
              <a:rPr lang="zh-CN" sz="1200" dirty="0">
                <a:solidFill>
                  <a:srgbClr val="E8EAED"/>
                </a:solidFill>
                <a:latin typeface="Arial" panose="020B0604020202020204"/>
                <a:ea typeface="微软雅黑" panose="020B0503020204020204" charset="-122"/>
                <a:cs typeface="Arial" panose="020B0604020202020204"/>
              </a:rPr>
              <a:t>PyMS 是一个基于 Python Sanic 框架的网页爬虫控制台系统</a:t>
            </a:r>
          </a:p>
        </p:txBody>
      </p:sp>
      <p:sp>
        <p:nvSpPr>
          <p:cNvPr id="52" name="TextBox 52"/>
          <p:cNvSpPr txBox="1"/>
          <p:nvPr/>
        </p:nvSpPr>
        <p:spPr>
          <a:xfrm>
            <a:off x="4558665" y="5458778"/>
            <a:ext cx="5760387"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通过浏览器提交 URL，系统自动抓取网页、清洗数据、生成词云图、进行情感分析、展示结果</a:t>
            </a:r>
          </a:p>
        </p:txBody>
      </p:sp>
      <p:sp>
        <p:nvSpPr>
          <p:cNvPr id="53" name="TextBox 53"/>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02 / 11</a:t>
            </a:r>
          </a:p>
        </p:txBody>
      </p:sp>
      <p:sp>
        <p:nvSpPr>
          <p:cNvPr id="54" name="Rectangle 54"/>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4" name="Rectangle 4"/>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5" name="TextBox 5"/>
          <p:cNvSpPr txBox="1"/>
          <p:nvPr/>
        </p:nvSpPr>
        <p:spPr>
          <a:xfrm>
            <a:off x="727710" y="356235"/>
            <a:ext cx="1202722"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技术栈</a:t>
            </a:r>
          </a:p>
        </p:txBody>
      </p:sp>
      <p:sp>
        <p:nvSpPr>
          <p:cNvPr id="6" name="TextBox 6"/>
          <p:cNvSpPr txBox="1"/>
          <p:nvPr/>
        </p:nvSpPr>
        <p:spPr>
          <a:xfrm>
            <a:off x="2364105" y="501968"/>
            <a:ext cx="979408" cy="274320"/>
          </a:xfrm>
          <a:prstGeom prst="rect">
            <a:avLst/>
          </a:prstGeom>
          <a:noFill/>
          <a:ln>
            <a:noFill/>
          </a:ln>
        </p:spPr>
        <p:txBody>
          <a:bodyPr wrap="none" lIns="0" tIns="0" rIns="0" bIns="0" anchor="t" anchorCtr="0">
            <a:spAutoFit/>
          </a:bodyPr>
          <a:lstStyle/>
          <a:p>
            <a:pPr algn="l"/>
            <a:r>
              <a:rPr lang="zh-CN" sz="1350" dirty="0">
                <a:solidFill>
                  <a:srgbClr val="9AA0A6"/>
                </a:solidFill>
                <a:latin typeface="Arial" panose="020B0604020202020204"/>
                <a:ea typeface="微软雅黑" panose="020B0503020204020204" charset="-122"/>
                <a:cs typeface="Arial" panose="020B0604020202020204"/>
              </a:rPr>
              <a:t>Tech Stack</a:t>
            </a:r>
          </a:p>
        </p:txBody>
      </p:sp>
      <p:sp>
        <p:nvSpPr>
          <p:cNvPr id="7" name="Rectangle 7"/>
          <p:cNvSpPr/>
          <p:nvPr/>
        </p:nvSpPr>
        <p:spPr>
          <a:xfrm>
            <a:off x="571500" y="1143000"/>
            <a:ext cx="2571750" cy="2476500"/>
          </a:xfrm>
          <a:prstGeom prst="roundRect">
            <a:avLst>
              <a:gd name="adj" fmla="val 4615"/>
            </a:avLst>
          </a:prstGeom>
          <a:solidFill>
            <a:srgbClr val="1A2332"/>
          </a:solidFill>
          <a:ln w="9525">
            <a:solidFill>
              <a:srgbClr val="2D3748"/>
            </a:solidFill>
          </a:ln>
        </p:spPr>
        <p:txBody>
          <a:bodyPr/>
          <a:lstStyle/>
          <a:p>
            <a:endParaRPr lang="zh-CN" altLang="en-US"/>
          </a:p>
        </p:txBody>
      </p:sp>
      <p:sp>
        <p:nvSpPr>
          <p:cNvPr id="8" name="Rectangle 8"/>
          <p:cNvSpPr/>
          <p:nvPr/>
        </p:nvSpPr>
        <p:spPr>
          <a:xfrm>
            <a:off x="571500" y="1143000"/>
            <a:ext cx="2571750" cy="2476500"/>
          </a:xfrm>
          <a:prstGeom prst="roundRect">
            <a:avLst>
              <a:gd name="adj" fmla="val 4615"/>
            </a:avLst>
          </a:prstGeom>
          <a:gradFill>
            <a:gsLst>
              <a:gs pos="0">
                <a:srgbClr val="00D4FF">
                  <a:alpha val="10000"/>
                </a:srgbClr>
              </a:gs>
              <a:gs pos="100000">
                <a:srgbClr val="00D4FF">
                  <a:alpha val="0"/>
                </a:srgbClr>
              </a:gs>
            </a:gsLst>
            <a:lin ang="5400000" scaled="1"/>
          </a:gradFill>
          <a:ln>
            <a:noFill/>
          </a:ln>
        </p:spPr>
        <p:txBody>
          <a:bodyPr/>
          <a:lstStyle/>
          <a:p>
            <a:endParaRPr lang="zh-CN" altLang="en-US"/>
          </a:p>
        </p:txBody>
      </p:sp>
      <p:sp>
        <p:nvSpPr>
          <p:cNvPr id="9" name="Rectangle 9"/>
          <p:cNvSpPr/>
          <p:nvPr/>
        </p:nvSpPr>
        <p:spPr>
          <a:xfrm>
            <a:off x="1524000" y="1428750"/>
            <a:ext cx="571500" cy="571500"/>
          </a:xfrm>
          <a:prstGeom prst="roundRect">
            <a:avLst>
              <a:gd name="adj" fmla="val 13333"/>
            </a:avLst>
          </a:prstGeom>
          <a:solidFill>
            <a:srgbClr val="0F1419"/>
          </a:solidFill>
          <a:ln w="19050">
            <a:solidFill>
              <a:srgbClr val="00D4FF"/>
            </a:solidFill>
          </a:ln>
        </p:spPr>
        <p:txBody>
          <a:bodyPr/>
          <a:lstStyle/>
          <a:p>
            <a:endParaRPr lang="zh-CN" altLang="en-US"/>
          </a:p>
        </p:txBody>
      </p:sp>
      <p:sp>
        <p:nvSpPr>
          <p:cNvPr id="10" name="Rectangle 10"/>
          <p:cNvSpPr/>
          <p:nvPr/>
        </p:nvSpPr>
        <p:spPr>
          <a:xfrm>
            <a:off x="1619250" y="1571625"/>
            <a:ext cx="381000" cy="38100"/>
          </a:xfrm>
          <a:prstGeom prst="rect">
            <a:avLst/>
          </a:prstGeom>
          <a:solidFill>
            <a:srgbClr val="00D4FF"/>
          </a:solidFill>
          <a:ln>
            <a:noFill/>
          </a:ln>
        </p:spPr>
        <p:txBody>
          <a:bodyPr/>
          <a:lstStyle/>
          <a:p>
            <a:endParaRPr lang="zh-CN" altLang="en-US"/>
          </a:p>
        </p:txBody>
      </p:sp>
      <p:sp>
        <p:nvSpPr>
          <p:cNvPr id="11" name="Rectangle 11"/>
          <p:cNvSpPr/>
          <p:nvPr/>
        </p:nvSpPr>
        <p:spPr>
          <a:xfrm>
            <a:off x="1619250" y="1666875"/>
            <a:ext cx="381000" cy="38100"/>
          </a:xfrm>
          <a:prstGeom prst="rect">
            <a:avLst/>
          </a:prstGeom>
          <a:solidFill>
            <a:srgbClr val="00D4FF"/>
          </a:solidFill>
          <a:ln>
            <a:noFill/>
          </a:ln>
        </p:spPr>
        <p:txBody>
          <a:bodyPr/>
          <a:lstStyle/>
          <a:p>
            <a:endParaRPr lang="zh-CN" altLang="en-US"/>
          </a:p>
        </p:txBody>
      </p:sp>
      <p:sp>
        <p:nvSpPr>
          <p:cNvPr id="12" name="Rectangle 12"/>
          <p:cNvSpPr/>
          <p:nvPr/>
        </p:nvSpPr>
        <p:spPr>
          <a:xfrm>
            <a:off x="1619250" y="1762125"/>
            <a:ext cx="381000" cy="38100"/>
          </a:xfrm>
          <a:prstGeom prst="rect">
            <a:avLst/>
          </a:prstGeom>
          <a:solidFill>
            <a:srgbClr val="00D4FF"/>
          </a:solidFill>
          <a:ln>
            <a:noFill/>
          </a:ln>
        </p:spPr>
        <p:txBody>
          <a:bodyPr/>
          <a:lstStyle/>
          <a:p>
            <a:endParaRPr lang="zh-CN" altLang="en-US"/>
          </a:p>
        </p:txBody>
      </p:sp>
      <p:sp>
        <p:nvSpPr>
          <p:cNvPr id="13" name="Ellipse 13"/>
          <p:cNvSpPr/>
          <p:nvPr/>
        </p:nvSpPr>
        <p:spPr>
          <a:xfrm>
            <a:off x="1828800" y="1590675"/>
            <a:ext cx="57150" cy="57150"/>
          </a:xfrm>
          <a:prstGeom prst="ellipse">
            <a:avLst/>
          </a:prstGeom>
          <a:solidFill>
            <a:srgbClr val="00D4FF"/>
          </a:solidFill>
          <a:ln>
            <a:noFill/>
          </a:ln>
        </p:spPr>
        <p:txBody>
          <a:bodyPr/>
          <a:lstStyle/>
          <a:p>
            <a:endParaRPr lang="zh-CN" altLang="en-US"/>
          </a:p>
        </p:txBody>
      </p:sp>
      <p:sp>
        <p:nvSpPr>
          <p:cNvPr id="14" name="TextBox 14"/>
          <p:cNvSpPr txBox="1"/>
          <p:nvPr/>
        </p:nvSpPr>
        <p:spPr>
          <a:xfrm>
            <a:off x="1309410" y="2107882"/>
            <a:ext cx="1000680" cy="335280"/>
          </a:xfrm>
          <a:prstGeom prst="rect">
            <a:avLst/>
          </a:prstGeom>
          <a:noFill/>
          <a:ln>
            <a:noFill/>
          </a:ln>
        </p:spPr>
        <p:txBody>
          <a:bodyPr wrap="none" lIns="0" tIns="0" rIns="0" bIns="0" anchor="t" anchorCtr="0">
            <a:spAutoFit/>
          </a:bodyPr>
          <a:lstStyle/>
          <a:p>
            <a:pPr algn="ctr"/>
            <a:r>
              <a:rPr lang="zh-CN" sz="1650" b="1" dirty="0">
                <a:solidFill>
                  <a:srgbClr val="00D4FF"/>
                </a:solidFill>
                <a:latin typeface="Arial" panose="020B0604020202020204"/>
                <a:ea typeface="微软雅黑" panose="020B0503020204020204" charset="-122"/>
                <a:cs typeface="Arial" panose="020B0604020202020204"/>
              </a:rPr>
              <a:t>Web 框架</a:t>
            </a:r>
          </a:p>
        </p:txBody>
      </p:sp>
      <p:sp>
        <p:nvSpPr>
          <p:cNvPr id="15" name="TextBox 15"/>
          <p:cNvSpPr txBox="1"/>
          <p:nvPr/>
        </p:nvSpPr>
        <p:spPr>
          <a:xfrm>
            <a:off x="1556325" y="2473642"/>
            <a:ext cx="506849" cy="274320"/>
          </a:xfrm>
          <a:prstGeom prst="rect">
            <a:avLst/>
          </a:prstGeom>
          <a:noFill/>
          <a:ln>
            <a:noFill/>
          </a:ln>
        </p:spPr>
        <p:txBody>
          <a:bodyPr wrap="none" lIns="0" tIns="0" rIns="0" bIns="0" anchor="t" anchorCtr="0">
            <a:spAutoFit/>
          </a:bodyPr>
          <a:lstStyle/>
          <a:p>
            <a:pPr algn="ctr"/>
            <a:r>
              <a:rPr lang="zh-CN" sz="1350" b="1" dirty="0">
                <a:solidFill>
                  <a:srgbClr val="E8EAED"/>
                </a:solidFill>
                <a:latin typeface="Arial" panose="020B0604020202020204"/>
                <a:ea typeface="微软雅黑" panose="020B0503020204020204" charset="-122"/>
                <a:cs typeface="Arial" panose="020B0604020202020204"/>
              </a:rPr>
              <a:t>Sanic</a:t>
            </a:r>
          </a:p>
        </p:txBody>
      </p:sp>
      <p:sp>
        <p:nvSpPr>
          <p:cNvPr id="16" name="TextBox 16"/>
          <p:cNvSpPr txBox="1"/>
          <p:nvPr/>
        </p:nvSpPr>
        <p:spPr>
          <a:xfrm>
            <a:off x="1306354" y="2744152"/>
            <a:ext cx="1006792"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高性能异步框架</a:t>
            </a:r>
          </a:p>
        </p:txBody>
      </p:sp>
      <p:sp>
        <p:nvSpPr>
          <p:cNvPr id="17" name="TextBox 17"/>
          <p:cNvSpPr txBox="1"/>
          <p:nvPr/>
        </p:nvSpPr>
        <p:spPr>
          <a:xfrm>
            <a:off x="1236345" y="2934652"/>
            <a:ext cx="1146810"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支持异步请求处理</a:t>
            </a:r>
          </a:p>
        </p:txBody>
      </p:sp>
      <p:sp>
        <p:nvSpPr>
          <p:cNvPr id="18" name="TextBox 18"/>
          <p:cNvSpPr txBox="1"/>
          <p:nvPr/>
        </p:nvSpPr>
        <p:spPr>
          <a:xfrm>
            <a:off x="1264348" y="3125152"/>
            <a:ext cx="1090803"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RESTful API 路由</a:t>
            </a:r>
          </a:p>
        </p:txBody>
      </p:sp>
      <p:sp>
        <p:nvSpPr>
          <p:cNvPr id="19" name="Rectangle 19"/>
          <p:cNvSpPr/>
          <p:nvPr/>
        </p:nvSpPr>
        <p:spPr>
          <a:xfrm>
            <a:off x="3333750" y="1143000"/>
            <a:ext cx="2571750" cy="2476500"/>
          </a:xfrm>
          <a:prstGeom prst="roundRect">
            <a:avLst>
              <a:gd name="adj" fmla="val 4615"/>
            </a:avLst>
          </a:prstGeom>
          <a:solidFill>
            <a:srgbClr val="1A2332"/>
          </a:solidFill>
          <a:ln w="9525">
            <a:solidFill>
              <a:srgbClr val="2D3748"/>
            </a:solidFill>
          </a:ln>
        </p:spPr>
        <p:txBody>
          <a:bodyPr/>
          <a:lstStyle/>
          <a:p>
            <a:endParaRPr lang="zh-CN" altLang="en-US"/>
          </a:p>
        </p:txBody>
      </p:sp>
      <p:sp>
        <p:nvSpPr>
          <p:cNvPr id="20" name="Rectangle 20"/>
          <p:cNvSpPr/>
          <p:nvPr/>
        </p:nvSpPr>
        <p:spPr>
          <a:xfrm>
            <a:off x="3333750" y="1143000"/>
            <a:ext cx="2571750" cy="2476500"/>
          </a:xfrm>
          <a:prstGeom prst="roundRect">
            <a:avLst>
              <a:gd name="adj" fmla="val 4615"/>
            </a:avLst>
          </a:prstGeom>
          <a:gradFill>
            <a:gsLst>
              <a:gs pos="0">
                <a:srgbClr val="00D4FF">
                  <a:alpha val="10000"/>
                </a:srgbClr>
              </a:gs>
              <a:gs pos="100000">
                <a:srgbClr val="00D4FF">
                  <a:alpha val="0"/>
                </a:srgbClr>
              </a:gs>
            </a:gsLst>
            <a:lin ang="5400000" scaled="1"/>
          </a:gradFill>
          <a:ln>
            <a:noFill/>
          </a:ln>
        </p:spPr>
        <p:txBody>
          <a:bodyPr/>
          <a:lstStyle/>
          <a:p>
            <a:endParaRPr lang="zh-CN" altLang="en-US"/>
          </a:p>
        </p:txBody>
      </p:sp>
      <p:sp>
        <p:nvSpPr>
          <p:cNvPr id="21" name="Rectangle 21"/>
          <p:cNvSpPr/>
          <p:nvPr/>
        </p:nvSpPr>
        <p:spPr>
          <a:xfrm>
            <a:off x="4286250" y="1428750"/>
            <a:ext cx="571500" cy="571500"/>
          </a:xfrm>
          <a:prstGeom prst="roundRect">
            <a:avLst>
              <a:gd name="adj" fmla="val 13333"/>
            </a:avLst>
          </a:prstGeom>
          <a:solidFill>
            <a:srgbClr val="0F1419"/>
          </a:solidFill>
          <a:ln w="19050">
            <a:solidFill>
              <a:srgbClr val="4ECDC4"/>
            </a:solidFill>
          </a:ln>
        </p:spPr>
        <p:txBody>
          <a:bodyPr/>
          <a:lstStyle/>
          <a:p>
            <a:endParaRPr lang="zh-CN" altLang="en-US"/>
          </a:p>
        </p:txBody>
      </p:sp>
      <p:sp>
        <p:nvSpPr>
          <p:cNvPr id="22" name="Ellipse 22"/>
          <p:cNvSpPr/>
          <p:nvPr/>
        </p:nvSpPr>
        <p:spPr>
          <a:xfrm>
            <a:off x="4381500" y="1543050"/>
            <a:ext cx="381000" cy="152400"/>
          </a:xfrm>
          <a:prstGeom prst="ellipse">
            <a:avLst/>
          </a:prstGeom>
          <a:noFill/>
          <a:ln w="19050">
            <a:solidFill>
              <a:srgbClr val="4ECDC4"/>
            </a:solidFill>
          </a:ln>
        </p:spPr>
        <p:txBody>
          <a:bodyPr/>
          <a:lstStyle/>
          <a:p>
            <a:endParaRPr lang="zh-CN" altLang="en-US"/>
          </a:p>
        </p:txBody>
      </p:sp>
      <p:sp>
        <p:nvSpPr>
          <p:cNvPr id="23" name="Freeform 23"/>
          <p:cNvSpPr/>
          <p:nvPr/>
        </p:nvSpPr>
        <p:spPr>
          <a:xfrm>
            <a:off x="4381500" y="1619250"/>
            <a:ext cx="9525" cy="238125"/>
          </a:xfrm>
          <a:custGeom>
            <a:avLst/>
            <a:gdLst/>
            <a:ahLst/>
            <a:cxnLst/>
            <a:rect l="l" t="t" r="r" b="b"/>
            <a:pathLst>
              <a:path w="9525" h="238125">
                <a:moveTo>
                  <a:pt x="0" y="0"/>
                </a:moveTo>
                <a:lnTo>
                  <a:pt x="0" y="238125"/>
                </a:lnTo>
              </a:path>
            </a:pathLst>
          </a:custGeom>
          <a:solidFill>
            <a:srgbClr val="000000"/>
          </a:solidFill>
          <a:ln w="19050">
            <a:solidFill>
              <a:srgbClr val="4ECDC4"/>
            </a:solidFill>
          </a:ln>
        </p:spPr>
        <p:txBody>
          <a:bodyPr/>
          <a:lstStyle/>
          <a:p>
            <a:endParaRPr lang="zh-CN" altLang="en-US"/>
          </a:p>
        </p:txBody>
      </p:sp>
      <p:sp>
        <p:nvSpPr>
          <p:cNvPr id="24" name="Freeform 24"/>
          <p:cNvSpPr/>
          <p:nvPr/>
        </p:nvSpPr>
        <p:spPr>
          <a:xfrm>
            <a:off x="4762500" y="1619250"/>
            <a:ext cx="9525" cy="238125"/>
          </a:xfrm>
          <a:custGeom>
            <a:avLst/>
            <a:gdLst/>
            <a:ahLst/>
            <a:cxnLst/>
            <a:rect l="l" t="t" r="r" b="b"/>
            <a:pathLst>
              <a:path w="9525" h="238125">
                <a:moveTo>
                  <a:pt x="0" y="0"/>
                </a:moveTo>
                <a:lnTo>
                  <a:pt x="0" y="238125"/>
                </a:lnTo>
              </a:path>
            </a:pathLst>
          </a:custGeom>
          <a:solidFill>
            <a:srgbClr val="000000"/>
          </a:solidFill>
          <a:ln w="19050">
            <a:solidFill>
              <a:srgbClr val="4ECDC4"/>
            </a:solidFill>
          </a:ln>
        </p:spPr>
        <p:txBody>
          <a:bodyPr/>
          <a:lstStyle/>
          <a:p>
            <a:endParaRPr lang="zh-CN" altLang="en-US"/>
          </a:p>
        </p:txBody>
      </p:sp>
      <p:sp>
        <p:nvSpPr>
          <p:cNvPr id="25" name="Ellipse 25"/>
          <p:cNvSpPr/>
          <p:nvPr/>
        </p:nvSpPr>
        <p:spPr>
          <a:xfrm>
            <a:off x="4381500" y="1781175"/>
            <a:ext cx="381000" cy="152400"/>
          </a:xfrm>
          <a:prstGeom prst="ellipse">
            <a:avLst/>
          </a:prstGeom>
          <a:noFill/>
          <a:ln w="19050">
            <a:solidFill>
              <a:srgbClr val="4ECDC4"/>
            </a:solidFill>
          </a:ln>
        </p:spPr>
        <p:txBody>
          <a:bodyPr/>
          <a:lstStyle/>
          <a:p>
            <a:endParaRPr lang="zh-CN" altLang="en-US"/>
          </a:p>
        </p:txBody>
      </p:sp>
      <p:sp>
        <p:nvSpPr>
          <p:cNvPr id="26" name="TextBox 26"/>
          <p:cNvSpPr txBox="1"/>
          <p:nvPr/>
        </p:nvSpPr>
        <p:spPr>
          <a:xfrm>
            <a:off x="4088987" y="2107882"/>
            <a:ext cx="966026" cy="335280"/>
          </a:xfrm>
          <a:prstGeom prst="rect">
            <a:avLst/>
          </a:prstGeom>
          <a:noFill/>
          <a:ln>
            <a:noFill/>
          </a:ln>
        </p:spPr>
        <p:txBody>
          <a:bodyPr wrap="none" lIns="0" tIns="0" rIns="0" bIns="0" anchor="t" anchorCtr="0">
            <a:spAutoFit/>
          </a:bodyPr>
          <a:lstStyle/>
          <a:p>
            <a:pPr algn="ctr"/>
            <a:r>
              <a:rPr lang="zh-CN" sz="1650" b="1" dirty="0">
                <a:solidFill>
                  <a:srgbClr val="4ECDC4"/>
                </a:solidFill>
                <a:latin typeface="Arial" panose="020B0604020202020204"/>
                <a:ea typeface="微软雅黑" panose="020B0503020204020204" charset="-122"/>
                <a:cs typeface="Arial" panose="020B0604020202020204"/>
              </a:rPr>
              <a:t>数据存储</a:t>
            </a:r>
          </a:p>
        </p:txBody>
      </p:sp>
      <p:sp>
        <p:nvSpPr>
          <p:cNvPr id="27" name="TextBox 27"/>
          <p:cNvSpPr txBox="1"/>
          <p:nvPr/>
        </p:nvSpPr>
        <p:spPr>
          <a:xfrm>
            <a:off x="4247692" y="2473642"/>
            <a:ext cx="648617" cy="274320"/>
          </a:xfrm>
          <a:prstGeom prst="rect">
            <a:avLst/>
          </a:prstGeom>
          <a:noFill/>
          <a:ln>
            <a:noFill/>
          </a:ln>
        </p:spPr>
        <p:txBody>
          <a:bodyPr wrap="none" lIns="0" tIns="0" rIns="0" bIns="0" anchor="t" anchorCtr="0">
            <a:spAutoFit/>
          </a:bodyPr>
          <a:lstStyle/>
          <a:p>
            <a:pPr algn="ctr"/>
            <a:r>
              <a:rPr lang="zh-CN" sz="1350" b="1" dirty="0">
                <a:solidFill>
                  <a:srgbClr val="E8EAED"/>
                </a:solidFill>
                <a:latin typeface="Arial" panose="020B0604020202020204"/>
                <a:ea typeface="微软雅黑" panose="020B0503020204020204" charset="-122"/>
                <a:cs typeface="Arial" panose="020B0604020202020204"/>
              </a:rPr>
              <a:t>SQLite</a:t>
            </a:r>
          </a:p>
        </p:txBody>
      </p:sp>
      <p:sp>
        <p:nvSpPr>
          <p:cNvPr id="28" name="TextBox 28"/>
          <p:cNvSpPr txBox="1"/>
          <p:nvPr/>
        </p:nvSpPr>
        <p:spPr>
          <a:xfrm>
            <a:off x="4138612" y="2744152"/>
            <a:ext cx="866775"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轻量级数据库</a:t>
            </a:r>
          </a:p>
        </p:txBody>
      </p:sp>
      <p:sp>
        <p:nvSpPr>
          <p:cNvPr id="29" name="TextBox 29"/>
          <p:cNvSpPr txBox="1"/>
          <p:nvPr/>
        </p:nvSpPr>
        <p:spPr>
          <a:xfrm>
            <a:off x="4068604" y="2934652"/>
            <a:ext cx="1006792"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存储任务、队列</a:t>
            </a:r>
          </a:p>
        </p:txBody>
      </p:sp>
      <p:sp>
        <p:nvSpPr>
          <p:cNvPr id="30" name="TextBox 30"/>
          <p:cNvSpPr txBox="1"/>
          <p:nvPr/>
        </p:nvSpPr>
        <p:spPr>
          <a:xfrm>
            <a:off x="3928586" y="3125152"/>
            <a:ext cx="1286828"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原始数据、清洗结果</a:t>
            </a:r>
          </a:p>
        </p:txBody>
      </p:sp>
      <p:sp>
        <p:nvSpPr>
          <p:cNvPr id="31" name="Rectangle 31"/>
          <p:cNvSpPr/>
          <p:nvPr/>
        </p:nvSpPr>
        <p:spPr>
          <a:xfrm>
            <a:off x="6096000" y="1143000"/>
            <a:ext cx="2571750" cy="2476500"/>
          </a:xfrm>
          <a:prstGeom prst="roundRect">
            <a:avLst>
              <a:gd name="adj" fmla="val 4615"/>
            </a:avLst>
          </a:prstGeom>
          <a:solidFill>
            <a:srgbClr val="1A2332"/>
          </a:solidFill>
          <a:ln w="9525">
            <a:solidFill>
              <a:srgbClr val="2D3748"/>
            </a:solidFill>
          </a:ln>
        </p:spPr>
        <p:txBody>
          <a:bodyPr/>
          <a:lstStyle/>
          <a:p>
            <a:endParaRPr lang="zh-CN" altLang="en-US"/>
          </a:p>
        </p:txBody>
      </p:sp>
      <p:sp>
        <p:nvSpPr>
          <p:cNvPr id="32" name="Rectangle 32"/>
          <p:cNvSpPr/>
          <p:nvPr/>
        </p:nvSpPr>
        <p:spPr>
          <a:xfrm>
            <a:off x="6096000" y="1143000"/>
            <a:ext cx="2571750" cy="2476500"/>
          </a:xfrm>
          <a:prstGeom prst="roundRect">
            <a:avLst>
              <a:gd name="adj" fmla="val 4615"/>
            </a:avLst>
          </a:prstGeom>
          <a:gradFill>
            <a:gsLst>
              <a:gs pos="0">
                <a:srgbClr val="00D4FF">
                  <a:alpha val="10000"/>
                </a:srgbClr>
              </a:gs>
              <a:gs pos="100000">
                <a:srgbClr val="00D4FF">
                  <a:alpha val="0"/>
                </a:srgbClr>
              </a:gs>
            </a:gsLst>
            <a:lin ang="5400000" scaled="1"/>
          </a:gradFill>
          <a:ln>
            <a:noFill/>
          </a:ln>
        </p:spPr>
        <p:txBody>
          <a:bodyPr/>
          <a:lstStyle/>
          <a:p>
            <a:endParaRPr lang="zh-CN" altLang="en-US"/>
          </a:p>
        </p:txBody>
      </p:sp>
      <p:sp>
        <p:nvSpPr>
          <p:cNvPr id="33" name="Rectangle 33"/>
          <p:cNvSpPr/>
          <p:nvPr/>
        </p:nvSpPr>
        <p:spPr>
          <a:xfrm>
            <a:off x="7048500" y="1428750"/>
            <a:ext cx="571500" cy="571500"/>
          </a:xfrm>
          <a:prstGeom prst="roundRect">
            <a:avLst>
              <a:gd name="adj" fmla="val 13333"/>
            </a:avLst>
          </a:prstGeom>
          <a:solidFill>
            <a:srgbClr val="0F1419"/>
          </a:solidFill>
          <a:ln w="19050">
            <a:solidFill>
              <a:srgbClr val="FF6B35"/>
            </a:solidFill>
          </a:ln>
        </p:spPr>
        <p:txBody>
          <a:bodyPr/>
          <a:lstStyle/>
          <a:p>
            <a:endParaRPr lang="zh-CN" altLang="en-US"/>
          </a:p>
        </p:txBody>
      </p:sp>
      <p:sp>
        <p:nvSpPr>
          <p:cNvPr id="34" name="Ellipse 34"/>
          <p:cNvSpPr/>
          <p:nvPr/>
        </p:nvSpPr>
        <p:spPr>
          <a:xfrm>
            <a:off x="7191375" y="1524000"/>
            <a:ext cx="285750" cy="285750"/>
          </a:xfrm>
          <a:prstGeom prst="ellipse">
            <a:avLst/>
          </a:prstGeom>
          <a:noFill/>
          <a:ln w="19050">
            <a:solidFill>
              <a:srgbClr val="FF6B35"/>
            </a:solidFill>
          </a:ln>
        </p:spPr>
        <p:txBody>
          <a:bodyPr/>
          <a:lstStyle/>
          <a:p>
            <a:endParaRPr lang="zh-CN" altLang="en-US"/>
          </a:p>
        </p:txBody>
      </p:sp>
      <p:sp>
        <p:nvSpPr>
          <p:cNvPr id="35" name="Line 35"/>
          <p:cNvSpPr/>
          <p:nvPr/>
        </p:nvSpPr>
        <p:spPr>
          <a:xfrm>
            <a:off x="7191375" y="1666875"/>
            <a:ext cx="285750" cy="9525"/>
          </a:xfrm>
          <a:custGeom>
            <a:avLst/>
            <a:gdLst/>
            <a:ahLst/>
            <a:cxnLst/>
            <a:rect l="l" t="t" r="r" b="b"/>
            <a:pathLst>
              <a:path w="285750" h="9525">
                <a:moveTo>
                  <a:pt x="0" y="0"/>
                </a:moveTo>
                <a:lnTo>
                  <a:pt x="285750" y="0"/>
                </a:lnTo>
              </a:path>
            </a:pathLst>
          </a:custGeom>
          <a:noFill/>
          <a:ln w="14288">
            <a:solidFill>
              <a:srgbClr val="FF6B35"/>
            </a:solidFill>
          </a:ln>
        </p:spPr>
        <p:txBody>
          <a:bodyPr/>
          <a:lstStyle/>
          <a:p>
            <a:endParaRPr lang="zh-CN" altLang="en-US"/>
          </a:p>
        </p:txBody>
      </p:sp>
      <p:sp>
        <p:nvSpPr>
          <p:cNvPr id="36" name="Line 36"/>
          <p:cNvSpPr/>
          <p:nvPr/>
        </p:nvSpPr>
        <p:spPr>
          <a:xfrm>
            <a:off x="7334250" y="1524000"/>
            <a:ext cx="9525" cy="285750"/>
          </a:xfrm>
          <a:custGeom>
            <a:avLst/>
            <a:gdLst/>
            <a:ahLst/>
            <a:cxnLst/>
            <a:rect l="l" t="t" r="r" b="b"/>
            <a:pathLst>
              <a:path w="9525" h="285750">
                <a:moveTo>
                  <a:pt x="0" y="0"/>
                </a:moveTo>
                <a:lnTo>
                  <a:pt x="0" y="285750"/>
                </a:lnTo>
              </a:path>
            </a:pathLst>
          </a:custGeom>
          <a:noFill/>
          <a:ln w="14288">
            <a:solidFill>
              <a:srgbClr val="FF6B35"/>
            </a:solidFill>
          </a:ln>
        </p:spPr>
        <p:txBody>
          <a:bodyPr/>
          <a:lstStyle/>
          <a:p>
            <a:endParaRPr lang="zh-CN" altLang="en-US"/>
          </a:p>
        </p:txBody>
      </p:sp>
      <p:sp>
        <p:nvSpPr>
          <p:cNvPr id="37" name="Freeform 37"/>
          <p:cNvSpPr/>
          <p:nvPr/>
        </p:nvSpPr>
        <p:spPr>
          <a:xfrm>
            <a:off x="7219950" y="1571625"/>
            <a:ext cx="228600" cy="19050"/>
          </a:xfrm>
          <a:custGeom>
            <a:avLst/>
            <a:gdLst/>
            <a:ahLst/>
            <a:cxnLst/>
            <a:rect l="l" t="t" r="r" b="b"/>
            <a:pathLst>
              <a:path w="228600" h="19050">
                <a:moveTo>
                  <a:pt x="0" y="0"/>
                </a:moveTo>
                <a:cubicBezTo>
                  <a:pt x="76200" y="19050"/>
                  <a:pt x="152400" y="19050"/>
                  <a:pt x="228600" y="0"/>
                </a:cubicBezTo>
              </a:path>
            </a:pathLst>
          </a:custGeom>
          <a:noFill/>
          <a:ln w="9525">
            <a:solidFill>
              <a:srgbClr val="FF6B35"/>
            </a:solidFill>
          </a:ln>
        </p:spPr>
        <p:txBody>
          <a:bodyPr/>
          <a:lstStyle/>
          <a:p>
            <a:endParaRPr lang="zh-CN" altLang="en-US"/>
          </a:p>
        </p:txBody>
      </p:sp>
      <p:sp>
        <p:nvSpPr>
          <p:cNvPr id="38" name="Freeform 38"/>
          <p:cNvSpPr/>
          <p:nvPr/>
        </p:nvSpPr>
        <p:spPr>
          <a:xfrm>
            <a:off x="7219950" y="1743075"/>
            <a:ext cx="228600" cy="19050"/>
          </a:xfrm>
          <a:custGeom>
            <a:avLst/>
            <a:gdLst/>
            <a:ahLst/>
            <a:cxnLst/>
            <a:rect l="l" t="t" r="r" b="b"/>
            <a:pathLst>
              <a:path w="228600" h="19050">
                <a:moveTo>
                  <a:pt x="0" y="19050"/>
                </a:moveTo>
                <a:cubicBezTo>
                  <a:pt x="76200" y="0"/>
                  <a:pt x="152400" y="0"/>
                  <a:pt x="228600" y="19050"/>
                </a:cubicBezTo>
              </a:path>
            </a:pathLst>
          </a:custGeom>
          <a:noFill/>
          <a:ln w="9525">
            <a:solidFill>
              <a:srgbClr val="FF6B35"/>
            </a:solidFill>
          </a:ln>
        </p:spPr>
        <p:txBody>
          <a:bodyPr/>
          <a:lstStyle/>
          <a:p>
            <a:endParaRPr lang="zh-CN" altLang="en-US"/>
          </a:p>
        </p:txBody>
      </p:sp>
      <p:sp>
        <p:nvSpPr>
          <p:cNvPr id="39" name="TextBox 39"/>
          <p:cNvSpPr txBox="1"/>
          <p:nvPr/>
        </p:nvSpPr>
        <p:spPr>
          <a:xfrm>
            <a:off x="6851237" y="2107882"/>
            <a:ext cx="966026" cy="335280"/>
          </a:xfrm>
          <a:prstGeom prst="rect">
            <a:avLst/>
          </a:prstGeom>
          <a:noFill/>
          <a:ln>
            <a:noFill/>
          </a:ln>
        </p:spPr>
        <p:txBody>
          <a:bodyPr wrap="none" lIns="0" tIns="0" rIns="0" bIns="0" anchor="t" anchorCtr="0">
            <a:spAutoFit/>
          </a:bodyPr>
          <a:lstStyle/>
          <a:p>
            <a:pPr algn="ctr"/>
            <a:r>
              <a:rPr lang="zh-CN" sz="1650" b="1" dirty="0">
                <a:solidFill>
                  <a:srgbClr val="FF6B35"/>
                </a:solidFill>
                <a:latin typeface="Arial" panose="020B0604020202020204"/>
                <a:ea typeface="微软雅黑" panose="020B0503020204020204" charset="-122"/>
                <a:cs typeface="Arial" panose="020B0604020202020204"/>
              </a:rPr>
              <a:t>网页解析</a:t>
            </a:r>
          </a:p>
        </p:txBody>
      </p:sp>
      <p:sp>
        <p:nvSpPr>
          <p:cNvPr id="40" name="TextBox 40"/>
          <p:cNvSpPr txBox="1"/>
          <p:nvPr/>
        </p:nvSpPr>
        <p:spPr>
          <a:xfrm>
            <a:off x="6714134" y="2489835"/>
            <a:ext cx="1240231" cy="243840"/>
          </a:xfrm>
          <a:prstGeom prst="rect">
            <a:avLst/>
          </a:prstGeom>
          <a:noFill/>
          <a:ln>
            <a:noFill/>
          </a:ln>
        </p:spPr>
        <p:txBody>
          <a:bodyPr wrap="none" lIns="0" tIns="0" rIns="0" bIns="0" anchor="t" anchorCtr="0">
            <a:spAutoFit/>
          </a:bodyPr>
          <a:lstStyle/>
          <a:p>
            <a:pPr algn="ctr"/>
            <a:r>
              <a:rPr lang="zh-CN" sz="1200" b="1" dirty="0">
                <a:solidFill>
                  <a:srgbClr val="E8EAED"/>
                </a:solidFill>
                <a:latin typeface="Arial" panose="020B0604020202020204"/>
                <a:ea typeface="微软雅黑" panose="020B0503020204020204" charset="-122"/>
                <a:cs typeface="Arial" panose="020B0604020202020204"/>
              </a:rPr>
              <a:t>Requests + BS4</a:t>
            </a:r>
          </a:p>
        </p:txBody>
      </p:sp>
      <p:sp>
        <p:nvSpPr>
          <p:cNvPr id="41" name="TextBox 41"/>
          <p:cNvSpPr txBox="1"/>
          <p:nvPr/>
        </p:nvSpPr>
        <p:spPr>
          <a:xfrm>
            <a:off x="6865858" y="2744152"/>
            <a:ext cx="936784"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HTTP 客户端库</a:t>
            </a:r>
          </a:p>
        </p:txBody>
      </p:sp>
      <p:sp>
        <p:nvSpPr>
          <p:cNvPr id="42" name="TextBox 42"/>
          <p:cNvSpPr txBox="1"/>
          <p:nvPr/>
        </p:nvSpPr>
        <p:spPr>
          <a:xfrm>
            <a:off x="6921865" y="2934652"/>
            <a:ext cx="824770"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HTML 解析库</a:t>
            </a:r>
          </a:p>
        </p:txBody>
      </p:sp>
      <p:sp>
        <p:nvSpPr>
          <p:cNvPr id="43" name="TextBox 43"/>
          <p:cNvSpPr txBox="1"/>
          <p:nvPr/>
        </p:nvSpPr>
        <p:spPr>
          <a:xfrm>
            <a:off x="6900862" y="3125152"/>
            <a:ext cx="866775"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提取网页内容</a:t>
            </a:r>
          </a:p>
        </p:txBody>
      </p:sp>
      <p:sp>
        <p:nvSpPr>
          <p:cNvPr id="44" name="Rectangle 44"/>
          <p:cNvSpPr/>
          <p:nvPr/>
        </p:nvSpPr>
        <p:spPr>
          <a:xfrm>
            <a:off x="8858250" y="1143000"/>
            <a:ext cx="2571750" cy="2476500"/>
          </a:xfrm>
          <a:prstGeom prst="roundRect">
            <a:avLst>
              <a:gd name="adj" fmla="val 4615"/>
            </a:avLst>
          </a:prstGeom>
          <a:solidFill>
            <a:srgbClr val="1A2332"/>
          </a:solidFill>
          <a:ln w="9525">
            <a:solidFill>
              <a:srgbClr val="2D3748"/>
            </a:solidFill>
          </a:ln>
        </p:spPr>
        <p:txBody>
          <a:bodyPr/>
          <a:lstStyle/>
          <a:p>
            <a:endParaRPr lang="zh-CN" altLang="en-US"/>
          </a:p>
        </p:txBody>
      </p:sp>
      <p:sp>
        <p:nvSpPr>
          <p:cNvPr id="45" name="Rectangle 45"/>
          <p:cNvSpPr/>
          <p:nvPr/>
        </p:nvSpPr>
        <p:spPr>
          <a:xfrm>
            <a:off x="8858250" y="1143000"/>
            <a:ext cx="2571750" cy="2476500"/>
          </a:xfrm>
          <a:prstGeom prst="roundRect">
            <a:avLst>
              <a:gd name="adj" fmla="val 4615"/>
            </a:avLst>
          </a:prstGeom>
          <a:gradFill>
            <a:gsLst>
              <a:gs pos="0">
                <a:srgbClr val="00D4FF">
                  <a:alpha val="10000"/>
                </a:srgbClr>
              </a:gs>
              <a:gs pos="100000">
                <a:srgbClr val="00D4FF">
                  <a:alpha val="0"/>
                </a:srgbClr>
              </a:gs>
            </a:gsLst>
            <a:lin ang="5400000" scaled="1"/>
          </a:gradFill>
          <a:ln>
            <a:noFill/>
          </a:ln>
        </p:spPr>
        <p:txBody>
          <a:bodyPr/>
          <a:lstStyle/>
          <a:p>
            <a:endParaRPr lang="zh-CN" altLang="en-US"/>
          </a:p>
        </p:txBody>
      </p:sp>
      <p:sp>
        <p:nvSpPr>
          <p:cNvPr id="46" name="Rectangle 46"/>
          <p:cNvSpPr/>
          <p:nvPr/>
        </p:nvSpPr>
        <p:spPr>
          <a:xfrm>
            <a:off x="9810750" y="1428750"/>
            <a:ext cx="571500" cy="571500"/>
          </a:xfrm>
          <a:prstGeom prst="roundRect">
            <a:avLst>
              <a:gd name="adj" fmla="val 13333"/>
            </a:avLst>
          </a:prstGeom>
          <a:solidFill>
            <a:srgbClr val="0F1419"/>
          </a:solidFill>
          <a:ln w="19050">
            <a:solidFill>
              <a:srgbClr val="00D4FF"/>
            </a:solidFill>
          </a:ln>
        </p:spPr>
        <p:txBody>
          <a:bodyPr/>
          <a:lstStyle/>
          <a:p>
            <a:endParaRPr lang="zh-CN" altLang="en-US"/>
          </a:p>
        </p:txBody>
      </p:sp>
      <p:sp>
        <p:nvSpPr>
          <p:cNvPr id="47" name="TextBox 47"/>
          <p:cNvSpPr txBox="1"/>
          <p:nvPr/>
        </p:nvSpPr>
        <p:spPr>
          <a:xfrm>
            <a:off x="9941624" y="1520190"/>
            <a:ext cx="309753" cy="365760"/>
          </a:xfrm>
          <a:prstGeom prst="rect">
            <a:avLst/>
          </a:prstGeom>
          <a:noFill/>
          <a:ln>
            <a:noFill/>
          </a:ln>
        </p:spPr>
        <p:txBody>
          <a:bodyPr wrap="none" lIns="0" tIns="0" rIns="0" bIns="0" anchor="t" anchorCtr="0">
            <a:spAutoFit/>
          </a:bodyPr>
          <a:lstStyle/>
          <a:p>
            <a:pPr algn="ctr"/>
            <a:r>
              <a:rPr lang="zh-CN" sz="1800" dirty="0">
                <a:solidFill>
                  <a:srgbClr val="00D4FF"/>
                </a:solidFill>
                <a:latin typeface="Arial" panose="020B0604020202020204"/>
                <a:ea typeface="微软雅黑" panose="020B0503020204020204" charset="-122"/>
                <a:cs typeface="Arial" panose="020B0604020202020204"/>
              </a:rPr>
              <a:t>Aa</a:t>
            </a:r>
          </a:p>
        </p:txBody>
      </p:sp>
      <p:sp>
        <p:nvSpPr>
          <p:cNvPr id="48" name="Rectangle 48"/>
          <p:cNvSpPr/>
          <p:nvPr/>
        </p:nvSpPr>
        <p:spPr>
          <a:xfrm>
            <a:off x="9906000" y="1809750"/>
            <a:ext cx="381000" cy="28575"/>
          </a:xfrm>
          <a:prstGeom prst="rect">
            <a:avLst/>
          </a:prstGeom>
          <a:solidFill>
            <a:srgbClr val="00D4FF"/>
          </a:solidFill>
          <a:ln>
            <a:noFill/>
          </a:ln>
        </p:spPr>
        <p:txBody>
          <a:bodyPr/>
          <a:lstStyle/>
          <a:p>
            <a:endParaRPr lang="zh-CN" altLang="en-US"/>
          </a:p>
        </p:txBody>
      </p:sp>
      <p:sp>
        <p:nvSpPr>
          <p:cNvPr id="49" name="Rectangle 49"/>
          <p:cNvSpPr/>
          <p:nvPr/>
        </p:nvSpPr>
        <p:spPr>
          <a:xfrm>
            <a:off x="9953625" y="1876425"/>
            <a:ext cx="285750" cy="28575"/>
          </a:xfrm>
          <a:prstGeom prst="rect">
            <a:avLst/>
          </a:prstGeom>
          <a:solidFill>
            <a:srgbClr val="00D4FF">
              <a:alpha val="60000"/>
            </a:srgbClr>
          </a:solidFill>
          <a:ln>
            <a:noFill/>
          </a:ln>
        </p:spPr>
        <p:txBody>
          <a:bodyPr/>
          <a:lstStyle/>
          <a:p>
            <a:endParaRPr lang="zh-CN" altLang="en-US"/>
          </a:p>
        </p:txBody>
      </p:sp>
      <p:sp>
        <p:nvSpPr>
          <p:cNvPr id="50" name="TextBox 50"/>
          <p:cNvSpPr txBox="1"/>
          <p:nvPr/>
        </p:nvSpPr>
        <p:spPr>
          <a:xfrm>
            <a:off x="9661112" y="2107882"/>
            <a:ext cx="966026" cy="335280"/>
          </a:xfrm>
          <a:prstGeom prst="rect">
            <a:avLst/>
          </a:prstGeom>
          <a:noFill/>
          <a:ln>
            <a:noFill/>
          </a:ln>
        </p:spPr>
        <p:txBody>
          <a:bodyPr wrap="none" lIns="0" tIns="0" rIns="0" bIns="0" anchor="t" anchorCtr="0">
            <a:spAutoFit/>
          </a:bodyPr>
          <a:lstStyle/>
          <a:p>
            <a:pPr algn="ctr"/>
            <a:r>
              <a:rPr lang="zh-CN" sz="1650" b="1" dirty="0">
                <a:solidFill>
                  <a:srgbClr val="00D4FF"/>
                </a:solidFill>
                <a:latin typeface="Arial" panose="020B0604020202020204"/>
                <a:ea typeface="微软雅黑" panose="020B0503020204020204" charset="-122"/>
                <a:cs typeface="Arial" panose="020B0604020202020204"/>
              </a:rPr>
              <a:t>文本处理</a:t>
            </a:r>
          </a:p>
        </p:txBody>
      </p:sp>
      <p:sp>
        <p:nvSpPr>
          <p:cNvPr id="51" name="TextBox 51"/>
          <p:cNvSpPr txBox="1"/>
          <p:nvPr/>
        </p:nvSpPr>
        <p:spPr>
          <a:xfrm>
            <a:off x="9431598" y="2489835"/>
            <a:ext cx="1425054" cy="243840"/>
          </a:xfrm>
          <a:prstGeom prst="rect">
            <a:avLst/>
          </a:prstGeom>
          <a:noFill/>
          <a:ln>
            <a:noFill/>
          </a:ln>
        </p:spPr>
        <p:txBody>
          <a:bodyPr wrap="none" lIns="0" tIns="0" rIns="0" bIns="0" anchor="t" anchorCtr="0">
            <a:spAutoFit/>
          </a:bodyPr>
          <a:lstStyle/>
          <a:p>
            <a:pPr algn="ctr"/>
            <a:r>
              <a:rPr lang="zh-CN" sz="1200" b="1" dirty="0">
                <a:solidFill>
                  <a:srgbClr val="E8EAED"/>
                </a:solidFill>
                <a:latin typeface="Arial" panose="020B0604020202020204"/>
                <a:ea typeface="微软雅黑" panose="020B0503020204020204" charset="-122"/>
                <a:cs typeface="Arial" panose="020B0604020202020204"/>
              </a:rPr>
              <a:t>jieba + WordCloud</a:t>
            </a:r>
          </a:p>
        </p:txBody>
      </p:sp>
      <p:sp>
        <p:nvSpPr>
          <p:cNvPr id="52" name="TextBox 52"/>
          <p:cNvSpPr txBox="1"/>
          <p:nvPr/>
        </p:nvSpPr>
        <p:spPr>
          <a:xfrm>
            <a:off x="9738236" y="2727960"/>
            <a:ext cx="811778" cy="243840"/>
          </a:xfrm>
          <a:prstGeom prst="rect">
            <a:avLst/>
          </a:prstGeom>
          <a:noFill/>
          <a:ln>
            <a:noFill/>
          </a:ln>
        </p:spPr>
        <p:txBody>
          <a:bodyPr wrap="none" lIns="0" tIns="0" rIns="0" bIns="0" anchor="t" anchorCtr="0">
            <a:spAutoFit/>
          </a:bodyPr>
          <a:lstStyle/>
          <a:p>
            <a:pPr algn="ctr"/>
            <a:r>
              <a:rPr lang="zh-CN" sz="1200" b="1" dirty="0">
                <a:solidFill>
                  <a:srgbClr val="E8EAED"/>
                </a:solidFill>
                <a:latin typeface="Arial" panose="020B0604020202020204"/>
                <a:ea typeface="微软雅黑" panose="020B0503020204020204" charset="-122"/>
                <a:cs typeface="Arial" panose="020B0604020202020204"/>
              </a:rPr>
              <a:t>+ snownlp</a:t>
            </a:r>
          </a:p>
        </p:txBody>
      </p:sp>
      <p:sp>
        <p:nvSpPr>
          <p:cNvPr id="53" name="TextBox 53"/>
          <p:cNvSpPr txBox="1"/>
          <p:nvPr/>
        </p:nvSpPr>
        <p:spPr>
          <a:xfrm>
            <a:off x="9500711" y="2982278"/>
            <a:ext cx="1286828"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中文分词、词云生成</a:t>
            </a:r>
          </a:p>
        </p:txBody>
      </p:sp>
      <p:sp>
        <p:nvSpPr>
          <p:cNvPr id="54" name="TextBox 54"/>
          <p:cNvSpPr txBox="1"/>
          <p:nvPr/>
        </p:nvSpPr>
        <p:spPr>
          <a:xfrm>
            <a:off x="9850755" y="3172778"/>
            <a:ext cx="586740"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情感分析</a:t>
            </a:r>
          </a:p>
        </p:txBody>
      </p:sp>
      <p:sp>
        <p:nvSpPr>
          <p:cNvPr id="55" name="Rectangle 55"/>
          <p:cNvSpPr/>
          <p:nvPr/>
        </p:nvSpPr>
        <p:spPr>
          <a:xfrm>
            <a:off x="571500" y="4000500"/>
            <a:ext cx="10858500" cy="2286000"/>
          </a:xfrm>
          <a:prstGeom prst="roundRect">
            <a:avLst>
              <a:gd name="adj" fmla="val 5000"/>
            </a:avLst>
          </a:prstGeom>
          <a:solidFill>
            <a:srgbClr val="1A2332"/>
          </a:solidFill>
          <a:ln w="9525">
            <a:solidFill>
              <a:srgbClr val="2D3748"/>
            </a:solidFill>
          </a:ln>
        </p:spPr>
        <p:txBody>
          <a:bodyPr/>
          <a:lstStyle/>
          <a:p>
            <a:endParaRPr lang="zh-CN" altLang="en-US"/>
          </a:p>
        </p:txBody>
      </p:sp>
      <p:sp>
        <p:nvSpPr>
          <p:cNvPr id="56" name="TextBox 56"/>
          <p:cNvSpPr txBox="1"/>
          <p:nvPr/>
        </p:nvSpPr>
        <p:spPr>
          <a:xfrm>
            <a:off x="742950" y="4219575"/>
            <a:ext cx="878205" cy="304800"/>
          </a:xfrm>
          <a:prstGeom prst="rect">
            <a:avLst/>
          </a:prstGeom>
          <a:noFill/>
          <a:ln>
            <a:noFill/>
          </a:ln>
        </p:spPr>
        <p:txBody>
          <a:bodyPr wrap="none" lIns="0" tIns="0" rIns="0" bIns="0" anchor="t" anchorCtr="0">
            <a:spAutoFit/>
          </a:bodyPr>
          <a:lstStyle/>
          <a:p>
            <a:pPr algn="l"/>
            <a:r>
              <a:rPr lang="zh-CN" sz="1500" b="1" dirty="0">
                <a:solidFill>
                  <a:srgbClr val="E8EAED"/>
                </a:solidFill>
                <a:latin typeface="Arial" panose="020B0604020202020204"/>
                <a:ea typeface="微软雅黑" panose="020B0503020204020204" charset="-122"/>
                <a:cs typeface="Arial" panose="020B0604020202020204"/>
              </a:rPr>
              <a:t>前端技术</a:t>
            </a:r>
          </a:p>
        </p:txBody>
      </p:sp>
      <p:sp>
        <p:nvSpPr>
          <p:cNvPr id="57" name="Rectangle 57"/>
          <p:cNvSpPr/>
          <p:nvPr/>
        </p:nvSpPr>
        <p:spPr>
          <a:xfrm>
            <a:off x="762000" y="4572000"/>
            <a:ext cx="1143000" cy="381000"/>
          </a:xfrm>
          <a:prstGeom prst="roundRect">
            <a:avLst>
              <a:gd name="adj" fmla="val 50000"/>
            </a:avLst>
          </a:prstGeom>
          <a:solidFill>
            <a:srgbClr val="0F1419"/>
          </a:solidFill>
          <a:ln w="14288">
            <a:solidFill>
              <a:srgbClr val="00D4FF"/>
            </a:solidFill>
          </a:ln>
        </p:spPr>
        <p:txBody>
          <a:bodyPr/>
          <a:lstStyle/>
          <a:p>
            <a:endParaRPr lang="zh-CN" altLang="en-US"/>
          </a:p>
        </p:txBody>
      </p:sp>
      <p:sp>
        <p:nvSpPr>
          <p:cNvPr id="58" name="TextBox 58"/>
          <p:cNvSpPr txBox="1"/>
          <p:nvPr/>
        </p:nvSpPr>
        <p:spPr>
          <a:xfrm>
            <a:off x="1082230" y="4680585"/>
            <a:ext cx="502539" cy="243840"/>
          </a:xfrm>
          <a:prstGeom prst="rect">
            <a:avLst/>
          </a:prstGeom>
          <a:noFill/>
          <a:ln>
            <a:noFill/>
          </a:ln>
        </p:spPr>
        <p:txBody>
          <a:bodyPr wrap="none" lIns="0" tIns="0" rIns="0" bIns="0" anchor="t" anchorCtr="0">
            <a:spAutoFit/>
          </a:bodyPr>
          <a:lstStyle/>
          <a:p>
            <a:pPr algn="ctr"/>
            <a:r>
              <a:rPr lang="zh-CN" sz="1200" dirty="0">
                <a:solidFill>
                  <a:srgbClr val="00D4FF"/>
                </a:solidFill>
                <a:latin typeface="Arial" panose="020B0604020202020204"/>
                <a:ea typeface="微软雅黑" panose="020B0503020204020204" charset="-122"/>
                <a:cs typeface="Arial" panose="020B0604020202020204"/>
              </a:rPr>
              <a:t>HTML5</a:t>
            </a:r>
          </a:p>
        </p:txBody>
      </p:sp>
      <p:sp>
        <p:nvSpPr>
          <p:cNvPr id="59" name="Rectangle 59"/>
          <p:cNvSpPr/>
          <p:nvPr/>
        </p:nvSpPr>
        <p:spPr>
          <a:xfrm>
            <a:off x="2095500" y="4572000"/>
            <a:ext cx="1143000" cy="381000"/>
          </a:xfrm>
          <a:prstGeom prst="roundRect">
            <a:avLst>
              <a:gd name="adj" fmla="val 50000"/>
            </a:avLst>
          </a:prstGeom>
          <a:solidFill>
            <a:srgbClr val="0F1419"/>
          </a:solidFill>
          <a:ln w="14288">
            <a:solidFill>
              <a:srgbClr val="4ECDC4"/>
            </a:solidFill>
          </a:ln>
        </p:spPr>
        <p:txBody>
          <a:bodyPr/>
          <a:lstStyle/>
          <a:p>
            <a:endParaRPr lang="zh-CN" altLang="en-US"/>
          </a:p>
        </p:txBody>
      </p:sp>
      <p:sp>
        <p:nvSpPr>
          <p:cNvPr id="60" name="TextBox 60"/>
          <p:cNvSpPr txBox="1"/>
          <p:nvPr/>
        </p:nvSpPr>
        <p:spPr>
          <a:xfrm>
            <a:off x="2475738" y="4680585"/>
            <a:ext cx="382524" cy="243840"/>
          </a:xfrm>
          <a:prstGeom prst="rect">
            <a:avLst/>
          </a:prstGeom>
          <a:noFill/>
          <a:ln>
            <a:noFill/>
          </a:ln>
        </p:spPr>
        <p:txBody>
          <a:bodyPr wrap="none" lIns="0" tIns="0" rIns="0" bIns="0" anchor="t" anchorCtr="0">
            <a:spAutoFit/>
          </a:bodyPr>
          <a:lstStyle/>
          <a:p>
            <a:pPr algn="ctr"/>
            <a:r>
              <a:rPr lang="zh-CN" sz="1200" dirty="0">
                <a:solidFill>
                  <a:srgbClr val="4ECDC4"/>
                </a:solidFill>
                <a:latin typeface="Arial" panose="020B0604020202020204"/>
                <a:ea typeface="微软雅黑" panose="020B0503020204020204" charset="-122"/>
                <a:cs typeface="Arial" panose="020B0604020202020204"/>
              </a:rPr>
              <a:t>CSS3</a:t>
            </a:r>
          </a:p>
        </p:txBody>
      </p:sp>
      <p:sp>
        <p:nvSpPr>
          <p:cNvPr id="61" name="Rectangle 61"/>
          <p:cNvSpPr/>
          <p:nvPr/>
        </p:nvSpPr>
        <p:spPr>
          <a:xfrm>
            <a:off x="3429000" y="4572000"/>
            <a:ext cx="1143000" cy="381000"/>
          </a:xfrm>
          <a:prstGeom prst="roundRect">
            <a:avLst>
              <a:gd name="adj" fmla="val 50000"/>
            </a:avLst>
          </a:prstGeom>
          <a:solidFill>
            <a:srgbClr val="0F1419"/>
          </a:solidFill>
          <a:ln w="14288">
            <a:solidFill>
              <a:srgbClr val="FF6B35"/>
            </a:solidFill>
          </a:ln>
        </p:spPr>
        <p:txBody>
          <a:bodyPr/>
          <a:lstStyle/>
          <a:p>
            <a:endParaRPr lang="zh-CN" altLang="en-US"/>
          </a:p>
        </p:txBody>
      </p:sp>
      <p:sp>
        <p:nvSpPr>
          <p:cNvPr id="62" name="TextBox 62"/>
          <p:cNvSpPr txBox="1"/>
          <p:nvPr/>
        </p:nvSpPr>
        <p:spPr>
          <a:xfrm>
            <a:off x="3565207" y="4680585"/>
            <a:ext cx="870585" cy="243840"/>
          </a:xfrm>
          <a:prstGeom prst="rect">
            <a:avLst/>
          </a:prstGeom>
          <a:noFill/>
          <a:ln>
            <a:noFill/>
          </a:ln>
        </p:spPr>
        <p:txBody>
          <a:bodyPr wrap="none" lIns="0" tIns="0" rIns="0" bIns="0" anchor="t" anchorCtr="0">
            <a:spAutoFit/>
          </a:bodyPr>
          <a:lstStyle/>
          <a:p>
            <a:pPr algn="ctr"/>
            <a:r>
              <a:rPr lang="zh-CN" sz="1200" dirty="0">
                <a:solidFill>
                  <a:srgbClr val="FF6B35"/>
                </a:solidFill>
                <a:latin typeface="Arial" panose="020B0604020202020204"/>
                <a:ea typeface="微软雅黑" panose="020B0503020204020204" charset="-122"/>
                <a:cs typeface="Arial" panose="020B0604020202020204"/>
              </a:rPr>
              <a:t>JavaScript</a:t>
            </a:r>
          </a:p>
        </p:txBody>
      </p:sp>
      <p:sp>
        <p:nvSpPr>
          <p:cNvPr id="63" name="Rectangle 63"/>
          <p:cNvSpPr/>
          <p:nvPr/>
        </p:nvSpPr>
        <p:spPr>
          <a:xfrm>
            <a:off x="4762500" y="4572000"/>
            <a:ext cx="1143000" cy="381000"/>
          </a:xfrm>
          <a:prstGeom prst="roundRect">
            <a:avLst>
              <a:gd name="adj" fmla="val 50000"/>
            </a:avLst>
          </a:prstGeom>
          <a:solidFill>
            <a:srgbClr val="0F1419"/>
          </a:solidFill>
          <a:ln w="14288">
            <a:solidFill>
              <a:srgbClr val="00D4FF"/>
            </a:solidFill>
          </a:ln>
        </p:spPr>
        <p:txBody>
          <a:bodyPr/>
          <a:lstStyle/>
          <a:p>
            <a:endParaRPr lang="zh-CN" altLang="en-US"/>
          </a:p>
        </p:txBody>
      </p:sp>
      <p:sp>
        <p:nvSpPr>
          <p:cNvPr id="64" name="TextBox 64"/>
          <p:cNvSpPr txBox="1"/>
          <p:nvPr/>
        </p:nvSpPr>
        <p:spPr>
          <a:xfrm>
            <a:off x="5186744" y="4680585"/>
            <a:ext cx="294513" cy="243840"/>
          </a:xfrm>
          <a:prstGeom prst="rect">
            <a:avLst/>
          </a:prstGeom>
          <a:noFill/>
          <a:ln>
            <a:noFill/>
          </a:ln>
        </p:spPr>
        <p:txBody>
          <a:bodyPr wrap="none" lIns="0" tIns="0" rIns="0" bIns="0" anchor="t" anchorCtr="0">
            <a:spAutoFit/>
          </a:bodyPr>
          <a:lstStyle/>
          <a:p>
            <a:pPr algn="ctr"/>
            <a:r>
              <a:rPr lang="zh-CN" sz="1200" dirty="0">
                <a:solidFill>
                  <a:srgbClr val="00D4FF"/>
                </a:solidFill>
                <a:latin typeface="Arial" panose="020B0604020202020204"/>
                <a:ea typeface="微软雅黑" panose="020B0503020204020204" charset="-122"/>
                <a:cs typeface="Arial" panose="020B0604020202020204"/>
              </a:rPr>
              <a:t>SSE</a:t>
            </a:r>
          </a:p>
        </p:txBody>
      </p:sp>
      <p:sp>
        <p:nvSpPr>
          <p:cNvPr id="65" name="TextBox 65"/>
          <p:cNvSpPr txBox="1"/>
          <p:nvPr/>
        </p:nvSpPr>
        <p:spPr>
          <a:xfrm>
            <a:off x="6082665" y="4696778"/>
            <a:ext cx="726758"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实时事件流</a:t>
            </a:r>
          </a:p>
        </p:txBody>
      </p:sp>
      <p:sp>
        <p:nvSpPr>
          <p:cNvPr id="66" name="TextBox 66"/>
          <p:cNvSpPr txBox="1"/>
          <p:nvPr/>
        </p:nvSpPr>
        <p:spPr>
          <a:xfrm>
            <a:off x="742950" y="5267325"/>
            <a:ext cx="878205" cy="304800"/>
          </a:xfrm>
          <a:prstGeom prst="rect">
            <a:avLst/>
          </a:prstGeom>
          <a:noFill/>
          <a:ln>
            <a:noFill/>
          </a:ln>
        </p:spPr>
        <p:txBody>
          <a:bodyPr wrap="none" lIns="0" tIns="0" rIns="0" bIns="0" anchor="t" anchorCtr="0">
            <a:spAutoFit/>
          </a:bodyPr>
          <a:lstStyle/>
          <a:p>
            <a:pPr algn="l"/>
            <a:r>
              <a:rPr lang="zh-CN" sz="1500" b="1" dirty="0">
                <a:solidFill>
                  <a:srgbClr val="E8EAED"/>
                </a:solidFill>
                <a:latin typeface="Arial" panose="020B0604020202020204"/>
                <a:ea typeface="微软雅黑" panose="020B0503020204020204" charset="-122"/>
                <a:cs typeface="Arial" panose="020B0604020202020204"/>
              </a:rPr>
              <a:t>后端技术</a:t>
            </a:r>
          </a:p>
        </p:txBody>
      </p:sp>
      <p:sp>
        <p:nvSpPr>
          <p:cNvPr id="67" name="Rectangle 67"/>
          <p:cNvSpPr/>
          <p:nvPr/>
        </p:nvSpPr>
        <p:spPr>
          <a:xfrm>
            <a:off x="762000" y="5619750"/>
            <a:ext cx="1333500" cy="381000"/>
          </a:xfrm>
          <a:prstGeom prst="roundRect">
            <a:avLst>
              <a:gd name="adj" fmla="val 50000"/>
            </a:avLst>
          </a:prstGeom>
          <a:solidFill>
            <a:srgbClr val="0F1419"/>
          </a:solidFill>
          <a:ln w="14288">
            <a:solidFill>
              <a:srgbClr val="00D4FF"/>
            </a:solidFill>
          </a:ln>
        </p:spPr>
        <p:txBody>
          <a:bodyPr/>
          <a:lstStyle/>
          <a:p>
            <a:endParaRPr lang="zh-CN" altLang="en-US"/>
          </a:p>
        </p:txBody>
      </p:sp>
      <p:sp>
        <p:nvSpPr>
          <p:cNvPr id="68" name="TextBox 68"/>
          <p:cNvSpPr txBox="1"/>
          <p:nvPr/>
        </p:nvSpPr>
        <p:spPr>
          <a:xfrm>
            <a:off x="949452" y="5728335"/>
            <a:ext cx="958596" cy="243840"/>
          </a:xfrm>
          <a:prstGeom prst="rect">
            <a:avLst/>
          </a:prstGeom>
          <a:noFill/>
          <a:ln>
            <a:noFill/>
          </a:ln>
        </p:spPr>
        <p:txBody>
          <a:bodyPr wrap="none" lIns="0" tIns="0" rIns="0" bIns="0" anchor="t" anchorCtr="0">
            <a:spAutoFit/>
          </a:bodyPr>
          <a:lstStyle/>
          <a:p>
            <a:pPr algn="ctr"/>
            <a:r>
              <a:rPr lang="zh-CN" sz="1200" dirty="0">
                <a:solidFill>
                  <a:srgbClr val="00D4FF"/>
                </a:solidFill>
                <a:latin typeface="Arial" panose="020B0604020202020204"/>
                <a:ea typeface="微软雅黑" panose="020B0503020204020204" charset="-122"/>
                <a:cs typeface="Arial" panose="020B0604020202020204"/>
              </a:rPr>
              <a:t>Python 3.8+</a:t>
            </a:r>
          </a:p>
        </p:txBody>
      </p:sp>
      <p:sp>
        <p:nvSpPr>
          <p:cNvPr id="69" name="Rectangle 69"/>
          <p:cNvSpPr/>
          <p:nvPr/>
        </p:nvSpPr>
        <p:spPr>
          <a:xfrm>
            <a:off x="2286000" y="5619750"/>
            <a:ext cx="952500" cy="381000"/>
          </a:xfrm>
          <a:prstGeom prst="roundRect">
            <a:avLst>
              <a:gd name="adj" fmla="val 50000"/>
            </a:avLst>
          </a:prstGeom>
          <a:solidFill>
            <a:srgbClr val="0F1419"/>
          </a:solidFill>
          <a:ln w="14288">
            <a:solidFill>
              <a:srgbClr val="4ECDC4"/>
            </a:solidFill>
          </a:ln>
        </p:spPr>
        <p:txBody>
          <a:bodyPr/>
          <a:lstStyle/>
          <a:p>
            <a:endParaRPr lang="zh-CN" altLang="en-US"/>
          </a:p>
        </p:txBody>
      </p:sp>
      <p:sp>
        <p:nvSpPr>
          <p:cNvPr id="70" name="TextBox 70"/>
          <p:cNvSpPr txBox="1"/>
          <p:nvPr/>
        </p:nvSpPr>
        <p:spPr>
          <a:xfrm>
            <a:off x="2546985" y="5728335"/>
            <a:ext cx="430530" cy="243840"/>
          </a:xfrm>
          <a:prstGeom prst="rect">
            <a:avLst/>
          </a:prstGeom>
          <a:noFill/>
          <a:ln>
            <a:noFill/>
          </a:ln>
        </p:spPr>
        <p:txBody>
          <a:bodyPr wrap="none" lIns="0" tIns="0" rIns="0" bIns="0" anchor="t" anchorCtr="0">
            <a:spAutoFit/>
          </a:bodyPr>
          <a:lstStyle/>
          <a:p>
            <a:pPr algn="ctr"/>
            <a:r>
              <a:rPr lang="zh-CN" sz="1200" dirty="0">
                <a:solidFill>
                  <a:srgbClr val="4ECDC4"/>
                </a:solidFill>
                <a:latin typeface="Arial" panose="020B0604020202020204"/>
                <a:ea typeface="微软雅黑" panose="020B0503020204020204" charset="-122"/>
                <a:cs typeface="Arial" panose="020B0604020202020204"/>
              </a:rPr>
              <a:t>Sanic</a:t>
            </a:r>
          </a:p>
        </p:txBody>
      </p:sp>
      <p:sp>
        <p:nvSpPr>
          <p:cNvPr id="71" name="Rectangle 71"/>
          <p:cNvSpPr/>
          <p:nvPr/>
        </p:nvSpPr>
        <p:spPr>
          <a:xfrm>
            <a:off x="3429000" y="5619750"/>
            <a:ext cx="1143000" cy="381000"/>
          </a:xfrm>
          <a:prstGeom prst="roundRect">
            <a:avLst>
              <a:gd name="adj" fmla="val 50000"/>
            </a:avLst>
          </a:prstGeom>
          <a:solidFill>
            <a:srgbClr val="0F1419"/>
          </a:solidFill>
          <a:ln w="14288">
            <a:solidFill>
              <a:srgbClr val="FF6B35"/>
            </a:solidFill>
          </a:ln>
        </p:spPr>
        <p:txBody>
          <a:bodyPr/>
          <a:lstStyle/>
          <a:p>
            <a:endParaRPr lang="zh-CN" altLang="en-US"/>
          </a:p>
        </p:txBody>
      </p:sp>
      <p:sp>
        <p:nvSpPr>
          <p:cNvPr id="72" name="TextBox 72"/>
          <p:cNvSpPr txBox="1"/>
          <p:nvPr/>
        </p:nvSpPr>
        <p:spPr>
          <a:xfrm>
            <a:off x="3725227" y="5728335"/>
            <a:ext cx="550545" cy="243840"/>
          </a:xfrm>
          <a:prstGeom prst="rect">
            <a:avLst/>
          </a:prstGeom>
          <a:noFill/>
          <a:ln>
            <a:noFill/>
          </a:ln>
        </p:spPr>
        <p:txBody>
          <a:bodyPr wrap="none" lIns="0" tIns="0" rIns="0" bIns="0" anchor="t" anchorCtr="0">
            <a:spAutoFit/>
          </a:bodyPr>
          <a:lstStyle/>
          <a:p>
            <a:pPr algn="ctr"/>
            <a:r>
              <a:rPr lang="zh-CN" sz="1200" dirty="0">
                <a:solidFill>
                  <a:srgbClr val="FF6B35"/>
                </a:solidFill>
                <a:latin typeface="Arial" panose="020B0604020202020204"/>
                <a:ea typeface="微软雅黑" panose="020B0503020204020204" charset="-122"/>
                <a:cs typeface="Arial" panose="020B0604020202020204"/>
              </a:rPr>
              <a:t>SQLite</a:t>
            </a:r>
          </a:p>
        </p:txBody>
      </p:sp>
      <p:sp>
        <p:nvSpPr>
          <p:cNvPr id="73" name="Rectangle 73"/>
          <p:cNvSpPr/>
          <p:nvPr/>
        </p:nvSpPr>
        <p:spPr>
          <a:xfrm>
            <a:off x="4762500" y="5619750"/>
            <a:ext cx="1333500" cy="381000"/>
          </a:xfrm>
          <a:prstGeom prst="roundRect">
            <a:avLst>
              <a:gd name="adj" fmla="val 50000"/>
            </a:avLst>
          </a:prstGeom>
          <a:solidFill>
            <a:srgbClr val="0F1419"/>
          </a:solidFill>
          <a:ln w="14288">
            <a:solidFill>
              <a:srgbClr val="00D4FF"/>
            </a:solidFill>
          </a:ln>
        </p:spPr>
        <p:txBody>
          <a:bodyPr/>
          <a:lstStyle/>
          <a:p>
            <a:endParaRPr lang="zh-CN" altLang="en-US"/>
          </a:p>
        </p:txBody>
      </p:sp>
      <p:sp>
        <p:nvSpPr>
          <p:cNvPr id="74" name="TextBox 74"/>
          <p:cNvSpPr txBox="1"/>
          <p:nvPr/>
        </p:nvSpPr>
        <p:spPr>
          <a:xfrm>
            <a:off x="4837938" y="5728335"/>
            <a:ext cx="1182624" cy="243840"/>
          </a:xfrm>
          <a:prstGeom prst="rect">
            <a:avLst/>
          </a:prstGeom>
          <a:noFill/>
          <a:ln>
            <a:noFill/>
          </a:ln>
        </p:spPr>
        <p:txBody>
          <a:bodyPr wrap="none" lIns="0" tIns="0" rIns="0" bIns="0" anchor="t" anchorCtr="0">
            <a:spAutoFit/>
          </a:bodyPr>
          <a:lstStyle/>
          <a:p>
            <a:pPr algn="ctr"/>
            <a:r>
              <a:rPr lang="zh-CN" sz="1200" dirty="0">
                <a:solidFill>
                  <a:srgbClr val="00D4FF"/>
                </a:solidFill>
                <a:latin typeface="Arial" panose="020B0604020202020204"/>
                <a:ea typeface="微软雅黑" panose="020B0503020204020204" charset="-122"/>
                <a:cs typeface="Arial" panose="020B0604020202020204"/>
              </a:rPr>
              <a:t>BeautifulSoup4</a:t>
            </a:r>
          </a:p>
        </p:txBody>
      </p:sp>
      <p:sp>
        <p:nvSpPr>
          <p:cNvPr id="75" name="Rectangle 75"/>
          <p:cNvSpPr/>
          <p:nvPr/>
        </p:nvSpPr>
        <p:spPr>
          <a:xfrm>
            <a:off x="6286500" y="5619750"/>
            <a:ext cx="952500" cy="381000"/>
          </a:xfrm>
          <a:prstGeom prst="roundRect">
            <a:avLst>
              <a:gd name="adj" fmla="val 50000"/>
            </a:avLst>
          </a:prstGeom>
          <a:solidFill>
            <a:srgbClr val="0F1419"/>
          </a:solidFill>
          <a:ln w="14288">
            <a:solidFill>
              <a:srgbClr val="4ECDC4"/>
            </a:solidFill>
          </a:ln>
        </p:spPr>
        <p:txBody>
          <a:bodyPr/>
          <a:lstStyle/>
          <a:p>
            <a:endParaRPr lang="zh-CN" altLang="en-US"/>
          </a:p>
        </p:txBody>
      </p:sp>
      <p:sp>
        <p:nvSpPr>
          <p:cNvPr id="76" name="TextBox 76"/>
          <p:cNvSpPr txBox="1"/>
          <p:nvPr/>
        </p:nvSpPr>
        <p:spPr>
          <a:xfrm>
            <a:off x="6567488" y="5728335"/>
            <a:ext cx="390525" cy="243840"/>
          </a:xfrm>
          <a:prstGeom prst="rect">
            <a:avLst/>
          </a:prstGeom>
          <a:noFill/>
          <a:ln>
            <a:noFill/>
          </a:ln>
        </p:spPr>
        <p:txBody>
          <a:bodyPr wrap="none" lIns="0" tIns="0" rIns="0" bIns="0" anchor="t" anchorCtr="0">
            <a:spAutoFit/>
          </a:bodyPr>
          <a:lstStyle/>
          <a:p>
            <a:pPr algn="ctr"/>
            <a:r>
              <a:rPr lang="zh-CN" sz="1200" dirty="0">
                <a:solidFill>
                  <a:srgbClr val="4ECDC4"/>
                </a:solidFill>
                <a:latin typeface="Arial" panose="020B0604020202020204"/>
                <a:ea typeface="微软雅黑" panose="020B0503020204020204" charset="-122"/>
                <a:cs typeface="Arial" panose="020B0604020202020204"/>
              </a:rPr>
              <a:t>jieba</a:t>
            </a:r>
          </a:p>
        </p:txBody>
      </p:sp>
      <p:sp>
        <p:nvSpPr>
          <p:cNvPr id="77" name="Rectangle 77"/>
          <p:cNvSpPr/>
          <p:nvPr/>
        </p:nvSpPr>
        <p:spPr>
          <a:xfrm>
            <a:off x="7429500" y="5619750"/>
            <a:ext cx="1238250" cy="381000"/>
          </a:xfrm>
          <a:prstGeom prst="roundRect">
            <a:avLst>
              <a:gd name="adj" fmla="val 50000"/>
            </a:avLst>
          </a:prstGeom>
          <a:solidFill>
            <a:srgbClr val="0F1419"/>
          </a:solidFill>
          <a:ln w="14288">
            <a:solidFill>
              <a:srgbClr val="FF6B35"/>
            </a:solidFill>
          </a:ln>
        </p:spPr>
        <p:txBody>
          <a:bodyPr/>
          <a:lstStyle/>
          <a:p>
            <a:endParaRPr lang="zh-CN" altLang="en-US"/>
          </a:p>
        </p:txBody>
      </p:sp>
      <p:sp>
        <p:nvSpPr>
          <p:cNvPr id="78" name="TextBox 78"/>
          <p:cNvSpPr txBox="1"/>
          <p:nvPr/>
        </p:nvSpPr>
        <p:spPr>
          <a:xfrm>
            <a:off x="7641336" y="5728335"/>
            <a:ext cx="814578" cy="243840"/>
          </a:xfrm>
          <a:prstGeom prst="rect">
            <a:avLst/>
          </a:prstGeom>
          <a:noFill/>
          <a:ln>
            <a:noFill/>
          </a:ln>
        </p:spPr>
        <p:txBody>
          <a:bodyPr wrap="none" lIns="0" tIns="0" rIns="0" bIns="0" anchor="t" anchorCtr="0">
            <a:spAutoFit/>
          </a:bodyPr>
          <a:lstStyle/>
          <a:p>
            <a:pPr algn="ctr"/>
            <a:r>
              <a:rPr lang="zh-CN" sz="1200" dirty="0">
                <a:solidFill>
                  <a:srgbClr val="FF6B35"/>
                </a:solidFill>
                <a:latin typeface="Arial" panose="020B0604020202020204"/>
                <a:ea typeface="微软雅黑" panose="020B0503020204020204" charset="-122"/>
                <a:cs typeface="Arial" panose="020B0604020202020204"/>
              </a:rPr>
              <a:t>WordCloud</a:t>
            </a:r>
          </a:p>
        </p:txBody>
      </p:sp>
      <p:sp>
        <p:nvSpPr>
          <p:cNvPr id="79" name="Rectangle 79"/>
          <p:cNvSpPr/>
          <p:nvPr/>
        </p:nvSpPr>
        <p:spPr>
          <a:xfrm>
            <a:off x="8858250" y="5619750"/>
            <a:ext cx="1143000" cy="381000"/>
          </a:xfrm>
          <a:prstGeom prst="roundRect">
            <a:avLst>
              <a:gd name="adj" fmla="val 50000"/>
            </a:avLst>
          </a:prstGeom>
          <a:solidFill>
            <a:srgbClr val="0F1419"/>
          </a:solidFill>
          <a:ln w="14288">
            <a:solidFill>
              <a:srgbClr val="00D4FF"/>
            </a:solidFill>
          </a:ln>
        </p:spPr>
        <p:txBody>
          <a:bodyPr/>
          <a:lstStyle/>
          <a:p>
            <a:endParaRPr lang="zh-CN" altLang="en-US"/>
          </a:p>
        </p:txBody>
      </p:sp>
      <p:sp>
        <p:nvSpPr>
          <p:cNvPr id="80" name="TextBox 80"/>
          <p:cNvSpPr txBox="1"/>
          <p:nvPr/>
        </p:nvSpPr>
        <p:spPr>
          <a:xfrm>
            <a:off x="9110472" y="5728335"/>
            <a:ext cx="638556" cy="243840"/>
          </a:xfrm>
          <a:prstGeom prst="rect">
            <a:avLst/>
          </a:prstGeom>
          <a:noFill/>
          <a:ln>
            <a:noFill/>
          </a:ln>
        </p:spPr>
        <p:txBody>
          <a:bodyPr wrap="none" lIns="0" tIns="0" rIns="0" bIns="0" anchor="t" anchorCtr="0">
            <a:spAutoFit/>
          </a:bodyPr>
          <a:lstStyle/>
          <a:p>
            <a:pPr algn="ctr"/>
            <a:r>
              <a:rPr lang="zh-CN" sz="1200" dirty="0">
                <a:solidFill>
                  <a:srgbClr val="00D4FF"/>
                </a:solidFill>
                <a:latin typeface="Arial" panose="020B0604020202020204"/>
                <a:ea typeface="微软雅黑" panose="020B0503020204020204" charset="-122"/>
                <a:cs typeface="Arial" panose="020B0604020202020204"/>
              </a:rPr>
              <a:t>snownlp</a:t>
            </a:r>
          </a:p>
        </p:txBody>
      </p:sp>
      <p:sp>
        <p:nvSpPr>
          <p:cNvPr id="81" name="TextBox 81"/>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03 / 11</a:t>
            </a:r>
          </a:p>
        </p:txBody>
      </p:sp>
      <p:sp>
        <p:nvSpPr>
          <p:cNvPr id="82" name="Rectangle 82"/>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4" name="Rectangle 4"/>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5" name="TextBox 5"/>
          <p:cNvSpPr txBox="1"/>
          <p:nvPr/>
        </p:nvSpPr>
        <p:spPr>
          <a:xfrm>
            <a:off x="727710" y="356235"/>
            <a:ext cx="1580769"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系统架构</a:t>
            </a:r>
          </a:p>
        </p:txBody>
      </p:sp>
      <p:sp>
        <p:nvSpPr>
          <p:cNvPr id="6" name="TextBox 6"/>
          <p:cNvSpPr txBox="1"/>
          <p:nvPr/>
        </p:nvSpPr>
        <p:spPr>
          <a:xfrm>
            <a:off x="2364105" y="501968"/>
            <a:ext cx="1861518" cy="274320"/>
          </a:xfrm>
          <a:prstGeom prst="rect">
            <a:avLst/>
          </a:prstGeom>
          <a:noFill/>
          <a:ln>
            <a:noFill/>
          </a:ln>
        </p:spPr>
        <p:txBody>
          <a:bodyPr wrap="none" lIns="0" tIns="0" rIns="0" bIns="0" anchor="t" anchorCtr="0">
            <a:spAutoFit/>
          </a:bodyPr>
          <a:lstStyle/>
          <a:p>
            <a:pPr algn="l"/>
            <a:r>
              <a:rPr lang="zh-CN" sz="1350" dirty="0">
                <a:solidFill>
                  <a:srgbClr val="9AA0A6"/>
                </a:solidFill>
                <a:latin typeface="Arial" panose="020B0604020202020204"/>
                <a:ea typeface="微软雅黑" panose="020B0503020204020204" charset="-122"/>
                <a:cs typeface="Arial" panose="020B0604020202020204"/>
              </a:rPr>
              <a:t>System Architecture</a:t>
            </a:r>
          </a:p>
        </p:txBody>
      </p:sp>
      <p:sp>
        <p:nvSpPr>
          <p:cNvPr id="7" name="Rectangle 7"/>
          <p:cNvSpPr/>
          <p:nvPr/>
        </p:nvSpPr>
        <p:spPr>
          <a:xfrm>
            <a:off x="571500" y="1047750"/>
            <a:ext cx="11049000" cy="5334000"/>
          </a:xfrm>
          <a:prstGeom prst="roundRect">
            <a:avLst>
              <a:gd name="adj" fmla="val 2143"/>
            </a:avLst>
          </a:prstGeom>
          <a:solidFill>
            <a:srgbClr val="1A2332"/>
          </a:solidFill>
          <a:ln w="9525">
            <a:solidFill>
              <a:srgbClr val="2D3748"/>
            </a:solidFill>
          </a:ln>
        </p:spPr>
        <p:txBody>
          <a:bodyPr/>
          <a:lstStyle/>
          <a:p>
            <a:endParaRPr lang="zh-CN" altLang="en-US"/>
          </a:p>
        </p:txBody>
      </p:sp>
      <p:sp>
        <p:nvSpPr>
          <p:cNvPr id="8" name="Rectangle 8"/>
          <p:cNvSpPr/>
          <p:nvPr/>
        </p:nvSpPr>
        <p:spPr>
          <a:xfrm>
            <a:off x="952500" y="1428750"/>
            <a:ext cx="1905000" cy="762000"/>
          </a:xfrm>
          <a:prstGeom prst="roundRect">
            <a:avLst>
              <a:gd name="adj" fmla="val 10000"/>
            </a:avLst>
          </a:prstGeom>
          <a:solidFill>
            <a:srgbClr val="0F1419"/>
          </a:solidFill>
          <a:ln w="19050">
            <a:solidFill>
              <a:srgbClr val="00D4FF"/>
            </a:solidFill>
          </a:ln>
        </p:spPr>
        <p:txBody>
          <a:bodyPr/>
          <a:lstStyle/>
          <a:p>
            <a:endParaRPr lang="zh-CN" altLang="en-US"/>
          </a:p>
        </p:txBody>
      </p:sp>
      <p:sp>
        <p:nvSpPr>
          <p:cNvPr id="9" name="TextBox 9"/>
          <p:cNvSpPr txBox="1"/>
          <p:nvPr/>
        </p:nvSpPr>
        <p:spPr>
          <a:xfrm>
            <a:off x="1415296" y="1616392"/>
            <a:ext cx="979408" cy="274320"/>
          </a:xfrm>
          <a:prstGeom prst="rect">
            <a:avLst/>
          </a:prstGeom>
          <a:noFill/>
          <a:ln>
            <a:noFill/>
          </a:ln>
        </p:spPr>
        <p:txBody>
          <a:bodyPr wrap="none" lIns="0" tIns="0" rIns="0" bIns="0" anchor="t" anchorCtr="0">
            <a:spAutoFit/>
          </a:bodyPr>
          <a:lstStyle/>
          <a:p>
            <a:pPr algn="ctr"/>
            <a:r>
              <a:rPr lang="zh-CN" sz="1350" b="1" dirty="0">
                <a:solidFill>
                  <a:srgbClr val="00D4FF"/>
                </a:solidFill>
                <a:latin typeface="Arial" panose="020B0604020202020204"/>
                <a:ea typeface="微软雅黑" panose="020B0503020204020204" charset="-122"/>
                <a:cs typeface="Arial" panose="020B0604020202020204"/>
              </a:rPr>
              <a:t>用户浏览器</a:t>
            </a:r>
          </a:p>
        </p:txBody>
      </p:sp>
      <p:sp>
        <p:nvSpPr>
          <p:cNvPr id="10" name="TextBox 10"/>
          <p:cNvSpPr txBox="1"/>
          <p:nvPr/>
        </p:nvSpPr>
        <p:spPr>
          <a:xfrm>
            <a:off x="1611630" y="1886902"/>
            <a:ext cx="586740"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前端界面</a:t>
            </a:r>
          </a:p>
        </p:txBody>
      </p:sp>
      <p:sp>
        <p:nvSpPr>
          <p:cNvPr id="11" name="Line 11"/>
          <p:cNvSpPr/>
          <p:nvPr/>
        </p:nvSpPr>
        <p:spPr>
          <a:xfrm>
            <a:off x="2857500" y="1809750"/>
            <a:ext cx="762000" cy="9525"/>
          </a:xfrm>
          <a:custGeom>
            <a:avLst/>
            <a:gdLst/>
            <a:ahLst/>
            <a:cxnLst/>
            <a:rect l="l" t="t" r="r" b="b"/>
            <a:pathLst>
              <a:path w="762000" h="9525">
                <a:moveTo>
                  <a:pt x="0" y="0"/>
                </a:moveTo>
                <a:lnTo>
                  <a:pt x="762000" y="0"/>
                </a:lnTo>
              </a:path>
            </a:pathLst>
          </a:custGeom>
          <a:noFill/>
          <a:ln w="19050">
            <a:solidFill>
              <a:srgbClr val="00D4FF"/>
            </a:solidFill>
          </a:ln>
        </p:spPr>
        <p:txBody>
          <a:bodyPr/>
          <a:lstStyle/>
          <a:p>
            <a:endParaRPr lang="zh-CN" altLang="en-US"/>
          </a:p>
        </p:txBody>
      </p:sp>
      <p:sp>
        <p:nvSpPr>
          <p:cNvPr id="12" name="Polygon 12"/>
          <p:cNvSpPr/>
          <p:nvPr/>
        </p:nvSpPr>
        <p:spPr>
          <a:xfrm>
            <a:off x="3619500" y="1762125"/>
            <a:ext cx="95250" cy="95250"/>
          </a:xfrm>
          <a:custGeom>
            <a:avLst/>
            <a:gdLst/>
            <a:ahLst/>
            <a:cxnLst/>
            <a:rect l="l" t="t" r="r" b="b"/>
            <a:pathLst>
              <a:path w="95250" h="95250">
                <a:moveTo>
                  <a:pt x="0" y="0"/>
                </a:moveTo>
                <a:lnTo>
                  <a:pt x="95250" y="47625"/>
                </a:lnTo>
                <a:lnTo>
                  <a:pt x="0" y="95250"/>
                </a:lnTo>
                <a:close/>
              </a:path>
            </a:pathLst>
          </a:custGeom>
          <a:solidFill>
            <a:srgbClr val="00D4FF"/>
          </a:solidFill>
          <a:ln>
            <a:noFill/>
          </a:ln>
        </p:spPr>
        <p:txBody>
          <a:bodyPr/>
          <a:lstStyle/>
          <a:p>
            <a:endParaRPr lang="zh-CN" altLang="en-US"/>
          </a:p>
        </p:txBody>
      </p:sp>
      <p:sp>
        <p:nvSpPr>
          <p:cNvPr id="13" name="Rectangle 13"/>
          <p:cNvSpPr/>
          <p:nvPr/>
        </p:nvSpPr>
        <p:spPr>
          <a:xfrm>
            <a:off x="3810000" y="1428750"/>
            <a:ext cx="1905000" cy="762000"/>
          </a:xfrm>
          <a:prstGeom prst="roundRect">
            <a:avLst>
              <a:gd name="adj" fmla="val 10000"/>
            </a:avLst>
          </a:prstGeom>
          <a:solidFill>
            <a:srgbClr val="0F1419"/>
          </a:solidFill>
          <a:ln w="19050">
            <a:solidFill>
              <a:srgbClr val="4ECDC4"/>
            </a:solidFill>
          </a:ln>
        </p:spPr>
        <p:txBody>
          <a:bodyPr/>
          <a:lstStyle/>
          <a:p>
            <a:endParaRPr lang="zh-CN" altLang="en-US"/>
          </a:p>
        </p:txBody>
      </p:sp>
      <p:sp>
        <p:nvSpPr>
          <p:cNvPr id="14" name="TextBox 14"/>
          <p:cNvSpPr txBox="1"/>
          <p:nvPr/>
        </p:nvSpPr>
        <p:spPr>
          <a:xfrm>
            <a:off x="3993986" y="1616392"/>
            <a:ext cx="1537028" cy="274320"/>
          </a:xfrm>
          <a:prstGeom prst="rect">
            <a:avLst/>
          </a:prstGeom>
          <a:noFill/>
          <a:ln>
            <a:noFill/>
          </a:ln>
        </p:spPr>
        <p:txBody>
          <a:bodyPr wrap="none" lIns="0" tIns="0" rIns="0" bIns="0" anchor="t" anchorCtr="0">
            <a:spAutoFit/>
          </a:bodyPr>
          <a:lstStyle/>
          <a:p>
            <a:pPr algn="ctr"/>
            <a:r>
              <a:rPr lang="zh-CN" sz="1350" b="1" dirty="0">
                <a:solidFill>
                  <a:srgbClr val="4ECDC4"/>
                </a:solidFill>
                <a:latin typeface="Arial" panose="020B0604020202020204"/>
                <a:ea typeface="微软雅黑" panose="020B0503020204020204" charset="-122"/>
                <a:cs typeface="Arial" panose="020B0604020202020204"/>
              </a:rPr>
              <a:t>Sanic Web 服务器</a:t>
            </a:r>
          </a:p>
        </p:txBody>
      </p:sp>
      <p:sp>
        <p:nvSpPr>
          <p:cNvPr id="15" name="TextBox 15"/>
          <p:cNvSpPr txBox="1"/>
          <p:nvPr/>
        </p:nvSpPr>
        <p:spPr>
          <a:xfrm>
            <a:off x="4378119" y="1886902"/>
            <a:ext cx="768763"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RESTful API</a:t>
            </a:r>
          </a:p>
        </p:txBody>
      </p:sp>
      <p:sp>
        <p:nvSpPr>
          <p:cNvPr id="16" name="Line 16"/>
          <p:cNvSpPr/>
          <p:nvPr/>
        </p:nvSpPr>
        <p:spPr>
          <a:xfrm>
            <a:off x="5715000" y="1809750"/>
            <a:ext cx="762000" cy="9525"/>
          </a:xfrm>
          <a:custGeom>
            <a:avLst/>
            <a:gdLst/>
            <a:ahLst/>
            <a:cxnLst/>
            <a:rect l="l" t="t" r="r" b="b"/>
            <a:pathLst>
              <a:path w="762000" h="9525">
                <a:moveTo>
                  <a:pt x="0" y="0"/>
                </a:moveTo>
                <a:lnTo>
                  <a:pt x="762000" y="0"/>
                </a:lnTo>
              </a:path>
            </a:pathLst>
          </a:custGeom>
          <a:noFill/>
          <a:ln w="19050">
            <a:solidFill>
              <a:srgbClr val="4ECDC4"/>
            </a:solidFill>
          </a:ln>
        </p:spPr>
        <p:txBody>
          <a:bodyPr/>
          <a:lstStyle/>
          <a:p>
            <a:endParaRPr lang="zh-CN" altLang="en-US"/>
          </a:p>
        </p:txBody>
      </p:sp>
      <p:sp>
        <p:nvSpPr>
          <p:cNvPr id="17" name="Polygon 17"/>
          <p:cNvSpPr/>
          <p:nvPr/>
        </p:nvSpPr>
        <p:spPr>
          <a:xfrm>
            <a:off x="6477000" y="1762125"/>
            <a:ext cx="95250" cy="95250"/>
          </a:xfrm>
          <a:custGeom>
            <a:avLst/>
            <a:gdLst/>
            <a:ahLst/>
            <a:cxnLst/>
            <a:rect l="l" t="t" r="r" b="b"/>
            <a:pathLst>
              <a:path w="95250" h="95250">
                <a:moveTo>
                  <a:pt x="0" y="0"/>
                </a:moveTo>
                <a:lnTo>
                  <a:pt x="95250" y="47625"/>
                </a:lnTo>
                <a:lnTo>
                  <a:pt x="0" y="95250"/>
                </a:lnTo>
                <a:close/>
              </a:path>
            </a:pathLst>
          </a:custGeom>
          <a:solidFill>
            <a:srgbClr val="4ECDC4"/>
          </a:solidFill>
          <a:ln>
            <a:noFill/>
          </a:ln>
        </p:spPr>
        <p:txBody>
          <a:bodyPr/>
          <a:lstStyle/>
          <a:p>
            <a:endParaRPr lang="zh-CN" altLang="en-US"/>
          </a:p>
        </p:txBody>
      </p:sp>
      <p:sp>
        <p:nvSpPr>
          <p:cNvPr id="18" name="Rectangle 18"/>
          <p:cNvSpPr/>
          <p:nvPr/>
        </p:nvSpPr>
        <p:spPr>
          <a:xfrm>
            <a:off x="6667500" y="1428750"/>
            <a:ext cx="1905000" cy="762000"/>
          </a:xfrm>
          <a:prstGeom prst="roundRect">
            <a:avLst>
              <a:gd name="adj" fmla="val 10000"/>
            </a:avLst>
          </a:prstGeom>
          <a:solidFill>
            <a:srgbClr val="0F1419"/>
          </a:solidFill>
          <a:ln w="19050">
            <a:solidFill>
              <a:srgbClr val="FF6B35"/>
            </a:solidFill>
          </a:ln>
        </p:spPr>
        <p:txBody>
          <a:bodyPr/>
          <a:lstStyle/>
          <a:p>
            <a:endParaRPr lang="zh-CN" altLang="en-US"/>
          </a:p>
        </p:txBody>
      </p:sp>
      <p:sp>
        <p:nvSpPr>
          <p:cNvPr id="19" name="TextBox 19"/>
          <p:cNvSpPr txBox="1"/>
          <p:nvPr/>
        </p:nvSpPr>
        <p:spPr>
          <a:xfrm>
            <a:off x="7224808" y="1616392"/>
            <a:ext cx="790384" cy="274320"/>
          </a:xfrm>
          <a:prstGeom prst="rect">
            <a:avLst/>
          </a:prstGeom>
          <a:noFill/>
          <a:ln>
            <a:noFill/>
          </a:ln>
        </p:spPr>
        <p:txBody>
          <a:bodyPr wrap="none" lIns="0" tIns="0" rIns="0" bIns="0" anchor="t" anchorCtr="0">
            <a:spAutoFit/>
          </a:bodyPr>
          <a:lstStyle/>
          <a:p>
            <a:pPr algn="ctr"/>
            <a:r>
              <a:rPr lang="zh-CN" sz="1350" b="1" dirty="0">
                <a:solidFill>
                  <a:srgbClr val="FF6B35"/>
                </a:solidFill>
                <a:latin typeface="Arial" panose="020B0604020202020204"/>
                <a:ea typeface="微软雅黑" panose="020B0503020204020204" charset="-122"/>
                <a:cs typeface="Arial" panose="020B0604020202020204"/>
              </a:rPr>
              <a:t>任务管理</a:t>
            </a:r>
          </a:p>
        </p:txBody>
      </p:sp>
      <p:sp>
        <p:nvSpPr>
          <p:cNvPr id="20" name="TextBox 20"/>
          <p:cNvSpPr txBox="1"/>
          <p:nvPr/>
        </p:nvSpPr>
        <p:spPr>
          <a:xfrm>
            <a:off x="7239119" y="1886902"/>
            <a:ext cx="761762"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service.py</a:t>
            </a:r>
          </a:p>
        </p:txBody>
      </p:sp>
      <p:sp>
        <p:nvSpPr>
          <p:cNvPr id="21" name="Line 21"/>
          <p:cNvSpPr/>
          <p:nvPr/>
        </p:nvSpPr>
        <p:spPr>
          <a:xfrm>
            <a:off x="8572500" y="1809750"/>
            <a:ext cx="762000" cy="9525"/>
          </a:xfrm>
          <a:custGeom>
            <a:avLst/>
            <a:gdLst/>
            <a:ahLst/>
            <a:cxnLst/>
            <a:rect l="l" t="t" r="r" b="b"/>
            <a:pathLst>
              <a:path w="762000" h="9525">
                <a:moveTo>
                  <a:pt x="0" y="0"/>
                </a:moveTo>
                <a:lnTo>
                  <a:pt x="762000" y="0"/>
                </a:lnTo>
              </a:path>
            </a:pathLst>
          </a:custGeom>
          <a:noFill/>
          <a:ln w="19050">
            <a:solidFill>
              <a:srgbClr val="FF6B35"/>
            </a:solidFill>
          </a:ln>
        </p:spPr>
        <p:txBody>
          <a:bodyPr/>
          <a:lstStyle/>
          <a:p>
            <a:endParaRPr lang="zh-CN" altLang="en-US"/>
          </a:p>
        </p:txBody>
      </p:sp>
      <p:sp>
        <p:nvSpPr>
          <p:cNvPr id="22" name="Polygon 22"/>
          <p:cNvSpPr/>
          <p:nvPr/>
        </p:nvSpPr>
        <p:spPr>
          <a:xfrm>
            <a:off x="9334500" y="1762125"/>
            <a:ext cx="95250" cy="95250"/>
          </a:xfrm>
          <a:custGeom>
            <a:avLst/>
            <a:gdLst/>
            <a:ahLst/>
            <a:cxnLst/>
            <a:rect l="l" t="t" r="r" b="b"/>
            <a:pathLst>
              <a:path w="95250" h="95250">
                <a:moveTo>
                  <a:pt x="0" y="0"/>
                </a:moveTo>
                <a:lnTo>
                  <a:pt x="95250" y="47625"/>
                </a:lnTo>
                <a:lnTo>
                  <a:pt x="0" y="95250"/>
                </a:lnTo>
                <a:close/>
              </a:path>
            </a:pathLst>
          </a:custGeom>
          <a:solidFill>
            <a:srgbClr val="FF6B35"/>
          </a:solidFill>
          <a:ln>
            <a:noFill/>
          </a:ln>
        </p:spPr>
        <p:txBody>
          <a:bodyPr/>
          <a:lstStyle/>
          <a:p>
            <a:endParaRPr lang="zh-CN" altLang="en-US"/>
          </a:p>
        </p:txBody>
      </p:sp>
      <p:sp>
        <p:nvSpPr>
          <p:cNvPr id="23" name="Rectangle 23"/>
          <p:cNvSpPr/>
          <p:nvPr/>
        </p:nvSpPr>
        <p:spPr>
          <a:xfrm>
            <a:off x="9525000" y="1428750"/>
            <a:ext cx="1714500" cy="762000"/>
          </a:xfrm>
          <a:prstGeom prst="roundRect">
            <a:avLst>
              <a:gd name="adj" fmla="val 10000"/>
            </a:avLst>
          </a:prstGeom>
          <a:solidFill>
            <a:srgbClr val="0F1419"/>
          </a:solidFill>
          <a:ln w="19050">
            <a:solidFill>
              <a:srgbClr val="00D4FF"/>
            </a:solidFill>
          </a:ln>
        </p:spPr>
        <p:txBody>
          <a:bodyPr/>
          <a:lstStyle/>
          <a:p>
            <a:endParaRPr lang="zh-CN" altLang="en-US"/>
          </a:p>
        </p:txBody>
      </p:sp>
      <p:sp>
        <p:nvSpPr>
          <p:cNvPr id="24" name="TextBox 24"/>
          <p:cNvSpPr txBox="1"/>
          <p:nvPr/>
        </p:nvSpPr>
        <p:spPr>
          <a:xfrm>
            <a:off x="9816936" y="1616392"/>
            <a:ext cx="1130627" cy="274320"/>
          </a:xfrm>
          <a:prstGeom prst="rect">
            <a:avLst/>
          </a:prstGeom>
          <a:noFill/>
          <a:ln>
            <a:noFill/>
          </a:ln>
        </p:spPr>
        <p:txBody>
          <a:bodyPr wrap="none" lIns="0" tIns="0" rIns="0" bIns="0" anchor="t" anchorCtr="0">
            <a:spAutoFit/>
          </a:bodyPr>
          <a:lstStyle/>
          <a:p>
            <a:pPr algn="ctr"/>
            <a:r>
              <a:rPr lang="zh-CN" sz="1350" b="1" dirty="0">
                <a:solidFill>
                  <a:srgbClr val="00D4FF"/>
                </a:solidFill>
                <a:latin typeface="Arial" panose="020B0604020202020204"/>
                <a:ea typeface="微软雅黑" panose="020B0503020204020204" charset="-122"/>
                <a:cs typeface="Arial" panose="020B0604020202020204"/>
              </a:rPr>
              <a:t>爬虫 Worker</a:t>
            </a:r>
          </a:p>
        </p:txBody>
      </p:sp>
      <p:sp>
        <p:nvSpPr>
          <p:cNvPr id="25" name="TextBox 25"/>
          <p:cNvSpPr txBox="1"/>
          <p:nvPr/>
        </p:nvSpPr>
        <p:spPr>
          <a:xfrm>
            <a:off x="10008370" y="1886902"/>
            <a:ext cx="747760"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worker.py</a:t>
            </a:r>
          </a:p>
        </p:txBody>
      </p:sp>
      <p:sp>
        <p:nvSpPr>
          <p:cNvPr id="26" name="Rectangle 26"/>
          <p:cNvSpPr/>
          <p:nvPr/>
        </p:nvSpPr>
        <p:spPr>
          <a:xfrm>
            <a:off x="1905000" y="2857500"/>
            <a:ext cx="8572500" cy="762000"/>
          </a:xfrm>
          <a:prstGeom prst="roundRect">
            <a:avLst>
              <a:gd name="adj" fmla="val 10000"/>
            </a:avLst>
          </a:prstGeom>
          <a:solidFill>
            <a:srgbClr val="0F1419"/>
          </a:solidFill>
          <a:ln w="19050">
            <a:solidFill>
              <a:srgbClr val="4ECDC4"/>
            </a:solidFill>
            <a:custDash>
              <a:ds d="250000" sp="250000"/>
            </a:custDash>
          </a:ln>
        </p:spPr>
        <p:txBody>
          <a:bodyPr/>
          <a:lstStyle/>
          <a:p>
            <a:endParaRPr lang="zh-CN" altLang="en-US"/>
          </a:p>
        </p:txBody>
      </p:sp>
      <p:sp>
        <p:nvSpPr>
          <p:cNvPr id="27" name="TextBox 27"/>
          <p:cNvSpPr txBox="1"/>
          <p:nvPr/>
        </p:nvSpPr>
        <p:spPr>
          <a:xfrm>
            <a:off x="5647134" y="3028950"/>
            <a:ext cx="1088231" cy="304800"/>
          </a:xfrm>
          <a:prstGeom prst="rect">
            <a:avLst/>
          </a:prstGeom>
          <a:noFill/>
          <a:ln>
            <a:noFill/>
          </a:ln>
        </p:spPr>
        <p:txBody>
          <a:bodyPr wrap="none" lIns="0" tIns="0" rIns="0" bIns="0" anchor="t" anchorCtr="0">
            <a:spAutoFit/>
          </a:bodyPr>
          <a:lstStyle/>
          <a:p>
            <a:pPr algn="ctr"/>
            <a:r>
              <a:rPr lang="zh-CN" sz="1500" b="1" dirty="0">
                <a:solidFill>
                  <a:srgbClr val="4ECDC4"/>
                </a:solidFill>
                <a:latin typeface="Arial" panose="020B0604020202020204"/>
                <a:ea typeface="微软雅黑" panose="020B0503020204020204" charset="-122"/>
                <a:cs typeface="Arial" panose="020B0604020202020204"/>
              </a:rPr>
              <a:t>数据处理层</a:t>
            </a:r>
          </a:p>
        </p:txBody>
      </p:sp>
      <p:sp>
        <p:nvSpPr>
          <p:cNvPr id="28" name="TextBox 28"/>
          <p:cNvSpPr txBox="1"/>
          <p:nvPr/>
        </p:nvSpPr>
        <p:spPr>
          <a:xfrm>
            <a:off x="4728734" y="3315652"/>
            <a:ext cx="2925032"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cleaning.py - 数据清洗、词云生成、情感分析</a:t>
            </a:r>
          </a:p>
        </p:txBody>
      </p:sp>
      <p:sp>
        <p:nvSpPr>
          <p:cNvPr id="29" name="Line 29"/>
          <p:cNvSpPr/>
          <p:nvPr/>
        </p:nvSpPr>
        <p:spPr>
          <a:xfrm>
            <a:off x="10382250" y="2190750"/>
            <a:ext cx="9525" cy="381000"/>
          </a:xfrm>
          <a:custGeom>
            <a:avLst/>
            <a:gdLst/>
            <a:ahLst/>
            <a:cxnLst/>
            <a:rect l="l" t="t" r="r" b="b"/>
            <a:pathLst>
              <a:path w="9525" h="381000">
                <a:moveTo>
                  <a:pt x="0" y="0"/>
                </a:moveTo>
                <a:lnTo>
                  <a:pt x="0" y="381000"/>
                </a:lnTo>
              </a:path>
            </a:pathLst>
          </a:custGeom>
          <a:noFill/>
          <a:ln w="19050">
            <a:solidFill>
              <a:srgbClr val="00D4FF"/>
            </a:solidFill>
          </a:ln>
        </p:spPr>
        <p:txBody>
          <a:bodyPr/>
          <a:lstStyle/>
          <a:p>
            <a:endParaRPr lang="zh-CN" altLang="en-US"/>
          </a:p>
        </p:txBody>
      </p:sp>
      <p:sp>
        <p:nvSpPr>
          <p:cNvPr id="30" name="Line 30"/>
          <p:cNvSpPr/>
          <p:nvPr/>
        </p:nvSpPr>
        <p:spPr>
          <a:xfrm>
            <a:off x="6191250" y="2571750"/>
            <a:ext cx="4191000" cy="9525"/>
          </a:xfrm>
          <a:custGeom>
            <a:avLst/>
            <a:gdLst/>
            <a:ahLst/>
            <a:cxnLst/>
            <a:rect l="l" t="t" r="r" b="b"/>
            <a:pathLst>
              <a:path w="4191000" h="9525">
                <a:moveTo>
                  <a:pt x="4191000" y="0"/>
                </a:moveTo>
                <a:lnTo>
                  <a:pt x="0" y="0"/>
                </a:lnTo>
              </a:path>
            </a:pathLst>
          </a:custGeom>
          <a:noFill/>
          <a:ln w="19050">
            <a:solidFill>
              <a:srgbClr val="00D4FF"/>
            </a:solidFill>
            <a:custDash>
              <a:ds d="250000" sp="250000"/>
            </a:custDash>
          </a:ln>
        </p:spPr>
        <p:txBody>
          <a:bodyPr/>
          <a:lstStyle/>
          <a:p>
            <a:endParaRPr lang="zh-CN" altLang="en-US"/>
          </a:p>
        </p:txBody>
      </p:sp>
      <p:sp>
        <p:nvSpPr>
          <p:cNvPr id="31" name="Line 31"/>
          <p:cNvSpPr/>
          <p:nvPr/>
        </p:nvSpPr>
        <p:spPr>
          <a:xfrm>
            <a:off x="6191250" y="2571750"/>
            <a:ext cx="9525" cy="285750"/>
          </a:xfrm>
          <a:custGeom>
            <a:avLst/>
            <a:gdLst/>
            <a:ahLst/>
            <a:cxnLst/>
            <a:rect l="l" t="t" r="r" b="b"/>
            <a:pathLst>
              <a:path w="9525" h="285750">
                <a:moveTo>
                  <a:pt x="0" y="0"/>
                </a:moveTo>
                <a:lnTo>
                  <a:pt x="0" y="285750"/>
                </a:lnTo>
              </a:path>
            </a:pathLst>
          </a:custGeom>
          <a:noFill/>
          <a:ln w="19050">
            <a:solidFill>
              <a:srgbClr val="00D4FF"/>
            </a:solidFill>
          </a:ln>
        </p:spPr>
        <p:txBody>
          <a:bodyPr/>
          <a:lstStyle/>
          <a:p>
            <a:endParaRPr lang="zh-CN" altLang="en-US"/>
          </a:p>
        </p:txBody>
      </p:sp>
      <p:sp>
        <p:nvSpPr>
          <p:cNvPr id="32" name="Polygon 32"/>
          <p:cNvSpPr/>
          <p:nvPr/>
        </p:nvSpPr>
        <p:spPr>
          <a:xfrm>
            <a:off x="6143625" y="2857500"/>
            <a:ext cx="95250" cy="95250"/>
          </a:xfrm>
          <a:custGeom>
            <a:avLst/>
            <a:gdLst/>
            <a:ahLst/>
            <a:cxnLst/>
            <a:rect l="l" t="t" r="r" b="b"/>
            <a:pathLst>
              <a:path w="95250" h="95250">
                <a:moveTo>
                  <a:pt x="0" y="0"/>
                </a:moveTo>
                <a:lnTo>
                  <a:pt x="47625" y="95250"/>
                </a:lnTo>
                <a:lnTo>
                  <a:pt x="95250" y="0"/>
                </a:lnTo>
                <a:close/>
              </a:path>
            </a:pathLst>
          </a:custGeom>
          <a:solidFill>
            <a:srgbClr val="00D4FF"/>
          </a:solidFill>
          <a:ln>
            <a:noFill/>
          </a:ln>
        </p:spPr>
        <p:txBody>
          <a:bodyPr/>
          <a:lstStyle/>
          <a:p>
            <a:endParaRPr lang="zh-CN" altLang="en-US"/>
          </a:p>
        </p:txBody>
      </p:sp>
      <p:sp>
        <p:nvSpPr>
          <p:cNvPr id="33" name="Rectangle 33"/>
          <p:cNvSpPr/>
          <p:nvPr/>
        </p:nvSpPr>
        <p:spPr>
          <a:xfrm>
            <a:off x="1905000" y="4191000"/>
            <a:ext cx="3810000" cy="952500"/>
          </a:xfrm>
          <a:prstGeom prst="roundRect">
            <a:avLst>
              <a:gd name="adj" fmla="val 8000"/>
            </a:avLst>
          </a:prstGeom>
          <a:solidFill>
            <a:srgbClr val="0F1419"/>
          </a:solidFill>
          <a:ln w="19050">
            <a:solidFill>
              <a:srgbClr val="FF6B35"/>
            </a:solidFill>
          </a:ln>
        </p:spPr>
        <p:txBody>
          <a:bodyPr/>
          <a:lstStyle/>
          <a:p>
            <a:endParaRPr lang="zh-CN" altLang="en-US"/>
          </a:p>
        </p:txBody>
      </p:sp>
      <p:sp>
        <p:nvSpPr>
          <p:cNvPr id="34" name="TextBox 34"/>
          <p:cNvSpPr txBox="1"/>
          <p:nvPr/>
        </p:nvSpPr>
        <p:spPr>
          <a:xfrm>
            <a:off x="3320296" y="4426268"/>
            <a:ext cx="979408" cy="274320"/>
          </a:xfrm>
          <a:prstGeom prst="rect">
            <a:avLst/>
          </a:prstGeom>
          <a:noFill/>
          <a:ln>
            <a:noFill/>
          </a:ln>
        </p:spPr>
        <p:txBody>
          <a:bodyPr wrap="none" lIns="0" tIns="0" rIns="0" bIns="0" anchor="t" anchorCtr="0">
            <a:spAutoFit/>
          </a:bodyPr>
          <a:lstStyle/>
          <a:p>
            <a:pPr algn="ctr"/>
            <a:r>
              <a:rPr lang="zh-CN" sz="1350" b="1" dirty="0">
                <a:solidFill>
                  <a:srgbClr val="FF6B35"/>
                </a:solidFill>
                <a:latin typeface="Arial" panose="020B0604020202020204"/>
                <a:ea typeface="微软雅黑" panose="020B0503020204020204" charset="-122"/>
                <a:cs typeface="Arial" panose="020B0604020202020204"/>
              </a:rPr>
              <a:t>可视化展示</a:t>
            </a:r>
          </a:p>
        </p:txBody>
      </p:sp>
      <p:sp>
        <p:nvSpPr>
          <p:cNvPr id="35" name="TextBox 35"/>
          <p:cNvSpPr txBox="1"/>
          <p:nvPr/>
        </p:nvSpPr>
        <p:spPr>
          <a:xfrm>
            <a:off x="3086076" y="4744402"/>
            <a:ext cx="1447848"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词云图 + 情感分析饼图</a:t>
            </a:r>
          </a:p>
        </p:txBody>
      </p:sp>
      <p:sp>
        <p:nvSpPr>
          <p:cNvPr id="36" name="Line 36"/>
          <p:cNvSpPr/>
          <p:nvPr/>
        </p:nvSpPr>
        <p:spPr>
          <a:xfrm>
            <a:off x="4286250" y="3619500"/>
            <a:ext cx="9525" cy="285750"/>
          </a:xfrm>
          <a:custGeom>
            <a:avLst/>
            <a:gdLst/>
            <a:ahLst/>
            <a:cxnLst/>
            <a:rect l="l" t="t" r="r" b="b"/>
            <a:pathLst>
              <a:path w="9525" h="285750">
                <a:moveTo>
                  <a:pt x="0" y="0"/>
                </a:moveTo>
                <a:lnTo>
                  <a:pt x="0" y="285750"/>
                </a:lnTo>
              </a:path>
            </a:pathLst>
          </a:custGeom>
          <a:noFill/>
          <a:ln w="19050">
            <a:solidFill>
              <a:srgbClr val="4ECDC4"/>
            </a:solidFill>
          </a:ln>
        </p:spPr>
        <p:txBody>
          <a:bodyPr/>
          <a:lstStyle/>
          <a:p>
            <a:endParaRPr lang="zh-CN" altLang="en-US"/>
          </a:p>
        </p:txBody>
      </p:sp>
      <p:sp>
        <p:nvSpPr>
          <p:cNvPr id="37" name="Line 37"/>
          <p:cNvSpPr/>
          <p:nvPr/>
        </p:nvSpPr>
        <p:spPr>
          <a:xfrm>
            <a:off x="3810000" y="3905250"/>
            <a:ext cx="476250" cy="9525"/>
          </a:xfrm>
          <a:custGeom>
            <a:avLst/>
            <a:gdLst/>
            <a:ahLst/>
            <a:cxnLst/>
            <a:rect l="l" t="t" r="r" b="b"/>
            <a:pathLst>
              <a:path w="476250" h="9525">
                <a:moveTo>
                  <a:pt x="476250" y="0"/>
                </a:moveTo>
                <a:lnTo>
                  <a:pt x="0" y="0"/>
                </a:lnTo>
              </a:path>
            </a:pathLst>
          </a:custGeom>
          <a:noFill/>
          <a:ln w="19050">
            <a:solidFill>
              <a:srgbClr val="4ECDC4"/>
            </a:solidFill>
            <a:custDash>
              <a:ds d="250000" sp="250000"/>
            </a:custDash>
          </a:ln>
        </p:spPr>
        <p:txBody>
          <a:bodyPr/>
          <a:lstStyle/>
          <a:p>
            <a:endParaRPr lang="zh-CN" altLang="en-US"/>
          </a:p>
        </p:txBody>
      </p:sp>
      <p:sp>
        <p:nvSpPr>
          <p:cNvPr id="38" name="Line 38"/>
          <p:cNvSpPr/>
          <p:nvPr/>
        </p:nvSpPr>
        <p:spPr>
          <a:xfrm>
            <a:off x="3810000" y="3905250"/>
            <a:ext cx="9525" cy="285750"/>
          </a:xfrm>
          <a:custGeom>
            <a:avLst/>
            <a:gdLst/>
            <a:ahLst/>
            <a:cxnLst/>
            <a:rect l="l" t="t" r="r" b="b"/>
            <a:pathLst>
              <a:path w="9525" h="285750">
                <a:moveTo>
                  <a:pt x="0" y="0"/>
                </a:moveTo>
                <a:lnTo>
                  <a:pt x="0" y="285750"/>
                </a:lnTo>
              </a:path>
            </a:pathLst>
          </a:custGeom>
          <a:noFill/>
          <a:ln w="19050">
            <a:solidFill>
              <a:srgbClr val="4ECDC4"/>
            </a:solidFill>
          </a:ln>
        </p:spPr>
        <p:txBody>
          <a:bodyPr/>
          <a:lstStyle/>
          <a:p>
            <a:endParaRPr lang="zh-CN" altLang="en-US"/>
          </a:p>
        </p:txBody>
      </p:sp>
      <p:sp>
        <p:nvSpPr>
          <p:cNvPr id="39" name="Polygon 39"/>
          <p:cNvSpPr/>
          <p:nvPr/>
        </p:nvSpPr>
        <p:spPr>
          <a:xfrm>
            <a:off x="3762375" y="4191000"/>
            <a:ext cx="95250" cy="95250"/>
          </a:xfrm>
          <a:custGeom>
            <a:avLst/>
            <a:gdLst/>
            <a:ahLst/>
            <a:cxnLst/>
            <a:rect l="l" t="t" r="r" b="b"/>
            <a:pathLst>
              <a:path w="95250" h="95250">
                <a:moveTo>
                  <a:pt x="0" y="0"/>
                </a:moveTo>
                <a:lnTo>
                  <a:pt x="47625" y="95250"/>
                </a:lnTo>
                <a:lnTo>
                  <a:pt x="95250" y="0"/>
                </a:lnTo>
                <a:close/>
              </a:path>
            </a:pathLst>
          </a:custGeom>
          <a:solidFill>
            <a:srgbClr val="4ECDC4"/>
          </a:solidFill>
          <a:ln>
            <a:noFill/>
          </a:ln>
        </p:spPr>
        <p:txBody>
          <a:bodyPr/>
          <a:lstStyle/>
          <a:p>
            <a:endParaRPr lang="zh-CN" altLang="en-US"/>
          </a:p>
        </p:txBody>
      </p:sp>
      <p:sp>
        <p:nvSpPr>
          <p:cNvPr id="40" name="Rectangle 40"/>
          <p:cNvSpPr/>
          <p:nvPr/>
        </p:nvSpPr>
        <p:spPr>
          <a:xfrm>
            <a:off x="6667500" y="4191000"/>
            <a:ext cx="3810000" cy="952500"/>
          </a:xfrm>
          <a:prstGeom prst="roundRect">
            <a:avLst>
              <a:gd name="adj" fmla="val 8000"/>
            </a:avLst>
          </a:prstGeom>
          <a:solidFill>
            <a:srgbClr val="0F1419"/>
          </a:solidFill>
          <a:ln w="19050">
            <a:solidFill>
              <a:srgbClr val="00D4FF"/>
            </a:solidFill>
          </a:ln>
        </p:spPr>
        <p:txBody>
          <a:bodyPr/>
          <a:lstStyle/>
          <a:p>
            <a:endParaRPr lang="zh-CN" altLang="en-US"/>
          </a:p>
        </p:txBody>
      </p:sp>
      <p:sp>
        <p:nvSpPr>
          <p:cNvPr id="41" name="TextBox 41"/>
          <p:cNvSpPr txBox="1"/>
          <p:nvPr/>
        </p:nvSpPr>
        <p:spPr>
          <a:xfrm>
            <a:off x="8177308" y="4426268"/>
            <a:ext cx="790384" cy="274320"/>
          </a:xfrm>
          <a:prstGeom prst="rect">
            <a:avLst/>
          </a:prstGeom>
          <a:noFill/>
          <a:ln>
            <a:noFill/>
          </a:ln>
        </p:spPr>
        <p:txBody>
          <a:bodyPr wrap="none" lIns="0" tIns="0" rIns="0" bIns="0" anchor="t" anchorCtr="0">
            <a:spAutoFit/>
          </a:bodyPr>
          <a:lstStyle/>
          <a:p>
            <a:pPr algn="ctr"/>
            <a:r>
              <a:rPr lang="zh-CN" sz="1350" b="1" dirty="0">
                <a:solidFill>
                  <a:srgbClr val="00D4FF"/>
                </a:solidFill>
                <a:latin typeface="Arial" panose="020B0604020202020204"/>
                <a:ea typeface="微软雅黑" panose="020B0503020204020204" charset="-122"/>
                <a:cs typeface="Arial" panose="020B0604020202020204"/>
              </a:rPr>
              <a:t>结果导出</a:t>
            </a:r>
          </a:p>
        </p:txBody>
      </p:sp>
      <p:sp>
        <p:nvSpPr>
          <p:cNvPr id="42" name="TextBox 42"/>
          <p:cNvSpPr txBox="1"/>
          <p:nvPr/>
        </p:nvSpPr>
        <p:spPr>
          <a:xfrm>
            <a:off x="8034099" y="4744402"/>
            <a:ext cx="1076801"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JSON / CSV 格式</a:t>
            </a:r>
          </a:p>
        </p:txBody>
      </p:sp>
      <p:sp>
        <p:nvSpPr>
          <p:cNvPr id="43" name="Line 43"/>
          <p:cNvSpPr/>
          <p:nvPr/>
        </p:nvSpPr>
        <p:spPr>
          <a:xfrm>
            <a:off x="8096250" y="3619500"/>
            <a:ext cx="9525" cy="285750"/>
          </a:xfrm>
          <a:custGeom>
            <a:avLst/>
            <a:gdLst/>
            <a:ahLst/>
            <a:cxnLst/>
            <a:rect l="l" t="t" r="r" b="b"/>
            <a:pathLst>
              <a:path w="9525" h="285750">
                <a:moveTo>
                  <a:pt x="0" y="0"/>
                </a:moveTo>
                <a:lnTo>
                  <a:pt x="0" y="285750"/>
                </a:lnTo>
              </a:path>
            </a:pathLst>
          </a:custGeom>
          <a:noFill/>
          <a:ln w="19050">
            <a:solidFill>
              <a:srgbClr val="4ECDC4"/>
            </a:solidFill>
          </a:ln>
        </p:spPr>
        <p:txBody>
          <a:bodyPr/>
          <a:lstStyle/>
          <a:p>
            <a:endParaRPr lang="zh-CN" altLang="en-US"/>
          </a:p>
        </p:txBody>
      </p:sp>
      <p:sp>
        <p:nvSpPr>
          <p:cNvPr id="44" name="Line 44"/>
          <p:cNvSpPr/>
          <p:nvPr/>
        </p:nvSpPr>
        <p:spPr>
          <a:xfrm>
            <a:off x="8096250" y="3905250"/>
            <a:ext cx="476250" cy="9525"/>
          </a:xfrm>
          <a:custGeom>
            <a:avLst/>
            <a:gdLst/>
            <a:ahLst/>
            <a:cxnLst/>
            <a:rect l="l" t="t" r="r" b="b"/>
            <a:pathLst>
              <a:path w="476250" h="9525">
                <a:moveTo>
                  <a:pt x="0" y="0"/>
                </a:moveTo>
                <a:lnTo>
                  <a:pt x="476250" y="0"/>
                </a:lnTo>
              </a:path>
            </a:pathLst>
          </a:custGeom>
          <a:noFill/>
          <a:ln w="19050">
            <a:solidFill>
              <a:srgbClr val="4ECDC4"/>
            </a:solidFill>
            <a:custDash>
              <a:ds d="250000" sp="250000"/>
            </a:custDash>
          </a:ln>
        </p:spPr>
        <p:txBody>
          <a:bodyPr/>
          <a:lstStyle/>
          <a:p>
            <a:endParaRPr lang="zh-CN" altLang="en-US"/>
          </a:p>
        </p:txBody>
      </p:sp>
      <p:sp>
        <p:nvSpPr>
          <p:cNvPr id="45" name="Line 45"/>
          <p:cNvSpPr/>
          <p:nvPr/>
        </p:nvSpPr>
        <p:spPr>
          <a:xfrm>
            <a:off x="8572500" y="3905250"/>
            <a:ext cx="9525" cy="285750"/>
          </a:xfrm>
          <a:custGeom>
            <a:avLst/>
            <a:gdLst/>
            <a:ahLst/>
            <a:cxnLst/>
            <a:rect l="l" t="t" r="r" b="b"/>
            <a:pathLst>
              <a:path w="9525" h="285750">
                <a:moveTo>
                  <a:pt x="0" y="0"/>
                </a:moveTo>
                <a:lnTo>
                  <a:pt x="0" y="285750"/>
                </a:lnTo>
              </a:path>
            </a:pathLst>
          </a:custGeom>
          <a:noFill/>
          <a:ln w="19050">
            <a:solidFill>
              <a:srgbClr val="4ECDC4"/>
            </a:solidFill>
          </a:ln>
        </p:spPr>
        <p:txBody>
          <a:bodyPr/>
          <a:lstStyle/>
          <a:p>
            <a:endParaRPr lang="zh-CN" altLang="en-US"/>
          </a:p>
        </p:txBody>
      </p:sp>
      <p:sp>
        <p:nvSpPr>
          <p:cNvPr id="46" name="Polygon 46"/>
          <p:cNvSpPr/>
          <p:nvPr/>
        </p:nvSpPr>
        <p:spPr>
          <a:xfrm>
            <a:off x="8524875" y="4191000"/>
            <a:ext cx="95250" cy="95250"/>
          </a:xfrm>
          <a:custGeom>
            <a:avLst/>
            <a:gdLst/>
            <a:ahLst/>
            <a:cxnLst/>
            <a:rect l="l" t="t" r="r" b="b"/>
            <a:pathLst>
              <a:path w="95250" h="95250">
                <a:moveTo>
                  <a:pt x="0" y="0"/>
                </a:moveTo>
                <a:lnTo>
                  <a:pt x="47625" y="95250"/>
                </a:lnTo>
                <a:lnTo>
                  <a:pt x="95250" y="0"/>
                </a:lnTo>
                <a:close/>
              </a:path>
            </a:pathLst>
          </a:custGeom>
          <a:solidFill>
            <a:srgbClr val="4ECDC4"/>
          </a:solidFill>
          <a:ln>
            <a:noFill/>
          </a:ln>
        </p:spPr>
        <p:txBody>
          <a:bodyPr/>
          <a:lstStyle/>
          <a:p>
            <a:endParaRPr lang="zh-CN" altLang="en-US"/>
          </a:p>
        </p:txBody>
      </p:sp>
      <p:sp>
        <p:nvSpPr>
          <p:cNvPr id="47" name="Rectangle 47"/>
          <p:cNvSpPr/>
          <p:nvPr/>
        </p:nvSpPr>
        <p:spPr>
          <a:xfrm>
            <a:off x="3810000" y="5715000"/>
            <a:ext cx="4762500" cy="571500"/>
          </a:xfrm>
          <a:prstGeom prst="roundRect">
            <a:avLst>
              <a:gd name="adj" fmla="val 13333"/>
            </a:avLst>
          </a:prstGeom>
          <a:solidFill>
            <a:srgbClr val="0F1419"/>
          </a:solidFill>
          <a:ln w="19050">
            <a:solidFill>
              <a:srgbClr val="FF6B35"/>
            </a:solidFill>
          </a:ln>
        </p:spPr>
        <p:txBody>
          <a:bodyPr/>
          <a:lstStyle/>
          <a:p>
            <a:endParaRPr lang="zh-CN" altLang="en-US"/>
          </a:p>
        </p:txBody>
      </p:sp>
      <p:sp>
        <p:nvSpPr>
          <p:cNvPr id="48" name="TextBox 48"/>
          <p:cNvSpPr txBox="1"/>
          <p:nvPr/>
        </p:nvSpPr>
        <p:spPr>
          <a:xfrm>
            <a:off x="5484364" y="5886450"/>
            <a:ext cx="1413772" cy="304800"/>
          </a:xfrm>
          <a:prstGeom prst="rect">
            <a:avLst/>
          </a:prstGeom>
          <a:noFill/>
          <a:ln>
            <a:noFill/>
          </a:ln>
        </p:spPr>
        <p:txBody>
          <a:bodyPr wrap="none" lIns="0" tIns="0" rIns="0" bIns="0" anchor="t" anchorCtr="0">
            <a:spAutoFit/>
          </a:bodyPr>
          <a:lstStyle/>
          <a:p>
            <a:pPr algn="ctr"/>
            <a:r>
              <a:rPr lang="zh-CN" sz="1500" b="1" dirty="0">
                <a:solidFill>
                  <a:srgbClr val="FF6B35"/>
                </a:solidFill>
                <a:latin typeface="Arial" panose="020B0604020202020204"/>
                <a:ea typeface="微软雅黑" panose="020B0503020204020204" charset="-122"/>
                <a:cs typeface="Arial" panose="020B0604020202020204"/>
              </a:rPr>
              <a:t>SQLite 数据库</a:t>
            </a:r>
          </a:p>
        </p:txBody>
      </p:sp>
      <p:sp>
        <p:nvSpPr>
          <p:cNvPr id="49" name="TextBox 49"/>
          <p:cNvSpPr txBox="1"/>
          <p:nvPr/>
        </p:nvSpPr>
        <p:spPr>
          <a:xfrm>
            <a:off x="4412599" y="6094095"/>
            <a:ext cx="3557302"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tasks / queue_items / raw_items / clean_items / event_logs</a:t>
            </a:r>
          </a:p>
        </p:txBody>
      </p:sp>
      <p:sp>
        <p:nvSpPr>
          <p:cNvPr id="50" name="Line 50"/>
          <p:cNvSpPr/>
          <p:nvPr/>
        </p:nvSpPr>
        <p:spPr>
          <a:xfrm>
            <a:off x="4762500" y="2190750"/>
            <a:ext cx="9525" cy="285750"/>
          </a:xfrm>
          <a:custGeom>
            <a:avLst/>
            <a:gdLst/>
            <a:ahLst/>
            <a:cxnLst/>
            <a:rect l="l" t="t" r="r" b="b"/>
            <a:pathLst>
              <a:path w="9525" h="285750">
                <a:moveTo>
                  <a:pt x="0" y="0"/>
                </a:moveTo>
                <a:lnTo>
                  <a:pt x="0" y="285750"/>
                </a:lnTo>
              </a:path>
            </a:pathLst>
          </a:custGeom>
          <a:noFill/>
          <a:ln w="9525">
            <a:solidFill>
              <a:srgbClr val="2D3748"/>
            </a:solidFill>
            <a:custDash>
              <a:ds d="300000" sp="300000"/>
            </a:custDash>
          </a:ln>
        </p:spPr>
        <p:txBody>
          <a:bodyPr/>
          <a:lstStyle/>
          <a:p>
            <a:endParaRPr lang="zh-CN" altLang="en-US"/>
          </a:p>
        </p:txBody>
      </p:sp>
      <p:sp>
        <p:nvSpPr>
          <p:cNvPr id="51" name="Line 51"/>
          <p:cNvSpPr/>
          <p:nvPr/>
        </p:nvSpPr>
        <p:spPr>
          <a:xfrm>
            <a:off x="4762500" y="2476500"/>
            <a:ext cx="9525" cy="3238500"/>
          </a:xfrm>
          <a:custGeom>
            <a:avLst/>
            <a:gdLst/>
            <a:ahLst/>
            <a:cxnLst/>
            <a:rect l="l" t="t" r="r" b="b"/>
            <a:pathLst>
              <a:path w="9525" h="3238500">
                <a:moveTo>
                  <a:pt x="0" y="0"/>
                </a:moveTo>
                <a:lnTo>
                  <a:pt x="0" y="3238500"/>
                </a:lnTo>
              </a:path>
            </a:pathLst>
          </a:custGeom>
          <a:noFill/>
          <a:ln w="9525">
            <a:solidFill>
              <a:srgbClr val="2D3748"/>
            </a:solidFill>
            <a:custDash>
              <a:ds d="300000" sp="300000"/>
            </a:custDash>
          </a:ln>
        </p:spPr>
        <p:txBody>
          <a:bodyPr/>
          <a:lstStyle/>
          <a:p>
            <a:endParaRPr lang="zh-CN" altLang="en-US"/>
          </a:p>
        </p:txBody>
      </p:sp>
      <p:sp>
        <p:nvSpPr>
          <p:cNvPr id="52" name="Line 52"/>
          <p:cNvSpPr/>
          <p:nvPr/>
        </p:nvSpPr>
        <p:spPr>
          <a:xfrm>
            <a:off x="7620000" y="2190750"/>
            <a:ext cx="9525" cy="285750"/>
          </a:xfrm>
          <a:custGeom>
            <a:avLst/>
            <a:gdLst/>
            <a:ahLst/>
            <a:cxnLst/>
            <a:rect l="l" t="t" r="r" b="b"/>
            <a:pathLst>
              <a:path w="9525" h="285750">
                <a:moveTo>
                  <a:pt x="0" y="0"/>
                </a:moveTo>
                <a:lnTo>
                  <a:pt x="0" y="285750"/>
                </a:lnTo>
              </a:path>
            </a:pathLst>
          </a:custGeom>
          <a:noFill/>
          <a:ln w="9525">
            <a:solidFill>
              <a:srgbClr val="2D3748"/>
            </a:solidFill>
            <a:custDash>
              <a:ds d="300000" sp="300000"/>
            </a:custDash>
          </a:ln>
        </p:spPr>
        <p:txBody>
          <a:bodyPr/>
          <a:lstStyle/>
          <a:p>
            <a:endParaRPr lang="zh-CN" altLang="en-US"/>
          </a:p>
        </p:txBody>
      </p:sp>
      <p:sp>
        <p:nvSpPr>
          <p:cNvPr id="53" name="Line 53"/>
          <p:cNvSpPr/>
          <p:nvPr/>
        </p:nvSpPr>
        <p:spPr>
          <a:xfrm>
            <a:off x="7620000" y="2476500"/>
            <a:ext cx="9525" cy="3238500"/>
          </a:xfrm>
          <a:custGeom>
            <a:avLst/>
            <a:gdLst/>
            <a:ahLst/>
            <a:cxnLst/>
            <a:rect l="l" t="t" r="r" b="b"/>
            <a:pathLst>
              <a:path w="9525" h="3238500">
                <a:moveTo>
                  <a:pt x="0" y="0"/>
                </a:moveTo>
                <a:lnTo>
                  <a:pt x="0" y="3238500"/>
                </a:lnTo>
              </a:path>
            </a:pathLst>
          </a:custGeom>
          <a:noFill/>
          <a:ln w="9525">
            <a:solidFill>
              <a:srgbClr val="2D3748"/>
            </a:solidFill>
            <a:custDash>
              <a:ds d="300000" sp="300000"/>
            </a:custDash>
          </a:ln>
        </p:spPr>
        <p:txBody>
          <a:bodyPr/>
          <a:lstStyle/>
          <a:p>
            <a:endParaRPr lang="zh-CN" altLang="en-US"/>
          </a:p>
        </p:txBody>
      </p:sp>
      <p:sp>
        <p:nvSpPr>
          <p:cNvPr id="54" name="Line 54"/>
          <p:cNvSpPr/>
          <p:nvPr/>
        </p:nvSpPr>
        <p:spPr>
          <a:xfrm>
            <a:off x="10382250" y="2190750"/>
            <a:ext cx="9525" cy="285750"/>
          </a:xfrm>
          <a:custGeom>
            <a:avLst/>
            <a:gdLst/>
            <a:ahLst/>
            <a:cxnLst/>
            <a:rect l="l" t="t" r="r" b="b"/>
            <a:pathLst>
              <a:path w="9525" h="285750">
                <a:moveTo>
                  <a:pt x="0" y="0"/>
                </a:moveTo>
                <a:lnTo>
                  <a:pt x="0" y="285750"/>
                </a:lnTo>
              </a:path>
            </a:pathLst>
          </a:custGeom>
          <a:noFill/>
          <a:ln w="9525">
            <a:solidFill>
              <a:srgbClr val="2D3748"/>
            </a:solidFill>
            <a:custDash>
              <a:ds d="300000" sp="300000"/>
            </a:custDash>
          </a:ln>
        </p:spPr>
        <p:txBody>
          <a:bodyPr/>
          <a:lstStyle/>
          <a:p>
            <a:endParaRPr lang="zh-CN" altLang="en-US"/>
          </a:p>
        </p:txBody>
      </p:sp>
      <p:sp>
        <p:nvSpPr>
          <p:cNvPr id="55" name="Line 55"/>
          <p:cNvSpPr/>
          <p:nvPr/>
        </p:nvSpPr>
        <p:spPr>
          <a:xfrm>
            <a:off x="8572500" y="2476500"/>
            <a:ext cx="1809750" cy="9525"/>
          </a:xfrm>
          <a:custGeom>
            <a:avLst/>
            <a:gdLst/>
            <a:ahLst/>
            <a:cxnLst/>
            <a:rect l="l" t="t" r="r" b="b"/>
            <a:pathLst>
              <a:path w="1809750" h="9525">
                <a:moveTo>
                  <a:pt x="1809750" y="0"/>
                </a:moveTo>
                <a:lnTo>
                  <a:pt x="0" y="0"/>
                </a:lnTo>
              </a:path>
            </a:pathLst>
          </a:custGeom>
          <a:noFill/>
          <a:ln w="9525">
            <a:solidFill>
              <a:srgbClr val="2D3748"/>
            </a:solidFill>
            <a:custDash>
              <a:ds d="300000" sp="300000"/>
            </a:custDash>
          </a:ln>
        </p:spPr>
        <p:txBody>
          <a:bodyPr/>
          <a:lstStyle/>
          <a:p>
            <a:endParaRPr lang="zh-CN" altLang="en-US"/>
          </a:p>
        </p:txBody>
      </p:sp>
      <p:sp>
        <p:nvSpPr>
          <p:cNvPr id="56" name="Line 56"/>
          <p:cNvSpPr/>
          <p:nvPr/>
        </p:nvSpPr>
        <p:spPr>
          <a:xfrm>
            <a:off x="8572500" y="2476500"/>
            <a:ext cx="9525" cy="3238500"/>
          </a:xfrm>
          <a:custGeom>
            <a:avLst/>
            <a:gdLst/>
            <a:ahLst/>
            <a:cxnLst/>
            <a:rect l="l" t="t" r="r" b="b"/>
            <a:pathLst>
              <a:path w="9525" h="3238500">
                <a:moveTo>
                  <a:pt x="0" y="0"/>
                </a:moveTo>
                <a:lnTo>
                  <a:pt x="0" y="3238500"/>
                </a:lnTo>
              </a:path>
            </a:pathLst>
          </a:custGeom>
          <a:noFill/>
          <a:ln w="9525">
            <a:solidFill>
              <a:srgbClr val="2D3748"/>
            </a:solidFill>
            <a:custDash>
              <a:ds d="300000" sp="300000"/>
            </a:custDash>
          </a:ln>
        </p:spPr>
        <p:txBody>
          <a:bodyPr/>
          <a:lstStyle/>
          <a:p>
            <a:endParaRPr lang="zh-CN" altLang="en-US"/>
          </a:p>
        </p:txBody>
      </p:sp>
      <p:sp>
        <p:nvSpPr>
          <p:cNvPr id="57" name="Rectangle 57"/>
          <p:cNvSpPr/>
          <p:nvPr/>
        </p:nvSpPr>
        <p:spPr>
          <a:xfrm>
            <a:off x="952500" y="2667000"/>
            <a:ext cx="762000" cy="285750"/>
          </a:xfrm>
          <a:prstGeom prst="roundRect">
            <a:avLst>
              <a:gd name="adj" fmla="val 13333"/>
            </a:avLst>
          </a:prstGeom>
          <a:solidFill>
            <a:srgbClr val="00D4FF">
              <a:alpha val="20000"/>
            </a:srgbClr>
          </a:solidFill>
          <a:ln>
            <a:noFill/>
          </a:ln>
        </p:spPr>
        <p:txBody>
          <a:bodyPr/>
          <a:lstStyle/>
          <a:p>
            <a:endParaRPr lang="zh-CN" altLang="en-US"/>
          </a:p>
        </p:txBody>
      </p:sp>
      <p:sp>
        <p:nvSpPr>
          <p:cNvPr id="58" name="TextBox 58"/>
          <p:cNvSpPr txBox="1"/>
          <p:nvPr/>
        </p:nvSpPr>
        <p:spPr>
          <a:xfrm>
            <a:off x="1218107" y="2760345"/>
            <a:ext cx="230786" cy="182880"/>
          </a:xfrm>
          <a:prstGeom prst="rect">
            <a:avLst/>
          </a:prstGeom>
          <a:noFill/>
          <a:ln>
            <a:noFill/>
          </a:ln>
        </p:spPr>
        <p:txBody>
          <a:bodyPr wrap="none" lIns="0" tIns="0" rIns="0" bIns="0" anchor="t" anchorCtr="0">
            <a:spAutoFit/>
          </a:bodyPr>
          <a:lstStyle/>
          <a:p>
            <a:pPr algn="ctr"/>
            <a:r>
              <a:rPr lang="zh-CN" sz="900" b="1" dirty="0">
                <a:solidFill>
                  <a:srgbClr val="00D4FF"/>
                </a:solidFill>
                <a:latin typeface="Arial" panose="020B0604020202020204"/>
                <a:ea typeface="微软雅黑" panose="020B0503020204020204" charset="-122"/>
                <a:cs typeface="Arial" panose="020B0604020202020204"/>
              </a:rPr>
              <a:t>SSE</a:t>
            </a:r>
          </a:p>
        </p:txBody>
      </p:sp>
      <p:sp>
        <p:nvSpPr>
          <p:cNvPr id="59" name="Line 59"/>
          <p:cNvSpPr/>
          <p:nvPr/>
        </p:nvSpPr>
        <p:spPr>
          <a:xfrm>
            <a:off x="1714500" y="2809875"/>
            <a:ext cx="2095500" cy="9525"/>
          </a:xfrm>
          <a:custGeom>
            <a:avLst/>
            <a:gdLst/>
            <a:ahLst/>
            <a:cxnLst/>
            <a:rect l="l" t="t" r="r" b="b"/>
            <a:pathLst>
              <a:path w="2095500" h="9525">
                <a:moveTo>
                  <a:pt x="0" y="0"/>
                </a:moveTo>
                <a:lnTo>
                  <a:pt x="2095500" y="0"/>
                </a:lnTo>
              </a:path>
            </a:pathLst>
          </a:custGeom>
          <a:noFill/>
          <a:ln w="9525">
            <a:solidFill>
              <a:srgbClr val="00D4FF"/>
            </a:solidFill>
            <a:custDash>
              <a:ds d="300000" sp="300000"/>
            </a:custDash>
          </a:ln>
        </p:spPr>
        <p:txBody>
          <a:bodyPr/>
          <a:lstStyle/>
          <a:p>
            <a:endParaRPr lang="zh-CN" altLang="en-US"/>
          </a:p>
        </p:txBody>
      </p:sp>
      <p:sp>
        <p:nvSpPr>
          <p:cNvPr id="60" name="Polygon 60"/>
          <p:cNvSpPr/>
          <p:nvPr/>
        </p:nvSpPr>
        <p:spPr>
          <a:xfrm>
            <a:off x="3810000" y="2762250"/>
            <a:ext cx="95250" cy="95250"/>
          </a:xfrm>
          <a:custGeom>
            <a:avLst/>
            <a:gdLst/>
            <a:ahLst/>
            <a:cxnLst/>
            <a:rect l="l" t="t" r="r" b="b"/>
            <a:pathLst>
              <a:path w="95250" h="95250">
                <a:moveTo>
                  <a:pt x="0" y="0"/>
                </a:moveTo>
                <a:lnTo>
                  <a:pt x="95250" y="47625"/>
                </a:lnTo>
                <a:lnTo>
                  <a:pt x="0" y="95250"/>
                </a:lnTo>
                <a:close/>
              </a:path>
            </a:pathLst>
          </a:custGeom>
          <a:solidFill>
            <a:srgbClr val="00D4FF"/>
          </a:solidFill>
          <a:ln>
            <a:noFill/>
          </a:ln>
        </p:spPr>
        <p:txBody>
          <a:bodyPr/>
          <a:lstStyle/>
          <a:p>
            <a:endParaRPr lang="zh-CN" altLang="en-US"/>
          </a:p>
        </p:txBody>
      </p:sp>
      <p:sp>
        <p:nvSpPr>
          <p:cNvPr id="61" name="Rectangle 61"/>
          <p:cNvSpPr/>
          <p:nvPr/>
        </p:nvSpPr>
        <p:spPr>
          <a:xfrm>
            <a:off x="952500" y="5905500"/>
            <a:ext cx="1905000" cy="381000"/>
          </a:xfrm>
          <a:prstGeom prst="roundRect">
            <a:avLst>
              <a:gd name="adj" fmla="val 10000"/>
            </a:avLst>
          </a:prstGeom>
          <a:noFill/>
          <a:ln w="9525">
            <a:solidFill>
              <a:srgbClr val="2D3748"/>
            </a:solidFill>
          </a:ln>
        </p:spPr>
        <p:txBody>
          <a:bodyPr/>
          <a:lstStyle/>
          <a:p>
            <a:endParaRPr lang="zh-CN" altLang="en-US"/>
          </a:p>
        </p:txBody>
      </p:sp>
      <p:sp>
        <p:nvSpPr>
          <p:cNvPr id="62" name="Line 62"/>
          <p:cNvSpPr/>
          <p:nvPr/>
        </p:nvSpPr>
        <p:spPr>
          <a:xfrm>
            <a:off x="1047750" y="6096000"/>
            <a:ext cx="285750" cy="9525"/>
          </a:xfrm>
          <a:custGeom>
            <a:avLst/>
            <a:gdLst/>
            <a:ahLst/>
            <a:cxnLst/>
            <a:rect l="l" t="t" r="r" b="b"/>
            <a:pathLst>
              <a:path w="285750" h="9525">
                <a:moveTo>
                  <a:pt x="0" y="0"/>
                </a:moveTo>
                <a:lnTo>
                  <a:pt x="285750" y="0"/>
                </a:lnTo>
              </a:path>
            </a:pathLst>
          </a:custGeom>
          <a:noFill/>
          <a:ln w="19050">
            <a:solidFill>
              <a:srgbClr val="00D4FF"/>
            </a:solidFill>
          </a:ln>
        </p:spPr>
        <p:txBody>
          <a:bodyPr/>
          <a:lstStyle/>
          <a:p>
            <a:endParaRPr lang="zh-CN" altLang="en-US"/>
          </a:p>
        </p:txBody>
      </p:sp>
      <p:sp>
        <p:nvSpPr>
          <p:cNvPr id="63" name="TextBox 63"/>
          <p:cNvSpPr txBox="1"/>
          <p:nvPr/>
        </p:nvSpPr>
        <p:spPr>
          <a:xfrm>
            <a:off x="1417320" y="6046470"/>
            <a:ext cx="382905" cy="182880"/>
          </a:xfrm>
          <a:prstGeom prst="rect">
            <a:avLst/>
          </a:prstGeom>
          <a:noFill/>
          <a:ln>
            <a:noFill/>
          </a:ln>
        </p:spPr>
        <p:txBody>
          <a:bodyPr wrap="none" lIns="0" tIns="0" rIns="0" bIns="0" anchor="t" anchorCtr="0">
            <a:spAutoFit/>
          </a:bodyPr>
          <a:lstStyle/>
          <a:p>
            <a:pPr algn="l"/>
            <a:r>
              <a:rPr lang="zh-CN" sz="900" dirty="0">
                <a:solidFill>
                  <a:srgbClr val="9AA0A6"/>
                </a:solidFill>
                <a:latin typeface="Arial" panose="020B0604020202020204"/>
                <a:ea typeface="微软雅黑" panose="020B0503020204020204" charset="-122"/>
                <a:cs typeface="Arial" panose="020B0604020202020204"/>
              </a:rPr>
              <a:t>数据流</a:t>
            </a:r>
          </a:p>
        </p:txBody>
      </p:sp>
      <p:sp>
        <p:nvSpPr>
          <p:cNvPr id="64" name="Line 64"/>
          <p:cNvSpPr/>
          <p:nvPr/>
        </p:nvSpPr>
        <p:spPr>
          <a:xfrm>
            <a:off x="1905000" y="6096000"/>
            <a:ext cx="285750" cy="9525"/>
          </a:xfrm>
          <a:custGeom>
            <a:avLst/>
            <a:gdLst/>
            <a:ahLst/>
            <a:cxnLst/>
            <a:rect l="l" t="t" r="r" b="b"/>
            <a:pathLst>
              <a:path w="285750" h="9525">
                <a:moveTo>
                  <a:pt x="0" y="0"/>
                </a:moveTo>
                <a:lnTo>
                  <a:pt x="285750" y="0"/>
                </a:lnTo>
              </a:path>
            </a:pathLst>
          </a:custGeom>
          <a:noFill/>
          <a:ln w="9525">
            <a:solidFill>
              <a:srgbClr val="2D3748"/>
            </a:solidFill>
            <a:custDash>
              <a:ds d="300000" sp="300000"/>
            </a:custDash>
          </a:ln>
        </p:spPr>
        <p:txBody>
          <a:bodyPr/>
          <a:lstStyle/>
          <a:p>
            <a:endParaRPr lang="zh-CN" altLang="en-US"/>
          </a:p>
        </p:txBody>
      </p:sp>
      <p:sp>
        <p:nvSpPr>
          <p:cNvPr id="65" name="TextBox 65"/>
          <p:cNvSpPr txBox="1"/>
          <p:nvPr/>
        </p:nvSpPr>
        <p:spPr>
          <a:xfrm>
            <a:off x="2274570" y="6046470"/>
            <a:ext cx="622935" cy="182880"/>
          </a:xfrm>
          <a:prstGeom prst="rect">
            <a:avLst/>
          </a:prstGeom>
          <a:noFill/>
          <a:ln>
            <a:noFill/>
          </a:ln>
        </p:spPr>
        <p:txBody>
          <a:bodyPr wrap="none" lIns="0" tIns="0" rIns="0" bIns="0" anchor="t" anchorCtr="0">
            <a:spAutoFit/>
          </a:bodyPr>
          <a:lstStyle/>
          <a:p>
            <a:pPr algn="l"/>
            <a:r>
              <a:rPr lang="zh-CN" sz="900" dirty="0">
                <a:solidFill>
                  <a:srgbClr val="9AA0A6"/>
                </a:solidFill>
                <a:latin typeface="Arial" panose="020B0604020202020204"/>
                <a:ea typeface="微软雅黑" panose="020B0503020204020204" charset="-122"/>
                <a:cs typeface="Arial" panose="020B0604020202020204"/>
              </a:rPr>
              <a:t>数据库连接</a:t>
            </a:r>
          </a:p>
        </p:txBody>
      </p:sp>
      <p:sp>
        <p:nvSpPr>
          <p:cNvPr id="66" name="TextBox 66"/>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04 / 11</a:t>
            </a:r>
          </a:p>
        </p:txBody>
      </p:sp>
      <p:sp>
        <p:nvSpPr>
          <p:cNvPr id="67" name="Rectangle 67"/>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4" name="Rectangle 4"/>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5" name="TextBox 5"/>
          <p:cNvSpPr txBox="1"/>
          <p:nvPr/>
        </p:nvSpPr>
        <p:spPr>
          <a:xfrm>
            <a:off x="727710" y="356235"/>
            <a:ext cx="1958816"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任务状态机</a:t>
            </a:r>
          </a:p>
        </p:txBody>
      </p:sp>
      <p:sp>
        <p:nvSpPr>
          <p:cNvPr id="6" name="TextBox 6"/>
          <p:cNvSpPr txBox="1"/>
          <p:nvPr/>
        </p:nvSpPr>
        <p:spPr>
          <a:xfrm>
            <a:off x="2840355" y="501968"/>
            <a:ext cx="1267444" cy="274320"/>
          </a:xfrm>
          <a:prstGeom prst="rect">
            <a:avLst/>
          </a:prstGeom>
          <a:noFill/>
          <a:ln>
            <a:noFill/>
          </a:ln>
        </p:spPr>
        <p:txBody>
          <a:bodyPr wrap="none" lIns="0" tIns="0" rIns="0" bIns="0" anchor="t" anchorCtr="0">
            <a:spAutoFit/>
          </a:bodyPr>
          <a:lstStyle/>
          <a:p>
            <a:pPr algn="l"/>
            <a:r>
              <a:rPr lang="zh-CN" sz="1350" dirty="0">
                <a:solidFill>
                  <a:srgbClr val="9AA0A6"/>
                </a:solidFill>
                <a:latin typeface="Arial" panose="020B0604020202020204"/>
                <a:ea typeface="微软雅黑" panose="020B0503020204020204" charset="-122"/>
                <a:cs typeface="Arial" panose="020B0604020202020204"/>
              </a:rPr>
              <a:t>State Machine</a:t>
            </a:r>
          </a:p>
        </p:txBody>
      </p:sp>
      <p:sp>
        <p:nvSpPr>
          <p:cNvPr id="7" name="Rectangle 7"/>
          <p:cNvSpPr/>
          <p:nvPr/>
        </p:nvSpPr>
        <p:spPr>
          <a:xfrm>
            <a:off x="571500" y="1047750"/>
            <a:ext cx="6667500" cy="5334000"/>
          </a:xfrm>
          <a:prstGeom prst="roundRect">
            <a:avLst>
              <a:gd name="adj" fmla="val 2143"/>
            </a:avLst>
          </a:prstGeom>
          <a:solidFill>
            <a:srgbClr val="1A2332"/>
          </a:solidFill>
          <a:ln w="9525">
            <a:solidFill>
              <a:srgbClr val="2D3748"/>
            </a:solidFill>
          </a:ln>
        </p:spPr>
        <p:txBody>
          <a:bodyPr/>
          <a:lstStyle/>
          <a:p>
            <a:endParaRPr lang="zh-CN" altLang="en-US"/>
          </a:p>
        </p:txBody>
      </p:sp>
      <p:sp>
        <p:nvSpPr>
          <p:cNvPr id="8" name="Ellipse 8"/>
          <p:cNvSpPr/>
          <p:nvPr/>
        </p:nvSpPr>
        <p:spPr>
          <a:xfrm>
            <a:off x="1238250" y="1428750"/>
            <a:ext cx="952500" cy="952500"/>
          </a:xfrm>
          <a:prstGeom prst="ellipse">
            <a:avLst/>
          </a:prstGeom>
          <a:solidFill>
            <a:srgbClr val="0F1419"/>
          </a:solidFill>
          <a:ln w="19050">
            <a:solidFill>
              <a:srgbClr val="00D4FF"/>
            </a:solidFill>
          </a:ln>
        </p:spPr>
        <p:txBody>
          <a:bodyPr/>
          <a:lstStyle/>
          <a:p>
            <a:endParaRPr lang="zh-CN" altLang="en-US"/>
          </a:p>
        </p:txBody>
      </p:sp>
      <p:sp>
        <p:nvSpPr>
          <p:cNvPr id="9" name="TextBox 9"/>
          <p:cNvSpPr txBox="1"/>
          <p:nvPr/>
        </p:nvSpPr>
        <p:spPr>
          <a:xfrm>
            <a:off x="1436532" y="1744028"/>
            <a:ext cx="555936" cy="213360"/>
          </a:xfrm>
          <a:prstGeom prst="rect">
            <a:avLst/>
          </a:prstGeom>
          <a:noFill/>
          <a:ln>
            <a:noFill/>
          </a:ln>
        </p:spPr>
        <p:txBody>
          <a:bodyPr wrap="none" lIns="0" tIns="0" rIns="0" bIns="0" anchor="t" anchorCtr="0">
            <a:spAutoFit/>
          </a:bodyPr>
          <a:lstStyle/>
          <a:p>
            <a:pPr algn="ctr"/>
            <a:r>
              <a:rPr lang="zh-CN" sz="1050" b="1" dirty="0">
                <a:solidFill>
                  <a:srgbClr val="00D4FF"/>
                </a:solidFill>
                <a:latin typeface="Arial" panose="020B0604020202020204"/>
                <a:ea typeface="微软雅黑" panose="020B0503020204020204" charset="-122"/>
                <a:cs typeface="Arial" panose="020B0604020202020204"/>
              </a:rPr>
              <a:t>pending</a:t>
            </a:r>
          </a:p>
        </p:txBody>
      </p:sp>
      <p:sp>
        <p:nvSpPr>
          <p:cNvPr id="10" name="TextBox 10"/>
          <p:cNvSpPr txBox="1"/>
          <p:nvPr/>
        </p:nvSpPr>
        <p:spPr>
          <a:xfrm>
            <a:off x="1523048" y="1950720"/>
            <a:ext cx="382905"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等待中</a:t>
            </a:r>
          </a:p>
        </p:txBody>
      </p:sp>
      <p:sp>
        <p:nvSpPr>
          <p:cNvPr id="11" name="Ellipse 11"/>
          <p:cNvSpPr/>
          <p:nvPr/>
        </p:nvSpPr>
        <p:spPr>
          <a:xfrm>
            <a:off x="3333750" y="1428750"/>
            <a:ext cx="952500" cy="952500"/>
          </a:xfrm>
          <a:prstGeom prst="ellipse">
            <a:avLst/>
          </a:prstGeom>
          <a:solidFill>
            <a:srgbClr val="0F1419"/>
          </a:solidFill>
          <a:ln w="19050">
            <a:solidFill>
              <a:srgbClr val="4ECDC4"/>
            </a:solidFill>
          </a:ln>
        </p:spPr>
        <p:txBody>
          <a:bodyPr/>
          <a:lstStyle/>
          <a:p>
            <a:endParaRPr lang="zh-CN" altLang="en-US"/>
          </a:p>
        </p:txBody>
      </p:sp>
      <p:sp>
        <p:nvSpPr>
          <p:cNvPr id="12" name="TextBox 12"/>
          <p:cNvSpPr txBox="1"/>
          <p:nvPr/>
        </p:nvSpPr>
        <p:spPr>
          <a:xfrm>
            <a:off x="3532032" y="1744028"/>
            <a:ext cx="555936" cy="213360"/>
          </a:xfrm>
          <a:prstGeom prst="rect">
            <a:avLst/>
          </a:prstGeom>
          <a:noFill/>
          <a:ln>
            <a:noFill/>
          </a:ln>
        </p:spPr>
        <p:txBody>
          <a:bodyPr wrap="none" lIns="0" tIns="0" rIns="0" bIns="0" anchor="t" anchorCtr="0">
            <a:spAutoFit/>
          </a:bodyPr>
          <a:lstStyle/>
          <a:p>
            <a:pPr algn="ctr"/>
            <a:r>
              <a:rPr lang="zh-CN" sz="1050" b="1" dirty="0">
                <a:solidFill>
                  <a:srgbClr val="4ECDC4"/>
                </a:solidFill>
                <a:latin typeface="Arial" panose="020B0604020202020204"/>
                <a:ea typeface="微软雅黑" panose="020B0503020204020204" charset="-122"/>
                <a:cs typeface="Arial" panose="020B0604020202020204"/>
              </a:rPr>
              <a:t>running</a:t>
            </a:r>
          </a:p>
        </p:txBody>
      </p:sp>
      <p:sp>
        <p:nvSpPr>
          <p:cNvPr id="13" name="TextBox 13"/>
          <p:cNvSpPr txBox="1"/>
          <p:nvPr/>
        </p:nvSpPr>
        <p:spPr>
          <a:xfrm>
            <a:off x="3618548" y="1950720"/>
            <a:ext cx="382905"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运行中</a:t>
            </a:r>
          </a:p>
        </p:txBody>
      </p:sp>
      <p:sp>
        <p:nvSpPr>
          <p:cNvPr id="14" name="Ellipse 14"/>
          <p:cNvSpPr/>
          <p:nvPr/>
        </p:nvSpPr>
        <p:spPr>
          <a:xfrm>
            <a:off x="2381250" y="3333750"/>
            <a:ext cx="952500" cy="952500"/>
          </a:xfrm>
          <a:prstGeom prst="ellipse">
            <a:avLst/>
          </a:prstGeom>
          <a:solidFill>
            <a:srgbClr val="0F1419"/>
          </a:solidFill>
          <a:ln w="19050">
            <a:solidFill>
              <a:srgbClr val="FF6B35"/>
            </a:solidFill>
          </a:ln>
        </p:spPr>
        <p:txBody>
          <a:bodyPr/>
          <a:lstStyle/>
          <a:p>
            <a:endParaRPr lang="zh-CN" altLang="en-US"/>
          </a:p>
        </p:txBody>
      </p:sp>
      <p:sp>
        <p:nvSpPr>
          <p:cNvPr id="15" name="TextBox 15"/>
          <p:cNvSpPr txBox="1"/>
          <p:nvPr/>
        </p:nvSpPr>
        <p:spPr>
          <a:xfrm>
            <a:off x="2601585" y="3649028"/>
            <a:ext cx="511831" cy="213360"/>
          </a:xfrm>
          <a:prstGeom prst="rect">
            <a:avLst/>
          </a:prstGeom>
          <a:noFill/>
          <a:ln>
            <a:noFill/>
          </a:ln>
        </p:spPr>
        <p:txBody>
          <a:bodyPr wrap="none" lIns="0" tIns="0" rIns="0" bIns="0" anchor="t" anchorCtr="0">
            <a:spAutoFit/>
          </a:bodyPr>
          <a:lstStyle/>
          <a:p>
            <a:pPr algn="ctr"/>
            <a:r>
              <a:rPr lang="zh-CN" sz="1050" b="1" dirty="0">
                <a:solidFill>
                  <a:srgbClr val="FF6B35"/>
                </a:solidFill>
                <a:latin typeface="Arial" panose="020B0604020202020204"/>
                <a:ea typeface="微软雅黑" panose="020B0503020204020204" charset="-122"/>
                <a:cs typeface="Arial" panose="020B0604020202020204"/>
              </a:rPr>
              <a:t>paused</a:t>
            </a:r>
          </a:p>
        </p:txBody>
      </p:sp>
      <p:sp>
        <p:nvSpPr>
          <p:cNvPr id="16" name="TextBox 16"/>
          <p:cNvSpPr txBox="1"/>
          <p:nvPr/>
        </p:nvSpPr>
        <p:spPr>
          <a:xfrm>
            <a:off x="2666048" y="3855720"/>
            <a:ext cx="382905"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已暂停</a:t>
            </a:r>
          </a:p>
        </p:txBody>
      </p:sp>
      <p:sp>
        <p:nvSpPr>
          <p:cNvPr id="17" name="Ellipse 17"/>
          <p:cNvSpPr/>
          <p:nvPr/>
        </p:nvSpPr>
        <p:spPr>
          <a:xfrm>
            <a:off x="4762500" y="3333750"/>
            <a:ext cx="952500" cy="952500"/>
          </a:xfrm>
          <a:prstGeom prst="ellipse">
            <a:avLst/>
          </a:prstGeom>
          <a:solidFill>
            <a:srgbClr val="0F1419"/>
          </a:solidFill>
          <a:ln w="19050">
            <a:solidFill>
              <a:srgbClr val="EF4444"/>
            </a:solidFill>
          </a:ln>
        </p:spPr>
        <p:txBody>
          <a:bodyPr/>
          <a:lstStyle/>
          <a:p>
            <a:endParaRPr lang="zh-CN" altLang="en-US"/>
          </a:p>
        </p:txBody>
      </p:sp>
      <p:sp>
        <p:nvSpPr>
          <p:cNvPr id="18" name="TextBox 18"/>
          <p:cNvSpPr txBox="1"/>
          <p:nvPr/>
        </p:nvSpPr>
        <p:spPr>
          <a:xfrm>
            <a:off x="4942405" y="3649028"/>
            <a:ext cx="592691" cy="213360"/>
          </a:xfrm>
          <a:prstGeom prst="rect">
            <a:avLst/>
          </a:prstGeom>
          <a:noFill/>
          <a:ln>
            <a:noFill/>
          </a:ln>
        </p:spPr>
        <p:txBody>
          <a:bodyPr wrap="none" lIns="0" tIns="0" rIns="0" bIns="0" anchor="t" anchorCtr="0">
            <a:spAutoFit/>
          </a:bodyPr>
          <a:lstStyle/>
          <a:p>
            <a:pPr algn="ctr"/>
            <a:r>
              <a:rPr lang="zh-CN" sz="1050" b="1" dirty="0">
                <a:solidFill>
                  <a:srgbClr val="EF4444"/>
                </a:solidFill>
                <a:latin typeface="Arial" panose="020B0604020202020204"/>
                <a:ea typeface="微软雅黑" panose="020B0503020204020204" charset="-122"/>
                <a:cs typeface="Arial" panose="020B0604020202020204"/>
              </a:rPr>
              <a:t>stopped</a:t>
            </a:r>
          </a:p>
        </p:txBody>
      </p:sp>
      <p:sp>
        <p:nvSpPr>
          <p:cNvPr id="19" name="TextBox 19"/>
          <p:cNvSpPr txBox="1"/>
          <p:nvPr/>
        </p:nvSpPr>
        <p:spPr>
          <a:xfrm>
            <a:off x="5047298" y="3855720"/>
            <a:ext cx="382905"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已停止</a:t>
            </a:r>
          </a:p>
        </p:txBody>
      </p:sp>
      <p:sp>
        <p:nvSpPr>
          <p:cNvPr id="20" name="Ellipse 20"/>
          <p:cNvSpPr/>
          <p:nvPr/>
        </p:nvSpPr>
        <p:spPr>
          <a:xfrm>
            <a:off x="3333750" y="4857750"/>
            <a:ext cx="952500" cy="952500"/>
          </a:xfrm>
          <a:prstGeom prst="ellipse">
            <a:avLst/>
          </a:prstGeom>
          <a:solidFill>
            <a:srgbClr val="0F1419"/>
          </a:solidFill>
          <a:ln w="19050">
            <a:solidFill>
              <a:srgbClr val="10B981"/>
            </a:solidFill>
          </a:ln>
        </p:spPr>
        <p:txBody>
          <a:bodyPr/>
          <a:lstStyle/>
          <a:p>
            <a:endParaRPr lang="zh-CN" altLang="en-US"/>
          </a:p>
        </p:txBody>
      </p:sp>
      <p:sp>
        <p:nvSpPr>
          <p:cNvPr id="21" name="TextBox 21"/>
          <p:cNvSpPr txBox="1"/>
          <p:nvPr/>
        </p:nvSpPr>
        <p:spPr>
          <a:xfrm>
            <a:off x="3513655" y="5173028"/>
            <a:ext cx="592691" cy="213360"/>
          </a:xfrm>
          <a:prstGeom prst="rect">
            <a:avLst/>
          </a:prstGeom>
          <a:noFill/>
          <a:ln>
            <a:noFill/>
          </a:ln>
        </p:spPr>
        <p:txBody>
          <a:bodyPr wrap="none" lIns="0" tIns="0" rIns="0" bIns="0" anchor="t" anchorCtr="0">
            <a:spAutoFit/>
          </a:bodyPr>
          <a:lstStyle/>
          <a:p>
            <a:pPr algn="ctr"/>
            <a:r>
              <a:rPr lang="zh-CN" sz="1050" b="1" dirty="0">
                <a:solidFill>
                  <a:srgbClr val="10B981"/>
                </a:solidFill>
                <a:latin typeface="Arial" panose="020B0604020202020204"/>
                <a:ea typeface="微软雅黑" panose="020B0503020204020204" charset="-122"/>
                <a:cs typeface="Arial" panose="020B0604020202020204"/>
              </a:rPr>
              <a:t>success</a:t>
            </a:r>
          </a:p>
        </p:txBody>
      </p:sp>
      <p:sp>
        <p:nvSpPr>
          <p:cNvPr id="22" name="TextBox 22"/>
          <p:cNvSpPr txBox="1"/>
          <p:nvPr/>
        </p:nvSpPr>
        <p:spPr>
          <a:xfrm>
            <a:off x="3678555" y="5379720"/>
            <a:ext cx="262890"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成功</a:t>
            </a:r>
          </a:p>
        </p:txBody>
      </p:sp>
      <p:sp>
        <p:nvSpPr>
          <p:cNvPr id="23" name="Ellipse 23"/>
          <p:cNvSpPr/>
          <p:nvPr/>
        </p:nvSpPr>
        <p:spPr>
          <a:xfrm>
            <a:off x="5429250" y="4857750"/>
            <a:ext cx="952500" cy="952500"/>
          </a:xfrm>
          <a:prstGeom prst="ellipse">
            <a:avLst/>
          </a:prstGeom>
          <a:solidFill>
            <a:srgbClr val="0F1419"/>
          </a:solidFill>
          <a:ln w="19050">
            <a:solidFill>
              <a:srgbClr val="EF4444"/>
            </a:solidFill>
          </a:ln>
        </p:spPr>
        <p:txBody>
          <a:bodyPr/>
          <a:lstStyle/>
          <a:p>
            <a:endParaRPr lang="zh-CN" altLang="en-US"/>
          </a:p>
        </p:txBody>
      </p:sp>
      <p:sp>
        <p:nvSpPr>
          <p:cNvPr id="24" name="TextBox 24"/>
          <p:cNvSpPr txBox="1"/>
          <p:nvPr/>
        </p:nvSpPr>
        <p:spPr>
          <a:xfrm>
            <a:off x="5686339" y="5173028"/>
            <a:ext cx="438321" cy="213360"/>
          </a:xfrm>
          <a:prstGeom prst="rect">
            <a:avLst/>
          </a:prstGeom>
          <a:noFill/>
          <a:ln>
            <a:noFill/>
          </a:ln>
        </p:spPr>
        <p:txBody>
          <a:bodyPr wrap="none" lIns="0" tIns="0" rIns="0" bIns="0" anchor="t" anchorCtr="0">
            <a:spAutoFit/>
          </a:bodyPr>
          <a:lstStyle/>
          <a:p>
            <a:pPr algn="ctr"/>
            <a:r>
              <a:rPr lang="zh-CN" sz="1050" b="1" dirty="0">
                <a:solidFill>
                  <a:srgbClr val="EF4444"/>
                </a:solidFill>
                <a:latin typeface="Arial" panose="020B0604020202020204"/>
                <a:ea typeface="微软雅黑" panose="020B0503020204020204" charset="-122"/>
                <a:cs typeface="Arial" panose="020B0604020202020204"/>
              </a:rPr>
              <a:t>failed</a:t>
            </a:r>
          </a:p>
        </p:txBody>
      </p:sp>
      <p:sp>
        <p:nvSpPr>
          <p:cNvPr id="25" name="TextBox 25"/>
          <p:cNvSpPr txBox="1"/>
          <p:nvPr/>
        </p:nvSpPr>
        <p:spPr>
          <a:xfrm>
            <a:off x="5774055" y="5379720"/>
            <a:ext cx="262890"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失败</a:t>
            </a:r>
          </a:p>
        </p:txBody>
      </p:sp>
      <p:sp>
        <p:nvSpPr>
          <p:cNvPr id="26" name="Line 26"/>
          <p:cNvSpPr/>
          <p:nvPr/>
        </p:nvSpPr>
        <p:spPr>
          <a:xfrm>
            <a:off x="2190750" y="1905000"/>
            <a:ext cx="1143000" cy="9525"/>
          </a:xfrm>
          <a:custGeom>
            <a:avLst/>
            <a:gdLst/>
            <a:ahLst/>
            <a:cxnLst/>
            <a:rect l="l" t="t" r="r" b="b"/>
            <a:pathLst>
              <a:path w="1143000" h="9525">
                <a:moveTo>
                  <a:pt x="0" y="0"/>
                </a:moveTo>
                <a:lnTo>
                  <a:pt x="1143000" y="0"/>
                </a:lnTo>
              </a:path>
            </a:pathLst>
          </a:custGeom>
          <a:noFill/>
          <a:ln w="19050">
            <a:solidFill>
              <a:srgbClr val="00D4FF"/>
            </a:solidFill>
          </a:ln>
        </p:spPr>
        <p:txBody>
          <a:bodyPr/>
          <a:lstStyle/>
          <a:p>
            <a:endParaRPr lang="zh-CN" altLang="en-US"/>
          </a:p>
        </p:txBody>
      </p:sp>
      <p:sp>
        <p:nvSpPr>
          <p:cNvPr id="27" name="Polygon 27"/>
          <p:cNvSpPr/>
          <p:nvPr/>
        </p:nvSpPr>
        <p:spPr>
          <a:xfrm>
            <a:off x="3333750" y="1857375"/>
            <a:ext cx="95250" cy="95250"/>
          </a:xfrm>
          <a:custGeom>
            <a:avLst/>
            <a:gdLst/>
            <a:ahLst/>
            <a:cxnLst/>
            <a:rect l="l" t="t" r="r" b="b"/>
            <a:pathLst>
              <a:path w="95250" h="95250">
                <a:moveTo>
                  <a:pt x="0" y="0"/>
                </a:moveTo>
                <a:lnTo>
                  <a:pt x="95250" y="47625"/>
                </a:lnTo>
                <a:lnTo>
                  <a:pt x="0" y="95250"/>
                </a:lnTo>
                <a:close/>
              </a:path>
            </a:pathLst>
          </a:custGeom>
          <a:solidFill>
            <a:srgbClr val="00D4FF"/>
          </a:solidFill>
          <a:ln>
            <a:noFill/>
          </a:ln>
        </p:spPr>
        <p:txBody>
          <a:bodyPr/>
          <a:lstStyle/>
          <a:p>
            <a:endParaRPr lang="zh-CN" altLang="en-US"/>
          </a:p>
        </p:txBody>
      </p:sp>
      <p:sp>
        <p:nvSpPr>
          <p:cNvPr id="28" name="Freeform 28"/>
          <p:cNvSpPr/>
          <p:nvPr/>
        </p:nvSpPr>
        <p:spPr>
          <a:xfrm>
            <a:off x="3048000" y="2333625"/>
            <a:ext cx="476250" cy="1047750"/>
          </a:xfrm>
          <a:custGeom>
            <a:avLst/>
            <a:gdLst/>
            <a:ahLst/>
            <a:cxnLst/>
            <a:rect l="l" t="t" r="r" b="b"/>
            <a:pathLst>
              <a:path w="476250" h="1047750">
                <a:moveTo>
                  <a:pt x="476250" y="0"/>
                </a:moveTo>
                <a:cubicBezTo>
                  <a:pt x="285750" y="349250"/>
                  <a:pt x="127000" y="698500"/>
                  <a:pt x="0" y="1047750"/>
                </a:cubicBezTo>
              </a:path>
            </a:pathLst>
          </a:custGeom>
          <a:noFill/>
          <a:ln w="19050">
            <a:solidFill>
              <a:srgbClr val="FF6B35"/>
            </a:solidFill>
          </a:ln>
        </p:spPr>
        <p:txBody>
          <a:bodyPr/>
          <a:lstStyle/>
          <a:p>
            <a:endParaRPr lang="zh-CN" altLang="en-US"/>
          </a:p>
        </p:txBody>
      </p:sp>
      <p:sp>
        <p:nvSpPr>
          <p:cNvPr id="29" name="Polygon 29"/>
          <p:cNvSpPr/>
          <p:nvPr/>
        </p:nvSpPr>
        <p:spPr>
          <a:xfrm>
            <a:off x="3000375" y="3381375"/>
            <a:ext cx="95250" cy="95250"/>
          </a:xfrm>
          <a:custGeom>
            <a:avLst/>
            <a:gdLst/>
            <a:ahLst/>
            <a:cxnLst/>
            <a:rect l="l" t="t" r="r" b="b"/>
            <a:pathLst>
              <a:path w="95250" h="95250">
                <a:moveTo>
                  <a:pt x="0" y="0"/>
                </a:moveTo>
                <a:lnTo>
                  <a:pt x="47625" y="95250"/>
                </a:lnTo>
                <a:lnTo>
                  <a:pt x="95250" y="0"/>
                </a:lnTo>
                <a:close/>
              </a:path>
            </a:pathLst>
          </a:custGeom>
          <a:solidFill>
            <a:srgbClr val="FF6B35"/>
          </a:solidFill>
          <a:ln>
            <a:noFill/>
          </a:ln>
        </p:spPr>
        <p:txBody>
          <a:bodyPr/>
          <a:lstStyle/>
          <a:p>
            <a:endParaRPr lang="zh-CN" altLang="en-US"/>
          </a:p>
        </p:txBody>
      </p:sp>
      <p:sp>
        <p:nvSpPr>
          <p:cNvPr id="30" name="Freeform 30"/>
          <p:cNvSpPr/>
          <p:nvPr/>
        </p:nvSpPr>
        <p:spPr>
          <a:xfrm>
            <a:off x="4095750" y="2333625"/>
            <a:ext cx="952500" cy="1047750"/>
          </a:xfrm>
          <a:custGeom>
            <a:avLst/>
            <a:gdLst/>
            <a:ahLst/>
            <a:cxnLst/>
            <a:rect l="l" t="t" r="r" b="b"/>
            <a:pathLst>
              <a:path w="952500" h="1047750">
                <a:moveTo>
                  <a:pt x="0" y="0"/>
                </a:moveTo>
                <a:cubicBezTo>
                  <a:pt x="317500" y="349250"/>
                  <a:pt x="635000" y="698500"/>
                  <a:pt x="952500" y="1047750"/>
                </a:cubicBezTo>
              </a:path>
            </a:pathLst>
          </a:custGeom>
          <a:noFill/>
          <a:ln w="19050">
            <a:solidFill>
              <a:srgbClr val="EF4444"/>
            </a:solidFill>
          </a:ln>
        </p:spPr>
        <p:txBody>
          <a:bodyPr/>
          <a:lstStyle/>
          <a:p>
            <a:endParaRPr lang="zh-CN" altLang="en-US"/>
          </a:p>
        </p:txBody>
      </p:sp>
      <p:sp>
        <p:nvSpPr>
          <p:cNvPr id="31" name="Polygon 31"/>
          <p:cNvSpPr/>
          <p:nvPr/>
        </p:nvSpPr>
        <p:spPr>
          <a:xfrm>
            <a:off x="5000625" y="3381375"/>
            <a:ext cx="95250" cy="95250"/>
          </a:xfrm>
          <a:custGeom>
            <a:avLst/>
            <a:gdLst/>
            <a:ahLst/>
            <a:cxnLst/>
            <a:rect l="l" t="t" r="r" b="b"/>
            <a:pathLst>
              <a:path w="95250" h="95250">
                <a:moveTo>
                  <a:pt x="0" y="0"/>
                </a:moveTo>
                <a:lnTo>
                  <a:pt x="47625" y="95250"/>
                </a:lnTo>
                <a:lnTo>
                  <a:pt x="95250" y="0"/>
                </a:lnTo>
                <a:close/>
              </a:path>
            </a:pathLst>
          </a:custGeom>
          <a:solidFill>
            <a:srgbClr val="EF4444"/>
          </a:solidFill>
          <a:ln>
            <a:noFill/>
          </a:ln>
        </p:spPr>
        <p:txBody>
          <a:bodyPr/>
          <a:lstStyle/>
          <a:p>
            <a:endParaRPr lang="zh-CN" altLang="en-US"/>
          </a:p>
        </p:txBody>
      </p:sp>
      <p:sp>
        <p:nvSpPr>
          <p:cNvPr id="32" name="Freeform 32"/>
          <p:cNvSpPr/>
          <p:nvPr/>
        </p:nvSpPr>
        <p:spPr>
          <a:xfrm>
            <a:off x="3810000" y="2381250"/>
            <a:ext cx="9525" cy="2476500"/>
          </a:xfrm>
          <a:custGeom>
            <a:avLst/>
            <a:gdLst/>
            <a:ahLst/>
            <a:cxnLst/>
            <a:rect l="l" t="t" r="r" b="b"/>
            <a:pathLst>
              <a:path w="9525" h="2476500">
                <a:moveTo>
                  <a:pt x="0" y="0"/>
                </a:moveTo>
                <a:cubicBezTo>
                  <a:pt x="0" y="635000"/>
                  <a:pt x="0" y="1460500"/>
                  <a:pt x="0" y="2476500"/>
                </a:cubicBezTo>
              </a:path>
            </a:pathLst>
          </a:custGeom>
          <a:noFill/>
          <a:ln w="19050">
            <a:solidFill>
              <a:srgbClr val="10B981"/>
            </a:solidFill>
          </a:ln>
        </p:spPr>
        <p:txBody>
          <a:bodyPr/>
          <a:lstStyle/>
          <a:p>
            <a:endParaRPr lang="zh-CN" altLang="en-US"/>
          </a:p>
        </p:txBody>
      </p:sp>
      <p:sp>
        <p:nvSpPr>
          <p:cNvPr id="33" name="Polygon 33"/>
          <p:cNvSpPr/>
          <p:nvPr/>
        </p:nvSpPr>
        <p:spPr>
          <a:xfrm>
            <a:off x="3762375" y="4857750"/>
            <a:ext cx="95250" cy="95250"/>
          </a:xfrm>
          <a:custGeom>
            <a:avLst/>
            <a:gdLst/>
            <a:ahLst/>
            <a:cxnLst/>
            <a:rect l="l" t="t" r="r" b="b"/>
            <a:pathLst>
              <a:path w="95250" h="95250">
                <a:moveTo>
                  <a:pt x="0" y="0"/>
                </a:moveTo>
                <a:lnTo>
                  <a:pt x="47625" y="95250"/>
                </a:lnTo>
                <a:lnTo>
                  <a:pt x="95250" y="0"/>
                </a:lnTo>
                <a:close/>
              </a:path>
            </a:pathLst>
          </a:custGeom>
          <a:solidFill>
            <a:srgbClr val="10B981"/>
          </a:solidFill>
          <a:ln>
            <a:noFill/>
          </a:ln>
        </p:spPr>
        <p:txBody>
          <a:bodyPr/>
          <a:lstStyle/>
          <a:p>
            <a:endParaRPr lang="zh-CN" altLang="en-US"/>
          </a:p>
        </p:txBody>
      </p:sp>
      <p:sp>
        <p:nvSpPr>
          <p:cNvPr id="34" name="Freeform 34"/>
          <p:cNvSpPr/>
          <p:nvPr/>
        </p:nvSpPr>
        <p:spPr>
          <a:xfrm>
            <a:off x="4095750" y="2286000"/>
            <a:ext cx="1619250" cy="2619375"/>
          </a:xfrm>
          <a:custGeom>
            <a:avLst/>
            <a:gdLst/>
            <a:ahLst/>
            <a:cxnLst/>
            <a:rect l="l" t="t" r="r" b="b"/>
            <a:pathLst>
              <a:path w="1619250" h="2619375">
                <a:moveTo>
                  <a:pt x="0" y="0"/>
                </a:moveTo>
                <a:cubicBezTo>
                  <a:pt x="635000" y="381000"/>
                  <a:pt x="1174750" y="1254125"/>
                  <a:pt x="1619250" y="2619375"/>
                </a:cubicBezTo>
              </a:path>
            </a:pathLst>
          </a:custGeom>
          <a:noFill/>
          <a:ln w="19050">
            <a:solidFill>
              <a:srgbClr val="EF4444"/>
            </a:solidFill>
          </a:ln>
        </p:spPr>
        <p:txBody>
          <a:bodyPr/>
          <a:lstStyle/>
          <a:p>
            <a:endParaRPr lang="zh-CN" altLang="en-US"/>
          </a:p>
        </p:txBody>
      </p:sp>
      <p:sp>
        <p:nvSpPr>
          <p:cNvPr id="35" name="Polygon 35"/>
          <p:cNvSpPr/>
          <p:nvPr/>
        </p:nvSpPr>
        <p:spPr>
          <a:xfrm>
            <a:off x="5667375" y="4905375"/>
            <a:ext cx="95250" cy="95250"/>
          </a:xfrm>
          <a:custGeom>
            <a:avLst/>
            <a:gdLst/>
            <a:ahLst/>
            <a:cxnLst/>
            <a:rect l="l" t="t" r="r" b="b"/>
            <a:pathLst>
              <a:path w="95250" h="95250">
                <a:moveTo>
                  <a:pt x="0" y="0"/>
                </a:moveTo>
                <a:lnTo>
                  <a:pt x="47625" y="95250"/>
                </a:lnTo>
                <a:lnTo>
                  <a:pt x="95250" y="0"/>
                </a:lnTo>
                <a:close/>
              </a:path>
            </a:pathLst>
          </a:custGeom>
          <a:solidFill>
            <a:srgbClr val="EF4444"/>
          </a:solidFill>
          <a:ln>
            <a:noFill/>
          </a:ln>
        </p:spPr>
        <p:txBody>
          <a:bodyPr/>
          <a:lstStyle/>
          <a:p>
            <a:endParaRPr lang="zh-CN" altLang="en-US"/>
          </a:p>
        </p:txBody>
      </p:sp>
      <p:sp>
        <p:nvSpPr>
          <p:cNvPr id="36" name="Freeform 36"/>
          <p:cNvSpPr/>
          <p:nvPr/>
        </p:nvSpPr>
        <p:spPr>
          <a:xfrm>
            <a:off x="3143250" y="2381250"/>
            <a:ext cx="476250" cy="1047750"/>
          </a:xfrm>
          <a:custGeom>
            <a:avLst/>
            <a:gdLst/>
            <a:ahLst/>
            <a:cxnLst/>
            <a:rect l="l" t="t" r="r" b="b"/>
            <a:pathLst>
              <a:path w="476250" h="1047750">
                <a:moveTo>
                  <a:pt x="0" y="1047750"/>
                </a:moveTo>
                <a:cubicBezTo>
                  <a:pt x="254000" y="666750"/>
                  <a:pt x="412750" y="317500"/>
                  <a:pt x="476250" y="0"/>
                </a:cubicBezTo>
              </a:path>
            </a:pathLst>
          </a:custGeom>
          <a:noFill/>
          <a:ln w="19050">
            <a:solidFill>
              <a:srgbClr val="4ECDC4"/>
            </a:solidFill>
            <a:custDash>
              <a:ds d="250000" sp="250000"/>
            </a:custDash>
          </a:ln>
        </p:spPr>
        <p:txBody>
          <a:bodyPr/>
          <a:lstStyle/>
          <a:p>
            <a:endParaRPr lang="zh-CN" altLang="en-US"/>
          </a:p>
        </p:txBody>
      </p:sp>
      <p:sp>
        <p:nvSpPr>
          <p:cNvPr id="37" name="Polygon 37"/>
          <p:cNvSpPr/>
          <p:nvPr/>
        </p:nvSpPr>
        <p:spPr>
          <a:xfrm>
            <a:off x="3571875" y="2286000"/>
            <a:ext cx="95250" cy="95250"/>
          </a:xfrm>
          <a:custGeom>
            <a:avLst/>
            <a:gdLst/>
            <a:ahLst/>
            <a:cxnLst/>
            <a:rect l="l" t="t" r="r" b="b"/>
            <a:pathLst>
              <a:path w="95250" h="95250">
                <a:moveTo>
                  <a:pt x="0" y="95250"/>
                </a:moveTo>
                <a:lnTo>
                  <a:pt x="47625" y="0"/>
                </a:lnTo>
                <a:lnTo>
                  <a:pt x="95250" y="95250"/>
                </a:lnTo>
                <a:close/>
              </a:path>
            </a:pathLst>
          </a:custGeom>
          <a:solidFill>
            <a:srgbClr val="4ECDC4"/>
          </a:solidFill>
          <a:ln>
            <a:noFill/>
          </a:ln>
        </p:spPr>
        <p:txBody>
          <a:bodyPr/>
          <a:lstStyle/>
          <a:p>
            <a:endParaRPr lang="zh-CN" altLang="en-US"/>
          </a:p>
        </p:txBody>
      </p:sp>
      <p:sp>
        <p:nvSpPr>
          <p:cNvPr id="38" name="Line 38"/>
          <p:cNvSpPr/>
          <p:nvPr/>
        </p:nvSpPr>
        <p:spPr>
          <a:xfrm>
            <a:off x="3333750" y="3810000"/>
            <a:ext cx="1428750" cy="9525"/>
          </a:xfrm>
          <a:custGeom>
            <a:avLst/>
            <a:gdLst/>
            <a:ahLst/>
            <a:cxnLst/>
            <a:rect l="l" t="t" r="r" b="b"/>
            <a:pathLst>
              <a:path w="1428750" h="9525">
                <a:moveTo>
                  <a:pt x="0" y="0"/>
                </a:moveTo>
                <a:lnTo>
                  <a:pt x="1428750" y="0"/>
                </a:lnTo>
              </a:path>
            </a:pathLst>
          </a:custGeom>
          <a:noFill/>
          <a:ln w="19050">
            <a:solidFill>
              <a:srgbClr val="EF4444"/>
            </a:solidFill>
          </a:ln>
        </p:spPr>
        <p:txBody>
          <a:bodyPr/>
          <a:lstStyle/>
          <a:p>
            <a:endParaRPr lang="zh-CN" altLang="en-US"/>
          </a:p>
        </p:txBody>
      </p:sp>
      <p:sp>
        <p:nvSpPr>
          <p:cNvPr id="39" name="Polygon 39"/>
          <p:cNvSpPr/>
          <p:nvPr/>
        </p:nvSpPr>
        <p:spPr>
          <a:xfrm>
            <a:off x="4762500" y="3762375"/>
            <a:ext cx="95250" cy="95250"/>
          </a:xfrm>
          <a:custGeom>
            <a:avLst/>
            <a:gdLst/>
            <a:ahLst/>
            <a:cxnLst/>
            <a:rect l="l" t="t" r="r" b="b"/>
            <a:pathLst>
              <a:path w="95250" h="95250">
                <a:moveTo>
                  <a:pt x="0" y="0"/>
                </a:moveTo>
                <a:lnTo>
                  <a:pt x="95250" y="47625"/>
                </a:lnTo>
                <a:lnTo>
                  <a:pt x="0" y="95250"/>
                </a:lnTo>
                <a:close/>
              </a:path>
            </a:pathLst>
          </a:custGeom>
          <a:solidFill>
            <a:srgbClr val="EF4444"/>
          </a:solidFill>
          <a:ln>
            <a:noFill/>
          </a:ln>
        </p:spPr>
        <p:txBody>
          <a:bodyPr/>
          <a:lstStyle/>
          <a:p>
            <a:endParaRPr lang="zh-CN" altLang="en-US"/>
          </a:p>
        </p:txBody>
      </p:sp>
      <p:sp>
        <p:nvSpPr>
          <p:cNvPr id="40" name="Rectangle 40"/>
          <p:cNvSpPr/>
          <p:nvPr/>
        </p:nvSpPr>
        <p:spPr>
          <a:xfrm>
            <a:off x="7620000" y="1047750"/>
            <a:ext cx="4000500" cy="5334000"/>
          </a:xfrm>
          <a:prstGeom prst="roundRect">
            <a:avLst>
              <a:gd name="adj" fmla="val 2857"/>
            </a:avLst>
          </a:prstGeom>
          <a:solidFill>
            <a:srgbClr val="1A2332"/>
          </a:solidFill>
          <a:ln w="9525">
            <a:solidFill>
              <a:srgbClr val="2D3748"/>
            </a:solidFill>
          </a:ln>
        </p:spPr>
        <p:txBody>
          <a:bodyPr/>
          <a:lstStyle/>
          <a:p>
            <a:endParaRPr lang="zh-CN" altLang="en-US"/>
          </a:p>
        </p:txBody>
      </p:sp>
      <p:sp>
        <p:nvSpPr>
          <p:cNvPr id="41" name="TextBox 41"/>
          <p:cNvSpPr txBox="1"/>
          <p:nvPr/>
        </p:nvSpPr>
        <p:spPr>
          <a:xfrm>
            <a:off x="7789545" y="1250632"/>
            <a:ext cx="966026" cy="335280"/>
          </a:xfrm>
          <a:prstGeom prst="rect">
            <a:avLst/>
          </a:prstGeom>
          <a:noFill/>
          <a:ln>
            <a:noFill/>
          </a:ln>
        </p:spPr>
        <p:txBody>
          <a:bodyPr wrap="none" lIns="0" tIns="0" rIns="0" bIns="0" anchor="t" anchorCtr="0">
            <a:spAutoFit/>
          </a:bodyPr>
          <a:lstStyle/>
          <a:p>
            <a:pPr algn="l"/>
            <a:r>
              <a:rPr lang="zh-CN" sz="1650" b="1" dirty="0">
                <a:solidFill>
                  <a:srgbClr val="00D4FF"/>
                </a:solidFill>
                <a:latin typeface="Arial" panose="020B0604020202020204"/>
                <a:ea typeface="微软雅黑" panose="020B0503020204020204" charset="-122"/>
                <a:cs typeface="Arial" panose="020B0604020202020204"/>
              </a:rPr>
              <a:t>状态说明</a:t>
            </a:r>
          </a:p>
        </p:txBody>
      </p:sp>
      <p:sp>
        <p:nvSpPr>
          <p:cNvPr id="42" name="Rectangle 42"/>
          <p:cNvSpPr/>
          <p:nvPr/>
        </p:nvSpPr>
        <p:spPr>
          <a:xfrm>
            <a:off x="7810500" y="1619250"/>
            <a:ext cx="28575" cy="190500"/>
          </a:xfrm>
          <a:prstGeom prst="rect">
            <a:avLst/>
          </a:prstGeom>
          <a:solidFill>
            <a:srgbClr val="00D4FF"/>
          </a:solidFill>
          <a:ln>
            <a:noFill/>
          </a:ln>
        </p:spPr>
        <p:txBody>
          <a:bodyPr/>
          <a:lstStyle/>
          <a:p>
            <a:endParaRPr lang="zh-CN" altLang="en-US"/>
          </a:p>
        </p:txBody>
      </p:sp>
      <p:sp>
        <p:nvSpPr>
          <p:cNvPr id="43" name="TextBox 43"/>
          <p:cNvSpPr txBox="1"/>
          <p:nvPr/>
        </p:nvSpPr>
        <p:spPr>
          <a:xfrm>
            <a:off x="7938135" y="1651635"/>
            <a:ext cx="1332643" cy="243840"/>
          </a:xfrm>
          <a:prstGeom prst="rect">
            <a:avLst/>
          </a:prstGeom>
          <a:noFill/>
          <a:ln>
            <a:noFill/>
          </a:ln>
        </p:spPr>
        <p:txBody>
          <a:bodyPr wrap="none" lIns="0" tIns="0" rIns="0" bIns="0" anchor="t" anchorCtr="0">
            <a:spAutoFit/>
          </a:bodyPr>
          <a:lstStyle/>
          <a:p>
            <a:pPr algn="l"/>
            <a:r>
              <a:rPr lang="zh-CN" sz="1200" b="1" dirty="0">
                <a:solidFill>
                  <a:srgbClr val="E8EAED"/>
                </a:solidFill>
                <a:latin typeface="Arial" panose="020B0604020202020204"/>
                <a:ea typeface="微软雅黑" panose="020B0503020204020204" charset="-122"/>
                <a:cs typeface="Arial" panose="020B0604020202020204"/>
              </a:rPr>
              <a:t>pending - 等待中</a:t>
            </a:r>
          </a:p>
        </p:txBody>
      </p:sp>
      <p:sp>
        <p:nvSpPr>
          <p:cNvPr id="44" name="TextBox 44"/>
          <p:cNvSpPr txBox="1"/>
          <p:nvPr/>
        </p:nvSpPr>
        <p:spPr>
          <a:xfrm>
            <a:off x="7940040" y="1858328"/>
            <a:ext cx="1426845"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任务创建后，等待启动</a:t>
            </a:r>
          </a:p>
        </p:txBody>
      </p:sp>
      <p:sp>
        <p:nvSpPr>
          <p:cNvPr id="45" name="Rectangle 45"/>
          <p:cNvSpPr/>
          <p:nvPr/>
        </p:nvSpPr>
        <p:spPr>
          <a:xfrm>
            <a:off x="7810500" y="2190750"/>
            <a:ext cx="28575" cy="190500"/>
          </a:xfrm>
          <a:prstGeom prst="rect">
            <a:avLst/>
          </a:prstGeom>
          <a:solidFill>
            <a:srgbClr val="4ECDC4"/>
          </a:solidFill>
          <a:ln>
            <a:noFill/>
          </a:ln>
        </p:spPr>
        <p:txBody>
          <a:bodyPr/>
          <a:lstStyle/>
          <a:p>
            <a:endParaRPr lang="zh-CN" altLang="en-US"/>
          </a:p>
        </p:txBody>
      </p:sp>
      <p:sp>
        <p:nvSpPr>
          <p:cNvPr id="46" name="TextBox 46"/>
          <p:cNvSpPr txBox="1"/>
          <p:nvPr/>
        </p:nvSpPr>
        <p:spPr>
          <a:xfrm>
            <a:off x="7938135" y="2223135"/>
            <a:ext cx="1332643" cy="243840"/>
          </a:xfrm>
          <a:prstGeom prst="rect">
            <a:avLst/>
          </a:prstGeom>
          <a:noFill/>
          <a:ln>
            <a:noFill/>
          </a:ln>
        </p:spPr>
        <p:txBody>
          <a:bodyPr wrap="none" lIns="0" tIns="0" rIns="0" bIns="0" anchor="t" anchorCtr="0">
            <a:spAutoFit/>
          </a:bodyPr>
          <a:lstStyle/>
          <a:p>
            <a:pPr algn="l"/>
            <a:r>
              <a:rPr lang="zh-CN" sz="1200" b="1" dirty="0">
                <a:solidFill>
                  <a:srgbClr val="E8EAED"/>
                </a:solidFill>
                <a:latin typeface="Arial" panose="020B0604020202020204"/>
                <a:ea typeface="微软雅黑" panose="020B0503020204020204" charset="-122"/>
                <a:cs typeface="Arial" panose="020B0604020202020204"/>
              </a:rPr>
              <a:t>running - 运行中</a:t>
            </a:r>
          </a:p>
        </p:txBody>
      </p:sp>
      <p:sp>
        <p:nvSpPr>
          <p:cNvPr id="47" name="TextBox 47"/>
          <p:cNvSpPr txBox="1"/>
          <p:nvPr/>
        </p:nvSpPr>
        <p:spPr>
          <a:xfrm>
            <a:off x="7940040" y="2429828"/>
            <a:ext cx="1426845"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任务正在执行爬取操作</a:t>
            </a:r>
          </a:p>
        </p:txBody>
      </p:sp>
      <p:sp>
        <p:nvSpPr>
          <p:cNvPr id="48" name="Rectangle 48"/>
          <p:cNvSpPr/>
          <p:nvPr/>
        </p:nvSpPr>
        <p:spPr>
          <a:xfrm>
            <a:off x="7810500" y="2762250"/>
            <a:ext cx="28575" cy="190500"/>
          </a:xfrm>
          <a:prstGeom prst="rect">
            <a:avLst/>
          </a:prstGeom>
          <a:solidFill>
            <a:srgbClr val="FF6B35"/>
          </a:solidFill>
          <a:ln>
            <a:noFill/>
          </a:ln>
        </p:spPr>
        <p:txBody>
          <a:bodyPr/>
          <a:lstStyle/>
          <a:p>
            <a:endParaRPr lang="zh-CN" altLang="en-US"/>
          </a:p>
        </p:txBody>
      </p:sp>
      <p:sp>
        <p:nvSpPr>
          <p:cNvPr id="49" name="TextBox 49"/>
          <p:cNvSpPr txBox="1"/>
          <p:nvPr/>
        </p:nvSpPr>
        <p:spPr>
          <a:xfrm>
            <a:off x="7938135" y="2794635"/>
            <a:ext cx="1282236" cy="243840"/>
          </a:xfrm>
          <a:prstGeom prst="rect">
            <a:avLst/>
          </a:prstGeom>
          <a:noFill/>
          <a:ln>
            <a:noFill/>
          </a:ln>
        </p:spPr>
        <p:txBody>
          <a:bodyPr wrap="none" lIns="0" tIns="0" rIns="0" bIns="0" anchor="t" anchorCtr="0">
            <a:spAutoFit/>
          </a:bodyPr>
          <a:lstStyle/>
          <a:p>
            <a:pPr algn="l"/>
            <a:r>
              <a:rPr lang="zh-CN" sz="1200" b="1" dirty="0">
                <a:solidFill>
                  <a:srgbClr val="E8EAED"/>
                </a:solidFill>
                <a:latin typeface="Arial" panose="020B0604020202020204"/>
                <a:ea typeface="微软雅黑" panose="020B0503020204020204" charset="-122"/>
                <a:cs typeface="Arial" panose="020B0604020202020204"/>
              </a:rPr>
              <a:t>paused - 已暂停</a:t>
            </a:r>
          </a:p>
        </p:txBody>
      </p:sp>
      <p:sp>
        <p:nvSpPr>
          <p:cNvPr id="50" name="TextBox 50"/>
          <p:cNvSpPr txBox="1"/>
          <p:nvPr/>
        </p:nvSpPr>
        <p:spPr>
          <a:xfrm>
            <a:off x="7940040" y="3001328"/>
            <a:ext cx="1426845"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任务暂停，可恢复执行</a:t>
            </a:r>
          </a:p>
        </p:txBody>
      </p:sp>
      <p:sp>
        <p:nvSpPr>
          <p:cNvPr id="51" name="Rectangle 51"/>
          <p:cNvSpPr/>
          <p:nvPr/>
        </p:nvSpPr>
        <p:spPr>
          <a:xfrm>
            <a:off x="7810500" y="3333750"/>
            <a:ext cx="28575" cy="190500"/>
          </a:xfrm>
          <a:prstGeom prst="rect">
            <a:avLst/>
          </a:prstGeom>
          <a:solidFill>
            <a:srgbClr val="EF4444"/>
          </a:solidFill>
          <a:ln>
            <a:noFill/>
          </a:ln>
        </p:spPr>
        <p:txBody>
          <a:bodyPr/>
          <a:lstStyle/>
          <a:p>
            <a:endParaRPr lang="zh-CN" altLang="en-US"/>
          </a:p>
        </p:txBody>
      </p:sp>
      <p:sp>
        <p:nvSpPr>
          <p:cNvPr id="52" name="TextBox 52"/>
          <p:cNvSpPr txBox="1"/>
          <p:nvPr/>
        </p:nvSpPr>
        <p:spPr>
          <a:xfrm>
            <a:off x="7938135" y="3366135"/>
            <a:ext cx="1374648" cy="243840"/>
          </a:xfrm>
          <a:prstGeom prst="rect">
            <a:avLst/>
          </a:prstGeom>
          <a:noFill/>
          <a:ln>
            <a:noFill/>
          </a:ln>
        </p:spPr>
        <p:txBody>
          <a:bodyPr wrap="none" lIns="0" tIns="0" rIns="0" bIns="0" anchor="t" anchorCtr="0">
            <a:spAutoFit/>
          </a:bodyPr>
          <a:lstStyle/>
          <a:p>
            <a:pPr algn="l"/>
            <a:r>
              <a:rPr lang="zh-CN" sz="1200" b="1" dirty="0">
                <a:solidFill>
                  <a:srgbClr val="E8EAED"/>
                </a:solidFill>
                <a:latin typeface="Arial" panose="020B0604020202020204"/>
                <a:ea typeface="微软雅黑" panose="020B0503020204020204" charset="-122"/>
                <a:cs typeface="Arial" panose="020B0604020202020204"/>
              </a:rPr>
              <a:t>stopped - 已停止</a:t>
            </a:r>
          </a:p>
        </p:txBody>
      </p:sp>
      <p:sp>
        <p:nvSpPr>
          <p:cNvPr id="53" name="TextBox 53"/>
          <p:cNvSpPr txBox="1"/>
          <p:nvPr/>
        </p:nvSpPr>
        <p:spPr>
          <a:xfrm>
            <a:off x="7940040" y="3572828"/>
            <a:ext cx="1006792"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任务被手动终止</a:t>
            </a:r>
          </a:p>
        </p:txBody>
      </p:sp>
      <p:sp>
        <p:nvSpPr>
          <p:cNvPr id="54" name="Rectangle 54"/>
          <p:cNvSpPr/>
          <p:nvPr/>
        </p:nvSpPr>
        <p:spPr>
          <a:xfrm>
            <a:off x="7810500" y="3905250"/>
            <a:ext cx="28575" cy="190500"/>
          </a:xfrm>
          <a:prstGeom prst="rect">
            <a:avLst/>
          </a:prstGeom>
          <a:solidFill>
            <a:srgbClr val="10B981"/>
          </a:solidFill>
          <a:ln>
            <a:noFill/>
          </a:ln>
        </p:spPr>
        <p:txBody>
          <a:bodyPr/>
          <a:lstStyle/>
          <a:p>
            <a:endParaRPr lang="zh-CN" altLang="en-US"/>
          </a:p>
        </p:txBody>
      </p:sp>
      <p:sp>
        <p:nvSpPr>
          <p:cNvPr id="55" name="TextBox 55"/>
          <p:cNvSpPr txBox="1"/>
          <p:nvPr/>
        </p:nvSpPr>
        <p:spPr>
          <a:xfrm>
            <a:off x="7938135" y="3937635"/>
            <a:ext cx="1206627" cy="243840"/>
          </a:xfrm>
          <a:prstGeom prst="rect">
            <a:avLst/>
          </a:prstGeom>
          <a:noFill/>
          <a:ln>
            <a:noFill/>
          </a:ln>
        </p:spPr>
        <p:txBody>
          <a:bodyPr wrap="none" lIns="0" tIns="0" rIns="0" bIns="0" anchor="t" anchorCtr="0">
            <a:spAutoFit/>
          </a:bodyPr>
          <a:lstStyle/>
          <a:p>
            <a:pPr algn="l"/>
            <a:r>
              <a:rPr lang="zh-CN" sz="1200" b="1" dirty="0">
                <a:solidFill>
                  <a:srgbClr val="E8EAED"/>
                </a:solidFill>
                <a:latin typeface="Arial" panose="020B0604020202020204"/>
                <a:ea typeface="微软雅黑" panose="020B0503020204020204" charset="-122"/>
                <a:cs typeface="Arial" panose="020B0604020202020204"/>
              </a:rPr>
              <a:t>success - 成功</a:t>
            </a:r>
          </a:p>
        </p:txBody>
      </p:sp>
      <p:sp>
        <p:nvSpPr>
          <p:cNvPr id="56" name="TextBox 56"/>
          <p:cNvSpPr txBox="1"/>
          <p:nvPr/>
        </p:nvSpPr>
        <p:spPr>
          <a:xfrm>
            <a:off x="7940040" y="4144328"/>
            <a:ext cx="1286828"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任务完成，数据就绪</a:t>
            </a:r>
          </a:p>
        </p:txBody>
      </p:sp>
      <p:sp>
        <p:nvSpPr>
          <p:cNvPr id="57" name="Rectangle 57"/>
          <p:cNvSpPr/>
          <p:nvPr/>
        </p:nvSpPr>
        <p:spPr>
          <a:xfrm>
            <a:off x="7810500" y="4476750"/>
            <a:ext cx="28575" cy="190500"/>
          </a:xfrm>
          <a:prstGeom prst="rect">
            <a:avLst/>
          </a:prstGeom>
          <a:solidFill>
            <a:srgbClr val="EF4444"/>
          </a:solidFill>
          <a:ln>
            <a:noFill/>
          </a:ln>
        </p:spPr>
        <p:txBody>
          <a:bodyPr/>
          <a:lstStyle/>
          <a:p>
            <a:endParaRPr lang="zh-CN" altLang="en-US"/>
          </a:p>
        </p:txBody>
      </p:sp>
      <p:sp>
        <p:nvSpPr>
          <p:cNvPr id="58" name="TextBox 58"/>
          <p:cNvSpPr txBox="1"/>
          <p:nvPr/>
        </p:nvSpPr>
        <p:spPr>
          <a:xfrm>
            <a:off x="7938135" y="4509135"/>
            <a:ext cx="1030205" cy="243840"/>
          </a:xfrm>
          <a:prstGeom prst="rect">
            <a:avLst/>
          </a:prstGeom>
          <a:noFill/>
          <a:ln>
            <a:noFill/>
          </a:ln>
        </p:spPr>
        <p:txBody>
          <a:bodyPr wrap="none" lIns="0" tIns="0" rIns="0" bIns="0" anchor="t" anchorCtr="0">
            <a:spAutoFit/>
          </a:bodyPr>
          <a:lstStyle/>
          <a:p>
            <a:pPr algn="l"/>
            <a:r>
              <a:rPr lang="zh-CN" sz="1200" b="1" dirty="0">
                <a:solidFill>
                  <a:srgbClr val="E8EAED"/>
                </a:solidFill>
                <a:latin typeface="Arial" panose="020B0604020202020204"/>
                <a:ea typeface="微软雅黑" panose="020B0503020204020204" charset="-122"/>
                <a:cs typeface="Arial" panose="020B0604020202020204"/>
              </a:rPr>
              <a:t>failed - 失败</a:t>
            </a:r>
          </a:p>
        </p:txBody>
      </p:sp>
      <p:sp>
        <p:nvSpPr>
          <p:cNvPr id="59" name="TextBox 59"/>
          <p:cNvSpPr txBox="1"/>
          <p:nvPr/>
        </p:nvSpPr>
        <p:spPr>
          <a:xfrm>
            <a:off x="7940040" y="4715828"/>
            <a:ext cx="866775"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任务执行出错</a:t>
            </a:r>
          </a:p>
        </p:txBody>
      </p:sp>
      <p:sp>
        <p:nvSpPr>
          <p:cNvPr id="60" name="Rectangle 60"/>
          <p:cNvSpPr/>
          <p:nvPr/>
        </p:nvSpPr>
        <p:spPr>
          <a:xfrm>
            <a:off x="7810500" y="5143500"/>
            <a:ext cx="3619500" cy="952500"/>
          </a:xfrm>
          <a:prstGeom prst="roundRect">
            <a:avLst>
              <a:gd name="adj" fmla="val 8000"/>
            </a:avLst>
          </a:prstGeom>
          <a:solidFill>
            <a:srgbClr val="0F1419"/>
          </a:solidFill>
          <a:ln w="9525">
            <a:solidFill>
              <a:srgbClr val="2D3748"/>
            </a:solidFill>
          </a:ln>
        </p:spPr>
        <p:txBody>
          <a:bodyPr/>
          <a:lstStyle/>
          <a:p>
            <a:endParaRPr lang="zh-CN" altLang="en-US"/>
          </a:p>
        </p:txBody>
      </p:sp>
      <p:sp>
        <p:nvSpPr>
          <p:cNvPr id="61" name="TextBox 61"/>
          <p:cNvSpPr txBox="1"/>
          <p:nvPr/>
        </p:nvSpPr>
        <p:spPr>
          <a:xfrm>
            <a:off x="7985760" y="5236846"/>
            <a:ext cx="702564" cy="243840"/>
          </a:xfrm>
          <a:prstGeom prst="rect">
            <a:avLst/>
          </a:prstGeom>
          <a:noFill/>
          <a:ln>
            <a:noFill/>
          </a:ln>
        </p:spPr>
        <p:txBody>
          <a:bodyPr wrap="none" lIns="0" tIns="0" rIns="0" bIns="0" anchor="t" anchorCtr="0">
            <a:spAutoFit/>
          </a:bodyPr>
          <a:lstStyle/>
          <a:p>
            <a:pPr algn="l"/>
            <a:r>
              <a:rPr lang="zh-CN" sz="1200" b="1" dirty="0">
                <a:solidFill>
                  <a:srgbClr val="00D4FF"/>
                </a:solidFill>
                <a:latin typeface="Arial" panose="020B0604020202020204"/>
                <a:ea typeface="微软雅黑" panose="020B0503020204020204" charset="-122"/>
                <a:cs typeface="Arial" panose="020B0604020202020204"/>
              </a:rPr>
              <a:t>设计模式</a:t>
            </a:r>
          </a:p>
        </p:txBody>
      </p:sp>
      <p:sp>
        <p:nvSpPr>
          <p:cNvPr id="62" name="TextBox 62"/>
          <p:cNvSpPr txBox="1"/>
          <p:nvPr/>
        </p:nvSpPr>
        <p:spPr>
          <a:xfrm>
            <a:off x="7985760" y="5478780"/>
            <a:ext cx="1146810" cy="213360"/>
          </a:xfrm>
          <a:prstGeom prst="rect">
            <a:avLst/>
          </a:prstGeom>
          <a:noFill/>
          <a:ln>
            <a:noFill/>
          </a:ln>
        </p:spPr>
        <p:txBody>
          <a:bodyPr wrap="none" lIns="0" tIns="0" rIns="0" bIns="0" anchor="t" anchorCtr="0">
            <a:spAutoFit/>
          </a:bodyPr>
          <a:lstStyle/>
          <a:p>
            <a:pPr algn="l"/>
            <a:r>
              <a:rPr lang="zh-CN" sz="1050" dirty="0">
                <a:solidFill>
                  <a:srgbClr val="E8EAED"/>
                </a:solidFill>
                <a:latin typeface="Arial" panose="020B0604020202020204"/>
                <a:ea typeface="微软雅黑" panose="020B0503020204020204" charset="-122"/>
                <a:cs typeface="Arial" panose="020B0604020202020204"/>
              </a:rPr>
              <a:t>使用枚举定义状态</a:t>
            </a:r>
          </a:p>
        </p:txBody>
      </p:sp>
      <p:sp>
        <p:nvSpPr>
          <p:cNvPr id="63" name="TextBox 63"/>
          <p:cNvSpPr txBox="1"/>
          <p:nvPr/>
        </p:nvSpPr>
        <p:spPr>
          <a:xfrm>
            <a:off x="7985760" y="5693092"/>
            <a:ext cx="1426845" cy="213360"/>
          </a:xfrm>
          <a:prstGeom prst="rect">
            <a:avLst/>
          </a:prstGeom>
          <a:noFill/>
          <a:ln>
            <a:noFill/>
          </a:ln>
        </p:spPr>
        <p:txBody>
          <a:bodyPr wrap="none" lIns="0" tIns="0" rIns="0" bIns="0" anchor="t" anchorCtr="0">
            <a:spAutoFit/>
          </a:bodyPr>
          <a:lstStyle/>
          <a:p>
            <a:pPr algn="l"/>
            <a:r>
              <a:rPr lang="zh-CN" sz="1050" dirty="0">
                <a:solidFill>
                  <a:srgbClr val="E8EAED"/>
                </a:solidFill>
                <a:latin typeface="Arial" panose="020B0604020202020204"/>
                <a:ea typeface="微软雅黑" panose="020B0503020204020204" charset="-122"/>
                <a:cs typeface="Arial" panose="020B0604020202020204"/>
              </a:rPr>
              <a:t>字典定义状态转换规则</a:t>
            </a:r>
          </a:p>
        </p:txBody>
      </p:sp>
      <p:sp>
        <p:nvSpPr>
          <p:cNvPr id="64" name="TextBox 64"/>
          <p:cNvSpPr txBox="1"/>
          <p:nvPr/>
        </p:nvSpPr>
        <p:spPr>
          <a:xfrm>
            <a:off x="7985760" y="5901691"/>
            <a:ext cx="1559862"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避免复杂的 if-else 嵌套</a:t>
            </a:r>
          </a:p>
        </p:txBody>
      </p:sp>
      <p:sp>
        <p:nvSpPr>
          <p:cNvPr id="65" name="TextBox 65"/>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05 / 11</a:t>
            </a:r>
          </a:p>
        </p:txBody>
      </p:sp>
      <p:sp>
        <p:nvSpPr>
          <p:cNvPr id="66" name="Rectangle 66"/>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4" name="Rectangle 4"/>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5" name="TextBox 5"/>
          <p:cNvSpPr txBox="1"/>
          <p:nvPr/>
        </p:nvSpPr>
        <p:spPr>
          <a:xfrm>
            <a:off x="727710" y="356235"/>
            <a:ext cx="2336864"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数据清洗流程</a:t>
            </a:r>
          </a:p>
        </p:txBody>
      </p:sp>
      <p:sp>
        <p:nvSpPr>
          <p:cNvPr id="6" name="TextBox 6"/>
          <p:cNvSpPr txBox="1"/>
          <p:nvPr/>
        </p:nvSpPr>
        <p:spPr>
          <a:xfrm>
            <a:off x="3411855" y="501968"/>
            <a:ext cx="1897523" cy="274320"/>
          </a:xfrm>
          <a:prstGeom prst="rect">
            <a:avLst/>
          </a:prstGeom>
          <a:noFill/>
          <a:ln>
            <a:noFill/>
          </a:ln>
        </p:spPr>
        <p:txBody>
          <a:bodyPr wrap="none" lIns="0" tIns="0" rIns="0" bIns="0" anchor="t" anchorCtr="0">
            <a:spAutoFit/>
          </a:bodyPr>
          <a:lstStyle/>
          <a:p>
            <a:pPr algn="l"/>
            <a:r>
              <a:rPr lang="zh-CN" sz="1350" dirty="0">
                <a:solidFill>
                  <a:srgbClr val="9AA0A6"/>
                </a:solidFill>
                <a:latin typeface="Arial" panose="020B0604020202020204"/>
                <a:ea typeface="微软雅黑" panose="020B0503020204020204" charset="-122"/>
                <a:cs typeface="Arial" panose="020B0604020202020204"/>
              </a:rPr>
              <a:t>Data Cleaning Pipeline</a:t>
            </a:r>
          </a:p>
        </p:txBody>
      </p:sp>
      <p:sp>
        <p:nvSpPr>
          <p:cNvPr id="7" name="Rectangle 7"/>
          <p:cNvSpPr/>
          <p:nvPr/>
        </p:nvSpPr>
        <p:spPr>
          <a:xfrm>
            <a:off x="571500" y="1047750"/>
            <a:ext cx="11049000" cy="5334000"/>
          </a:xfrm>
          <a:prstGeom prst="roundRect">
            <a:avLst>
              <a:gd name="adj" fmla="val 2143"/>
            </a:avLst>
          </a:prstGeom>
          <a:solidFill>
            <a:srgbClr val="1A2332"/>
          </a:solidFill>
          <a:ln w="9525">
            <a:solidFill>
              <a:srgbClr val="2D3748"/>
            </a:solidFill>
          </a:ln>
        </p:spPr>
        <p:txBody>
          <a:bodyPr/>
          <a:lstStyle/>
          <a:p>
            <a:endParaRPr lang="zh-CN" altLang="en-US"/>
          </a:p>
        </p:txBody>
      </p:sp>
      <p:sp>
        <p:nvSpPr>
          <p:cNvPr id="8" name="Rectangle 8"/>
          <p:cNvSpPr/>
          <p:nvPr/>
        </p:nvSpPr>
        <p:spPr>
          <a:xfrm>
            <a:off x="952500" y="1714500"/>
            <a:ext cx="1714500" cy="952500"/>
          </a:xfrm>
          <a:prstGeom prst="roundRect">
            <a:avLst>
              <a:gd name="adj" fmla="val 8000"/>
            </a:avLst>
          </a:prstGeom>
          <a:solidFill>
            <a:srgbClr val="0F1419"/>
          </a:solidFill>
          <a:ln w="19050">
            <a:solidFill>
              <a:srgbClr val="FF6B35"/>
            </a:solidFill>
          </a:ln>
        </p:spPr>
        <p:txBody>
          <a:bodyPr/>
          <a:lstStyle/>
          <a:p>
            <a:endParaRPr lang="zh-CN" altLang="en-US"/>
          </a:p>
        </p:txBody>
      </p:sp>
      <p:sp>
        <p:nvSpPr>
          <p:cNvPr id="9" name="TextBox 9"/>
          <p:cNvSpPr txBox="1"/>
          <p:nvPr/>
        </p:nvSpPr>
        <p:spPr>
          <a:xfrm>
            <a:off x="1414558" y="1949768"/>
            <a:ext cx="790384" cy="274320"/>
          </a:xfrm>
          <a:prstGeom prst="rect">
            <a:avLst/>
          </a:prstGeom>
          <a:noFill/>
          <a:ln>
            <a:noFill/>
          </a:ln>
        </p:spPr>
        <p:txBody>
          <a:bodyPr wrap="none" lIns="0" tIns="0" rIns="0" bIns="0" anchor="t" anchorCtr="0">
            <a:spAutoFit/>
          </a:bodyPr>
          <a:lstStyle/>
          <a:p>
            <a:pPr algn="ctr"/>
            <a:r>
              <a:rPr lang="zh-CN" sz="1350" b="1" dirty="0">
                <a:solidFill>
                  <a:srgbClr val="FF6B35"/>
                </a:solidFill>
                <a:latin typeface="Arial" panose="020B0604020202020204"/>
                <a:ea typeface="微软雅黑" panose="020B0503020204020204" charset="-122"/>
                <a:cs typeface="Arial" panose="020B0604020202020204"/>
              </a:rPr>
              <a:t>原始数据</a:t>
            </a:r>
          </a:p>
        </p:txBody>
      </p:sp>
      <p:sp>
        <p:nvSpPr>
          <p:cNvPr id="10" name="TextBox 10"/>
          <p:cNvSpPr txBox="1"/>
          <p:nvPr/>
        </p:nvSpPr>
        <p:spPr>
          <a:xfrm>
            <a:off x="1348359" y="2220278"/>
            <a:ext cx="922782"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raw_items 表</a:t>
            </a:r>
          </a:p>
        </p:txBody>
      </p:sp>
      <p:sp>
        <p:nvSpPr>
          <p:cNvPr id="11" name="TextBox 11"/>
          <p:cNvSpPr txBox="1"/>
          <p:nvPr/>
        </p:nvSpPr>
        <p:spPr>
          <a:xfrm>
            <a:off x="1156240" y="2426970"/>
            <a:ext cx="1307021"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HTML 内容、标题、日期</a:t>
            </a:r>
          </a:p>
        </p:txBody>
      </p:sp>
      <p:sp>
        <p:nvSpPr>
          <p:cNvPr id="12" name="Line 12"/>
          <p:cNvSpPr/>
          <p:nvPr/>
        </p:nvSpPr>
        <p:spPr>
          <a:xfrm>
            <a:off x="2667000" y="2190750"/>
            <a:ext cx="666750" cy="9525"/>
          </a:xfrm>
          <a:custGeom>
            <a:avLst/>
            <a:gdLst/>
            <a:ahLst/>
            <a:cxnLst/>
            <a:rect l="l" t="t" r="r" b="b"/>
            <a:pathLst>
              <a:path w="666750" h="9525">
                <a:moveTo>
                  <a:pt x="0" y="0"/>
                </a:moveTo>
                <a:lnTo>
                  <a:pt x="666750" y="0"/>
                </a:lnTo>
              </a:path>
            </a:pathLst>
          </a:custGeom>
          <a:noFill/>
          <a:ln w="19050">
            <a:solidFill>
              <a:srgbClr val="00D4FF"/>
            </a:solidFill>
          </a:ln>
        </p:spPr>
        <p:txBody>
          <a:bodyPr/>
          <a:lstStyle/>
          <a:p>
            <a:endParaRPr lang="zh-CN" altLang="en-US"/>
          </a:p>
        </p:txBody>
      </p:sp>
      <p:sp>
        <p:nvSpPr>
          <p:cNvPr id="13" name="Polygon 13"/>
          <p:cNvSpPr/>
          <p:nvPr/>
        </p:nvSpPr>
        <p:spPr>
          <a:xfrm>
            <a:off x="3333750" y="2143125"/>
            <a:ext cx="95250" cy="95250"/>
          </a:xfrm>
          <a:custGeom>
            <a:avLst/>
            <a:gdLst/>
            <a:ahLst/>
            <a:cxnLst/>
            <a:rect l="l" t="t" r="r" b="b"/>
            <a:pathLst>
              <a:path w="95250" h="95250">
                <a:moveTo>
                  <a:pt x="0" y="0"/>
                </a:moveTo>
                <a:lnTo>
                  <a:pt x="95250" y="47625"/>
                </a:lnTo>
                <a:lnTo>
                  <a:pt x="0" y="95250"/>
                </a:lnTo>
                <a:close/>
              </a:path>
            </a:pathLst>
          </a:custGeom>
          <a:solidFill>
            <a:srgbClr val="00D4FF"/>
          </a:solidFill>
          <a:ln>
            <a:noFill/>
          </a:ln>
        </p:spPr>
        <p:txBody>
          <a:bodyPr/>
          <a:lstStyle/>
          <a:p>
            <a:endParaRPr lang="zh-CN" altLang="en-US"/>
          </a:p>
        </p:txBody>
      </p:sp>
      <p:sp>
        <p:nvSpPr>
          <p:cNvPr id="14" name="TextBox 14"/>
          <p:cNvSpPr txBox="1"/>
          <p:nvPr/>
        </p:nvSpPr>
        <p:spPr>
          <a:xfrm>
            <a:off x="2868930" y="1998345"/>
            <a:ext cx="262890" cy="182880"/>
          </a:xfrm>
          <a:prstGeom prst="rect">
            <a:avLst/>
          </a:prstGeom>
          <a:noFill/>
          <a:ln>
            <a:noFill/>
          </a:ln>
        </p:spPr>
        <p:txBody>
          <a:bodyPr wrap="none" lIns="0" tIns="0" rIns="0" bIns="0" anchor="t" anchorCtr="0">
            <a:spAutoFit/>
          </a:bodyPr>
          <a:lstStyle/>
          <a:p>
            <a:pPr algn="ctr"/>
            <a:r>
              <a:rPr lang="zh-CN" sz="900" dirty="0">
                <a:solidFill>
                  <a:srgbClr val="00D4FF"/>
                </a:solidFill>
                <a:latin typeface="Arial" panose="020B0604020202020204"/>
                <a:ea typeface="微软雅黑" panose="020B0503020204020204" charset="-122"/>
                <a:cs typeface="Arial" panose="020B0604020202020204"/>
              </a:rPr>
              <a:t>读取</a:t>
            </a:r>
          </a:p>
        </p:txBody>
      </p:sp>
      <p:sp>
        <p:nvSpPr>
          <p:cNvPr id="15" name="Rectangle 15"/>
          <p:cNvSpPr/>
          <p:nvPr/>
        </p:nvSpPr>
        <p:spPr>
          <a:xfrm>
            <a:off x="3524250" y="1524000"/>
            <a:ext cx="1905000" cy="1333500"/>
          </a:xfrm>
          <a:prstGeom prst="roundRect">
            <a:avLst>
              <a:gd name="adj" fmla="val 5714"/>
            </a:avLst>
          </a:prstGeom>
          <a:solidFill>
            <a:srgbClr val="0F1419"/>
          </a:solidFill>
          <a:ln w="19050">
            <a:solidFill>
              <a:srgbClr val="00D4FF"/>
            </a:solidFill>
          </a:ln>
        </p:spPr>
        <p:txBody>
          <a:bodyPr/>
          <a:lstStyle/>
          <a:p>
            <a:endParaRPr lang="zh-CN" altLang="en-US"/>
          </a:p>
        </p:txBody>
      </p:sp>
      <p:sp>
        <p:nvSpPr>
          <p:cNvPr id="16" name="Rectangle 16"/>
          <p:cNvSpPr/>
          <p:nvPr/>
        </p:nvSpPr>
        <p:spPr>
          <a:xfrm>
            <a:off x="3524250" y="1524000"/>
            <a:ext cx="1905000" cy="333375"/>
          </a:xfrm>
          <a:prstGeom prst="roundRect">
            <a:avLst>
              <a:gd name="adj" fmla="val 22857"/>
            </a:avLst>
          </a:prstGeom>
          <a:solidFill>
            <a:srgbClr val="00D4FF">
              <a:alpha val="20000"/>
            </a:srgbClr>
          </a:solidFill>
          <a:ln>
            <a:noFill/>
          </a:ln>
        </p:spPr>
        <p:txBody>
          <a:bodyPr/>
          <a:lstStyle/>
          <a:p>
            <a:endParaRPr lang="zh-CN" altLang="en-US"/>
          </a:p>
        </p:txBody>
      </p:sp>
      <p:sp>
        <p:nvSpPr>
          <p:cNvPr id="17" name="TextBox 17"/>
          <p:cNvSpPr txBox="1"/>
          <p:nvPr/>
        </p:nvSpPr>
        <p:spPr>
          <a:xfrm>
            <a:off x="3743220" y="1632585"/>
            <a:ext cx="1467060" cy="243840"/>
          </a:xfrm>
          <a:prstGeom prst="rect">
            <a:avLst/>
          </a:prstGeom>
          <a:noFill/>
          <a:ln>
            <a:noFill/>
          </a:ln>
        </p:spPr>
        <p:txBody>
          <a:bodyPr wrap="none" lIns="0" tIns="0" rIns="0" bIns="0" anchor="t" anchorCtr="0">
            <a:spAutoFit/>
          </a:bodyPr>
          <a:lstStyle/>
          <a:p>
            <a:pPr algn="ctr"/>
            <a:r>
              <a:rPr lang="zh-CN" sz="1200" b="1" dirty="0">
                <a:solidFill>
                  <a:srgbClr val="00D4FF"/>
                </a:solidFill>
                <a:latin typeface="Arial" panose="020B0604020202020204"/>
                <a:ea typeface="微软雅黑" panose="020B0503020204020204" charset="-122"/>
                <a:cs typeface="Arial" panose="020B0604020202020204"/>
              </a:rPr>
              <a:t>步骤 1：HTML 清理</a:t>
            </a:r>
          </a:p>
        </p:txBody>
      </p:sp>
      <p:sp>
        <p:nvSpPr>
          <p:cNvPr id="18" name="TextBox 18"/>
          <p:cNvSpPr txBox="1"/>
          <p:nvPr/>
        </p:nvSpPr>
        <p:spPr>
          <a:xfrm>
            <a:off x="3701415" y="1982152"/>
            <a:ext cx="960120" cy="632460"/>
          </a:xfrm>
          <a:prstGeom prst="rect">
            <a:avLst/>
          </a:prstGeom>
          <a:noFill/>
          <a:ln>
            <a:noFill/>
          </a:ln>
        </p:spPr>
        <p:txBody>
          <a:bodyPr wrap="square" lIns="0" tIns="0" rIns="0" bIns="0" anchor="t" anchorCtr="0"/>
          <a:lstStyle/>
          <a:p>
            <a:pPr algn="l">
              <a:lnSpc>
                <a:spcPts val="1650"/>
              </a:lnSpc>
            </a:pPr>
            <a:r>
              <a:rPr lang="zh-CN" sz="1050" dirty="0">
                <a:solidFill>
                  <a:srgbClr val="E8EAED"/>
                </a:solidFill>
                <a:latin typeface="Arial" panose="020B0604020202020204"/>
                <a:ea typeface="微软雅黑" panose="020B0503020204020204" charset="-122"/>
                <a:cs typeface="Arial" panose="020B0604020202020204"/>
              </a:rPr>
              <a:t>去除 HTML 标签保留纯文本内容处理特殊字符</a:t>
            </a:r>
          </a:p>
        </p:txBody>
      </p:sp>
      <p:sp>
        <p:nvSpPr>
          <p:cNvPr id="19" name="TextBox 19"/>
          <p:cNvSpPr txBox="1"/>
          <p:nvPr/>
        </p:nvSpPr>
        <p:spPr>
          <a:xfrm>
            <a:off x="4066270" y="2617470"/>
            <a:ext cx="820960" cy="182880"/>
          </a:xfrm>
          <a:prstGeom prst="rect">
            <a:avLst/>
          </a:prstGeom>
          <a:noFill/>
          <a:ln>
            <a:noFill/>
          </a:ln>
        </p:spPr>
        <p:txBody>
          <a:bodyPr wrap="none" lIns="0" tIns="0" rIns="0" bIns="0" anchor="t" anchorCtr="0">
            <a:spAutoFit/>
          </a:bodyPr>
          <a:lstStyle/>
          <a:p>
            <a:pPr algn="ctr"/>
            <a:r>
              <a:rPr lang="zh-CN" sz="900" dirty="0">
                <a:solidFill>
                  <a:srgbClr val="4ECDC4"/>
                </a:solidFill>
                <a:latin typeface="Consolas" panose="020B0609020204030204"/>
                <a:ea typeface="微软雅黑" panose="020B0503020204020204" charset="-122"/>
                <a:cs typeface="Consolas" panose="020B0609020204030204"/>
              </a:rPr>
              <a:t>BeautifulSoup</a:t>
            </a:r>
          </a:p>
        </p:txBody>
      </p:sp>
      <p:sp>
        <p:nvSpPr>
          <p:cNvPr id="20" name="Line 20"/>
          <p:cNvSpPr/>
          <p:nvPr/>
        </p:nvSpPr>
        <p:spPr>
          <a:xfrm>
            <a:off x="5429250" y="2190750"/>
            <a:ext cx="666750" cy="9525"/>
          </a:xfrm>
          <a:custGeom>
            <a:avLst/>
            <a:gdLst/>
            <a:ahLst/>
            <a:cxnLst/>
            <a:rect l="l" t="t" r="r" b="b"/>
            <a:pathLst>
              <a:path w="666750" h="9525">
                <a:moveTo>
                  <a:pt x="0" y="0"/>
                </a:moveTo>
                <a:lnTo>
                  <a:pt x="666750" y="0"/>
                </a:lnTo>
              </a:path>
            </a:pathLst>
          </a:custGeom>
          <a:noFill/>
          <a:ln w="19050">
            <a:solidFill>
              <a:srgbClr val="00D4FF"/>
            </a:solidFill>
          </a:ln>
        </p:spPr>
        <p:txBody>
          <a:bodyPr/>
          <a:lstStyle/>
          <a:p>
            <a:endParaRPr lang="zh-CN" altLang="en-US"/>
          </a:p>
        </p:txBody>
      </p:sp>
      <p:sp>
        <p:nvSpPr>
          <p:cNvPr id="21" name="Polygon 21"/>
          <p:cNvSpPr/>
          <p:nvPr/>
        </p:nvSpPr>
        <p:spPr>
          <a:xfrm>
            <a:off x="6096000" y="2143125"/>
            <a:ext cx="95250" cy="95250"/>
          </a:xfrm>
          <a:custGeom>
            <a:avLst/>
            <a:gdLst/>
            <a:ahLst/>
            <a:cxnLst/>
            <a:rect l="l" t="t" r="r" b="b"/>
            <a:pathLst>
              <a:path w="95250" h="95250">
                <a:moveTo>
                  <a:pt x="0" y="0"/>
                </a:moveTo>
                <a:lnTo>
                  <a:pt x="95250" y="47625"/>
                </a:lnTo>
                <a:lnTo>
                  <a:pt x="0" y="95250"/>
                </a:lnTo>
                <a:close/>
              </a:path>
            </a:pathLst>
          </a:custGeom>
          <a:solidFill>
            <a:srgbClr val="00D4FF"/>
          </a:solidFill>
          <a:ln>
            <a:noFill/>
          </a:ln>
        </p:spPr>
        <p:txBody>
          <a:bodyPr/>
          <a:lstStyle/>
          <a:p>
            <a:endParaRPr lang="zh-CN" altLang="en-US"/>
          </a:p>
        </p:txBody>
      </p:sp>
      <p:sp>
        <p:nvSpPr>
          <p:cNvPr id="22" name="TextBox 22"/>
          <p:cNvSpPr txBox="1"/>
          <p:nvPr/>
        </p:nvSpPr>
        <p:spPr>
          <a:xfrm>
            <a:off x="5631180" y="1998345"/>
            <a:ext cx="262890" cy="182880"/>
          </a:xfrm>
          <a:prstGeom prst="rect">
            <a:avLst/>
          </a:prstGeom>
          <a:noFill/>
          <a:ln>
            <a:noFill/>
          </a:ln>
        </p:spPr>
        <p:txBody>
          <a:bodyPr wrap="none" lIns="0" tIns="0" rIns="0" bIns="0" anchor="t" anchorCtr="0">
            <a:spAutoFit/>
          </a:bodyPr>
          <a:lstStyle/>
          <a:p>
            <a:pPr algn="ctr"/>
            <a:r>
              <a:rPr lang="zh-CN" sz="900" dirty="0">
                <a:solidFill>
                  <a:srgbClr val="00D4FF"/>
                </a:solidFill>
                <a:latin typeface="Arial" panose="020B0604020202020204"/>
                <a:ea typeface="微软雅黑" panose="020B0503020204020204" charset="-122"/>
                <a:cs typeface="Arial" panose="020B0604020202020204"/>
              </a:rPr>
              <a:t>清理</a:t>
            </a:r>
          </a:p>
        </p:txBody>
      </p:sp>
      <p:sp>
        <p:nvSpPr>
          <p:cNvPr id="23" name="Rectangle 23"/>
          <p:cNvSpPr/>
          <p:nvPr/>
        </p:nvSpPr>
        <p:spPr>
          <a:xfrm>
            <a:off x="6286500" y="1524000"/>
            <a:ext cx="1905000" cy="1333500"/>
          </a:xfrm>
          <a:prstGeom prst="roundRect">
            <a:avLst>
              <a:gd name="adj" fmla="val 5714"/>
            </a:avLst>
          </a:prstGeom>
          <a:solidFill>
            <a:srgbClr val="0F1419"/>
          </a:solidFill>
          <a:ln w="19050">
            <a:solidFill>
              <a:srgbClr val="4ECDC4"/>
            </a:solidFill>
          </a:ln>
        </p:spPr>
        <p:txBody>
          <a:bodyPr/>
          <a:lstStyle/>
          <a:p>
            <a:endParaRPr lang="zh-CN" altLang="en-US"/>
          </a:p>
        </p:txBody>
      </p:sp>
      <p:sp>
        <p:nvSpPr>
          <p:cNvPr id="24" name="Rectangle 24"/>
          <p:cNvSpPr/>
          <p:nvPr/>
        </p:nvSpPr>
        <p:spPr>
          <a:xfrm>
            <a:off x="6286500" y="1524000"/>
            <a:ext cx="1905000" cy="333375"/>
          </a:xfrm>
          <a:prstGeom prst="roundRect">
            <a:avLst>
              <a:gd name="adj" fmla="val 22857"/>
            </a:avLst>
          </a:prstGeom>
          <a:solidFill>
            <a:srgbClr val="4ECDC4">
              <a:alpha val="20000"/>
            </a:srgbClr>
          </a:solidFill>
          <a:ln>
            <a:noFill/>
          </a:ln>
        </p:spPr>
        <p:txBody>
          <a:bodyPr/>
          <a:lstStyle/>
          <a:p>
            <a:endParaRPr lang="zh-CN" altLang="en-US"/>
          </a:p>
        </p:txBody>
      </p:sp>
      <p:sp>
        <p:nvSpPr>
          <p:cNvPr id="25" name="TextBox 25"/>
          <p:cNvSpPr txBox="1"/>
          <p:nvPr/>
        </p:nvSpPr>
        <p:spPr>
          <a:xfrm>
            <a:off x="6480267" y="1632585"/>
            <a:ext cx="1517466" cy="243840"/>
          </a:xfrm>
          <a:prstGeom prst="rect">
            <a:avLst/>
          </a:prstGeom>
          <a:noFill/>
          <a:ln>
            <a:noFill/>
          </a:ln>
        </p:spPr>
        <p:txBody>
          <a:bodyPr wrap="none" lIns="0" tIns="0" rIns="0" bIns="0" anchor="t" anchorCtr="0">
            <a:spAutoFit/>
          </a:bodyPr>
          <a:lstStyle/>
          <a:p>
            <a:pPr algn="ctr"/>
            <a:r>
              <a:rPr lang="zh-CN" sz="1200" b="1" dirty="0">
                <a:solidFill>
                  <a:srgbClr val="4ECDC4"/>
                </a:solidFill>
                <a:latin typeface="Arial" panose="020B0604020202020204"/>
                <a:ea typeface="微软雅黑" panose="020B0503020204020204" charset="-122"/>
                <a:cs typeface="Arial" panose="020B0604020202020204"/>
              </a:rPr>
              <a:t>步骤 2：日期规范化</a:t>
            </a:r>
          </a:p>
        </p:txBody>
      </p:sp>
      <p:sp>
        <p:nvSpPr>
          <p:cNvPr id="26" name="TextBox 26"/>
          <p:cNvSpPr txBox="1"/>
          <p:nvPr/>
        </p:nvSpPr>
        <p:spPr>
          <a:xfrm>
            <a:off x="6463665" y="1982152"/>
            <a:ext cx="1093470" cy="632460"/>
          </a:xfrm>
          <a:prstGeom prst="rect">
            <a:avLst/>
          </a:prstGeom>
          <a:noFill/>
          <a:ln>
            <a:noFill/>
          </a:ln>
        </p:spPr>
        <p:txBody>
          <a:bodyPr wrap="square" lIns="0" tIns="0" rIns="0" bIns="0" anchor="t" anchorCtr="0"/>
          <a:lstStyle/>
          <a:p>
            <a:pPr algn="l">
              <a:lnSpc>
                <a:spcPts val="1650"/>
              </a:lnSpc>
            </a:pPr>
            <a:r>
              <a:rPr lang="zh-CN" sz="1050" dirty="0">
                <a:solidFill>
                  <a:srgbClr val="E8EAED"/>
                </a:solidFill>
                <a:latin typeface="Arial" panose="020B0604020202020204"/>
                <a:ea typeface="微软雅黑" panose="020B0503020204020204" charset="-122"/>
                <a:cs typeface="Arial" panose="020B0604020202020204"/>
              </a:rPr>
              <a:t>统一日期格式YYYY-MM-DD处理多种输入格式</a:t>
            </a:r>
          </a:p>
        </p:txBody>
      </p:sp>
      <p:sp>
        <p:nvSpPr>
          <p:cNvPr id="27" name="TextBox 27"/>
          <p:cNvSpPr txBox="1"/>
          <p:nvPr/>
        </p:nvSpPr>
        <p:spPr>
          <a:xfrm>
            <a:off x="6732508" y="2617470"/>
            <a:ext cx="1012984" cy="182880"/>
          </a:xfrm>
          <a:prstGeom prst="rect">
            <a:avLst/>
          </a:prstGeom>
          <a:noFill/>
          <a:ln>
            <a:noFill/>
          </a:ln>
        </p:spPr>
        <p:txBody>
          <a:bodyPr wrap="none" lIns="0" tIns="0" rIns="0" bIns="0" anchor="t" anchorCtr="0">
            <a:spAutoFit/>
          </a:bodyPr>
          <a:lstStyle/>
          <a:p>
            <a:pPr algn="ctr"/>
            <a:r>
              <a:rPr lang="zh-CN" sz="900" dirty="0">
                <a:solidFill>
                  <a:srgbClr val="4ECDC4"/>
                </a:solidFill>
                <a:latin typeface="Consolas" panose="020B0609020204030204"/>
                <a:ea typeface="微软雅黑" panose="020B0503020204020204" charset="-122"/>
                <a:cs typeface="Consolas" panose="020B0609020204030204"/>
              </a:rPr>
              <a:t>regex + datetime</a:t>
            </a:r>
          </a:p>
        </p:txBody>
      </p:sp>
      <p:sp>
        <p:nvSpPr>
          <p:cNvPr id="28" name="Line 28"/>
          <p:cNvSpPr/>
          <p:nvPr/>
        </p:nvSpPr>
        <p:spPr>
          <a:xfrm>
            <a:off x="8191500" y="2190750"/>
            <a:ext cx="666750" cy="9525"/>
          </a:xfrm>
          <a:custGeom>
            <a:avLst/>
            <a:gdLst/>
            <a:ahLst/>
            <a:cxnLst/>
            <a:rect l="l" t="t" r="r" b="b"/>
            <a:pathLst>
              <a:path w="666750" h="9525">
                <a:moveTo>
                  <a:pt x="0" y="0"/>
                </a:moveTo>
                <a:lnTo>
                  <a:pt x="666750" y="0"/>
                </a:lnTo>
              </a:path>
            </a:pathLst>
          </a:custGeom>
          <a:noFill/>
          <a:ln w="19050">
            <a:solidFill>
              <a:srgbClr val="00D4FF"/>
            </a:solidFill>
          </a:ln>
        </p:spPr>
        <p:txBody>
          <a:bodyPr/>
          <a:lstStyle/>
          <a:p>
            <a:endParaRPr lang="zh-CN" altLang="en-US"/>
          </a:p>
        </p:txBody>
      </p:sp>
      <p:sp>
        <p:nvSpPr>
          <p:cNvPr id="29" name="Polygon 29"/>
          <p:cNvSpPr/>
          <p:nvPr/>
        </p:nvSpPr>
        <p:spPr>
          <a:xfrm>
            <a:off x="8858250" y="2143125"/>
            <a:ext cx="95250" cy="95250"/>
          </a:xfrm>
          <a:custGeom>
            <a:avLst/>
            <a:gdLst/>
            <a:ahLst/>
            <a:cxnLst/>
            <a:rect l="l" t="t" r="r" b="b"/>
            <a:pathLst>
              <a:path w="95250" h="95250">
                <a:moveTo>
                  <a:pt x="0" y="0"/>
                </a:moveTo>
                <a:lnTo>
                  <a:pt x="95250" y="47625"/>
                </a:lnTo>
                <a:lnTo>
                  <a:pt x="0" y="95250"/>
                </a:lnTo>
                <a:close/>
              </a:path>
            </a:pathLst>
          </a:custGeom>
          <a:solidFill>
            <a:srgbClr val="00D4FF"/>
          </a:solidFill>
          <a:ln>
            <a:noFill/>
          </a:ln>
        </p:spPr>
        <p:txBody>
          <a:bodyPr/>
          <a:lstStyle/>
          <a:p>
            <a:endParaRPr lang="zh-CN" altLang="en-US"/>
          </a:p>
        </p:txBody>
      </p:sp>
      <p:sp>
        <p:nvSpPr>
          <p:cNvPr id="30" name="TextBox 30"/>
          <p:cNvSpPr txBox="1"/>
          <p:nvPr/>
        </p:nvSpPr>
        <p:spPr>
          <a:xfrm>
            <a:off x="8333422" y="1998345"/>
            <a:ext cx="382905" cy="182880"/>
          </a:xfrm>
          <a:prstGeom prst="rect">
            <a:avLst/>
          </a:prstGeom>
          <a:noFill/>
          <a:ln>
            <a:noFill/>
          </a:ln>
        </p:spPr>
        <p:txBody>
          <a:bodyPr wrap="none" lIns="0" tIns="0" rIns="0" bIns="0" anchor="t" anchorCtr="0">
            <a:spAutoFit/>
          </a:bodyPr>
          <a:lstStyle/>
          <a:p>
            <a:pPr algn="ctr"/>
            <a:r>
              <a:rPr lang="zh-CN" sz="900" dirty="0">
                <a:solidFill>
                  <a:srgbClr val="00D4FF"/>
                </a:solidFill>
                <a:latin typeface="Arial" panose="020B0604020202020204"/>
                <a:ea typeface="微软雅黑" panose="020B0503020204020204" charset="-122"/>
                <a:cs typeface="Arial" panose="020B0604020202020204"/>
              </a:rPr>
              <a:t>规范化</a:t>
            </a:r>
          </a:p>
        </p:txBody>
      </p:sp>
      <p:sp>
        <p:nvSpPr>
          <p:cNvPr id="31" name="Rectangle 31"/>
          <p:cNvSpPr/>
          <p:nvPr/>
        </p:nvSpPr>
        <p:spPr>
          <a:xfrm>
            <a:off x="9048750" y="1524000"/>
            <a:ext cx="1905000" cy="1333500"/>
          </a:xfrm>
          <a:prstGeom prst="roundRect">
            <a:avLst>
              <a:gd name="adj" fmla="val 5714"/>
            </a:avLst>
          </a:prstGeom>
          <a:solidFill>
            <a:srgbClr val="0F1419"/>
          </a:solidFill>
          <a:ln w="19050">
            <a:solidFill>
              <a:srgbClr val="FF6B35"/>
            </a:solidFill>
          </a:ln>
        </p:spPr>
        <p:txBody>
          <a:bodyPr/>
          <a:lstStyle/>
          <a:p>
            <a:endParaRPr lang="zh-CN" altLang="en-US"/>
          </a:p>
        </p:txBody>
      </p:sp>
      <p:sp>
        <p:nvSpPr>
          <p:cNvPr id="32" name="Rectangle 32"/>
          <p:cNvSpPr/>
          <p:nvPr/>
        </p:nvSpPr>
        <p:spPr>
          <a:xfrm>
            <a:off x="9048750" y="1524000"/>
            <a:ext cx="1905000" cy="333375"/>
          </a:xfrm>
          <a:prstGeom prst="roundRect">
            <a:avLst>
              <a:gd name="adj" fmla="val 22857"/>
            </a:avLst>
          </a:prstGeom>
          <a:solidFill>
            <a:srgbClr val="FF6B35">
              <a:alpha val="20000"/>
            </a:srgbClr>
          </a:solidFill>
          <a:ln>
            <a:noFill/>
          </a:ln>
        </p:spPr>
        <p:txBody>
          <a:bodyPr/>
          <a:lstStyle/>
          <a:p>
            <a:endParaRPr lang="zh-CN" altLang="en-US"/>
          </a:p>
        </p:txBody>
      </p:sp>
      <p:sp>
        <p:nvSpPr>
          <p:cNvPr id="33" name="TextBox 33"/>
          <p:cNvSpPr txBox="1"/>
          <p:nvPr/>
        </p:nvSpPr>
        <p:spPr>
          <a:xfrm>
            <a:off x="9326528" y="1632585"/>
            <a:ext cx="1349445" cy="243840"/>
          </a:xfrm>
          <a:prstGeom prst="rect">
            <a:avLst/>
          </a:prstGeom>
          <a:noFill/>
          <a:ln>
            <a:noFill/>
          </a:ln>
        </p:spPr>
        <p:txBody>
          <a:bodyPr wrap="none" lIns="0" tIns="0" rIns="0" bIns="0" anchor="t" anchorCtr="0">
            <a:spAutoFit/>
          </a:bodyPr>
          <a:lstStyle/>
          <a:p>
            <a:pPr algn="ctr"/>
            <a:r>
              <a:rPr lang="zh-CN" sz="1200" b="1" dirty="0">
                <a:solidFill>
                  <a:srgbClr val="FF6B35"/>
                </a:solidFill>
                <a:latin typeface="Arial" panose="020B0604020202020204"/>
                <a:ea typeface="微软雅黑" panose="020B0503020204020204" charset="-122"/>
                <a:cs typeface="Arial" panose="020B0604020202020204"/>
              </a:rPr>
              <a:t>步骤 3：文本去重</a:t>
            </a:r>
          </a:p>
        </p:txBody>
      </p:sp>
      <p:sp>
        <p:nvSpPr>
          <p:cNvPr id="34" name="TextBox 34"/>
          <p:cNvSpPr txBox="1"/>
          <p:nvPr/>
        </p:nvSpPr>
        <p:spPr>
          <a:xfrm>
            <a:off x="9225915" y="1982152"/>
            <a:ext cx="826770" cy="632460"/>
          </a:xfrm>
          <a:prstGeom prst="rect">
            <a:avLst/>
          </a:prstGeom>
          <a:noFill/>
          <a:ln>
            <a:noFill/>
          </a:ln>
        </p:spPr>
        <p:txBody>
          <a:bodyPr wrap="square" lIns="0" tIns="0" rIns="0" bIns="0" anchor="t" anchorCtr="0"/>
          <a:lstStyle/>
          <a:p>
            <a:pPr algn="l">
              <a:lnSpc>
                <a:spcPts val="1650"/>
              </a:lnSpc>
            </a:pPr>
            <a:r>
              <a:rPr lang="zh-CN" sz="1050" dirty="0">
                <a:solidFill>
                  <a:srgbClr val="E8EAED"/>
                </a:solidFill>
                <a:latin typeface="Arial" panose="020B0604020202020204"/>
                <a:ea typeface="微软雅黑" panose="020B0503020204020204" charset="-122"/>
                <a:cs typeface="Arial" panose="020B0604020202020204"/>
              </a:rPr>
              <a:t>基于内容哈希UNIQUE 约束避免重复数据</a:t>
            </a:r>
          </a:p>
        </p:txBody>
      </p:sp>
      <p:sp>
        <p:nvSpPr>
          <p:cNvPr id="35" name="TextBox 35"/>
          <p:cNvSpPr txBox="1"/>
          <p:nvPr/>
        </p:nvSpPr>
        <p:spPr>
          <a:xfrm>
            <a:off x="9524762" y="2617470"/>
            <a:ext cx="952976" cy="182880"/>
          </a:xfrm>
          <a:prstGeom prst="rect">
            <a:avLst/>
          </a:prstGeom>
          <a:noFill/>
          <a:ln>
            <a:noFill/>
          </a:ln>
        </p:spPr>
        <p:txBody>
          <a:bodyPr wrap="none" lIns="0" tIns="0" rIns="0" bIns="0" anchor="t" anchorCtr="0">
            <a:spAutoFit/>
          </a:bodyPr>
          <a:lstStyle/>
          <a:p>
            <a:pPr algn="ctr"/>
            <a:r>
              <a:rPr lang="zh-CN" sz="900" dirty="0">
                <a:solidFill>
                  <a:srgbClr val="4ECDC4"/>
                </a:solidFill>
                <a:latin typeface="Consolas" panose="020B0609020204030204"/>
                <a:ea typeface="微软雅黑" panose="020B0503020204020204" charset="-122"/>
                <a:cs typeface="Consolas" panose="020B0609020204030204"/>
              </a:rPr>
              <a:t>hashlib + UNIQUE</a:t>
            </a:r>
          </a:p>
        </p:txBody>
      </p:sp>
      <p:sp>
        <p:nvSpPr>
          <p:cNvPr id="36" name="Rectangle 36"/>
          <p:cNvSpPr/>
          <p:nvPr/>
        </p:nvSpPr>
        <p:spPr>
          <a:xfrm>
            <a:off x="9048750" y="3619500"/>
            <a:ext cx="1905000" cy="952500"/>
          </a:xfrm>
          <a:prstGeom prst="roundRect">
            <a:avLst>
              <a:gd name="adj" fmla="val 8000"/>
            </a:avLst>
          </a:prstGeom>
          <a:solidFill>
            <a:srgbClr val="0F1419"/>
          </a:solidFill>
          <a:ln w="19050">
            <a:solidFill>
              <a:srgbClr val="10B981"/>
            </a:solidFill>
          </a:ln>
        </p:spPr>
        <p:txBody>
          <a:bodyPr/>
          <a:lstStyle/>
          <a:p>
            <a:endParaRPr lang="zh-CN" altLang="en-US"/>
          </a:p>
        </p:txBody>
      </p:sp>
      <p:sp>
        <p:nvSpPr>
          <p:cNvPr id="37" name="TextBox 37"/>
          <p:cNvSpPr txBox="1"/>
          <p:nvPr/>
        </p:nvSpPr>
        <p:spPr>
          <a:xfrm>
            <a:off x="9606058" y="3854768"/>
            <a:ext cx="790384" cy="274320"/>
          </a:xfrm>
          <a:prstGeom prst="rect">
            <a:avLst/>
          </a:prstGeom>
          <a:noFill/>
          <a:ln>
            <a:noFill/>
          </a:ln>
        </p:spPr>
        <p:txBody>
          <a:bodyPr wrap="none" lIns="0" tIns="0" rIns="0" bIns="0" anchor="t" anchorCtr="0">
            <a:spAutoFit/>
          </a:bodyPr>
          <a:lstStyle/>
          <a:p>
            <a:pPr algn="ctr"/>
            <a:r>
              <a:rPr lang="zh-CN" sz="1350" b="1" dirty="0">
                <a:solidFill>
                  <a:srgbClr val="10B981"/>
                </a:solidFill>
                <a:latin typeface="Arial" panose="020B0604020202020204"/>
                <a:ea typeface="微软雅黑" panose="020B0503020204020204" charset="-122"/>
                <a:cs typeface="Arial" panose="020B0604020202020204"/>
              </a:rPr>
              <a:t>清洗结果</a:t>
            </a:r>
          </a:p>
        </p:txBody>
      </p:sp>
      <p:sp>
        <p:nvSpPr>
          <p:cNvPr id="38" name="TextBox 38"/>
          <p:cNvSpPr txBox="1"/>
          <p:nvPr/>
        </p:nvSpPr>
        <p:spPr>
          <a:xfrm>
            <a:off x="9494353" y="4125278"/>
            <a:ext cx="1013793"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clean_items 表</a:t>
            </a:r>
          </a:p>
        </p:txBody>
      </p:sp>
      <p:sp>
        <p:nvSpPr>
          <p:cNvPr id="39" name="TextBox 39"/>
          <p:cNvSpPr txBox="1"/>
          <p:nvPr/>
        </p:nvSpPr>
        <p:spPr>
          <a:xfrm>
            <a:off x="9509760" y="4331970"/>
            <a:ext cx="982980"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去重、规范化数据</a:t>
            </a:r>
          </a:p>
        </p:txBody>
      </p:sp>
      <p:sp>
        <p:nvSpPr>
          <p:cNvPr id="40" name="Line 40"/>
          <p:cNvSpPr/>
          <p:nvPr/>
        </p:nvSpPr>
        <p:spPr>
          <a:xfrm>
            <a:off x="10001250" y="2857500"/>
            <a:ext cx="9525" cy="762000"/>
          </a:xfrm>
          <a:custGeom>
            <a:avLst/>
            <a:gdLst/>
            <a:ahLst/>
            <a:cxnLst/>
            <a:rect l="l" t="t" r="r" b="b"/>
            <a:pathLst>
              <a:path w="9525" h="762000">
                <a:moveTo>
                  <a:pt x="0" y="0"/>
                </a:moveTo>
                <a:lnTo>
                  <a:pt x="0" y="762000"/>
                </a:lnTo>
              </a:path>
            </a:pathLst>
          </a:custGeom>
          <a:noFill/>
          <a:ln w="19050">
            <a:solidFill>
              <a:srgbClr val="10B981"/>
            </a:solidFill>
          </a:ln>
        </p:spPr>
        <p:txBody>
          <a:bodyPr/>
          <a:lstStyle/>
          <a:p>
            <a:endParaRPr lang="zh-CN" altLang="en-US"/>
          </a:p>
        </p:txBody>
      </p:sp>
      <p:sp>
        <p:nvSpPr>
          <p:cNvPr id="41" name="Polygon 41"/>
          <p:cNvSpPr/>
          <p:nvPr/>
        </p:nvSpPr>
        <p:spPr>
          <a:xfrm>
            <a:off x="9953625" y="3619500"/>
            <a:ext cx="95250" cy="95250"/>
          </a:xfrm>
          <a:custGeom>
            <a:avLst/>
            <a:gdLst/>
            <a:ahLst/>
            <a:cxnLst/>
            <a:rect l="l" t="t" r="r" b="b"/>
            <a:pathLst>
              <a:path w="95250" h="95250">
                <a:moveTo>
                  <a:pt x="0" y="0"/>
                </a:moveTo>
                <a:lnTo>
                  <a:pt x="47625" y="95250"/>
                </a:lnTo>
                <a:lnTo>
                  <a:pt x="95250" y="0"/>
                </a:lnTo>
                <a:close/>
              </a:path>
            </a:pathLst>
          </a:custGeom>
          <a:solidFill>
            <a:srgbClr val="10B981"/>
          </a:solidFill>
          <a:ln>
            <a:noFill/>
          </a:ln>
        </p:spPr>
        <p:txBody>
          <a:bodyPr/>
          <a:lstStyle/>
          <a:p>
            <a:endParaRPr lang="zh-CN" altLang="en-US"/>
          </a:p>
        </p:txBody>
      </p:sp>
      <p:sp>
        <p:nvSpPr>
          <p:cNvPr id="42" name="Rectangle 42"/>
          <p:cNvSpPr/>
          <p:nvPr/>
        </p:nvSpPr>
        <p:spPr>
          <a:xfrm>
            <a:off x="6286500" y="3619500"/>
            <a:ext cx="1905000" cy="952500"/>
          </a:xfrm>
          <a:prstGeom prst="roundRect">
            <a:avLst>
              <a:gd name="adj" fmla="val 8000"/>
            </a:avLst>
          </a:prstGeom>
          <a:solidFill>
            <a:srgbClr val="0F1419"/>
          </a:solidFill>
          <a:ln w="19050">
            <a:solidFill>
              <a:srgbClr val="EF4444"/>
            </a:solidFill>
          </a:ln>
        </p:spPr>
        <p:txBody>
          <a:bodyPr/>
          <a:lstStyle/>
          <a:p>
            <a:endParaRPr lang="zh-CN" altLang="en-US"/>
          </a:p>
        </p:txBody>
      </p:sp>
      <p:sp>
        <p:nvSpPr>
          <p:cNvPr id="43" name="TextBox 43"/>
          <p:cNvSpPr txBox="1"/>
          <p:nvPr/>
        </p:nvSpPr>
        <p:spPr>
          <a:xfrm>
            <a:off x="6843808" y="3854768"/>
            <a:ext cx="790384" cy="274320"/>
          </a:xfrm>
          <a:prstGeom prst="rect">
            <a:avLst/>
          </a:prstGeom>
          <a:noFill/>
          <a:ln>
            <a:noFill/>
          </a:ln>
        </p:spPr>
        <p:txBody>
          <a:bodyPr wrap="none" lIns="0" tIns="0" rIns="0" bIns="0" anchor="t" anchorCtr="0">
            <a:spAutoFit/>
          </a:bodyPr>
          <a:lstStyle/>
          <a:p>
            <a:pPr algn="ctr"/>
            <a:r>
              <a:rPr lang="zh-CN" sz="1350" b="1" dirty="0">
                <a:solidFill>
                  <a:srgbClr val="EF4444"/>
                </a:solidFill>
                <a:latin typeface="Arial" panose="020B0604020202020204"/>
                <a:ea typeface="微软雅黑" panose="020B0503020204020204" charset="-122"/>
                <a:cs typeface="Arial" panose="020B0604020202020204"/>
              </a:rPr>
              <a:t>质量检查</a:t>
            </a:r>
          </a:p>
        </p:txBody>
      </p:sp>
      <p:sp>
        <p:nvSpPr>
          <p:cNvPr id="44" name="TextBox 44"/>
          <p:cNvSpPr txBox="1"/>
          <p:nvPr/>
        </p:nvSpPr>
        <p:spPr>
          <a:xfrm>
            <a:off x="6620089" y="4125278"/>
            <a:ext cx="1237821"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clean_status 字段</a:t>
            </a:r>
          </a:p>
        </p:txBody>
      </p:sp>
      <p:sp>
        <p:nvSpPr>
          <p:cNvPr id="45" name="TextBox 45"/>
          <p:cNvSpPr txBox="1"/>
          <p:nvPr/>
        </p:nvSpPr>
        <p:spPr>
          <a:xfrm>
            <a:off x="6798516" y="4331970"/>
            <a:ext cx="880967"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成功 / 失败标记</a:t>
            </a:r>
          </a:p>
        </p:txBody>
      </p:sp>
      <p:sp>
        <p:nvSpPr>
          <p:cNvPr id="46" name="Line 46"/>
          <p:cNvSpPr/>
          <p:nvPr/>
        </p:nvSpPr>
        <p:spPr>
          <a:xfrm>
            <a:off x="7239000" y="2857500"/>
            <a:ext cx="9525" cy="762000"/>
          </a:xfrm>
          <a:custGeom>
            <a:avLst/>
            <a:gdLst/>
            <a:ahLst/>
            <a:cxnLst/>
            <a:rect l="l" t="t" r="r" b="b"/>
            <a:pathLst>
              <a:path w="9525" h="762000">
                <a:moveTo>
                  <a:pt x="0" y="0"/>
                </a:moveTo>
                <a:lnTo>
                  <a:pt x="0" y="762000"/>
                </a:lnTo>
              </a:path>
            </a:pathLst>
          </a:custGeom>
          <a:noFill/>
          <a:ln w="19050">
            <a:solidFill>
              <a:srgbClr val="EF4444"/>
            </a:solidFill>
          </a:ln>
        </p:spPr>
        <p:txBody>
          <a:bodyPr/>
          <a:lstStyle/>
          <a:p>
            <a:endParaRPr lang="zh-CN" altLang="en-US"/>
          </a:p>
        </p:txBody>
      </p:sp>
      <p:sp>
        <p:nvSpPr>
          <p:cNvPr id="47" name="Polygon 47"/>
          <p:cNvSpPr/>
          <p:nvPr/>
        </p:nvSpPr>
        <p:spPr>
          <a:xfrm>
            <a:off x="7191375" y="3619500"/>
            <a:ext cx="95250" cy="95250"/>
          </a:xfrm>
          <a:custGeom>
            <a:avLst/>
            <a:gdLst/>
            <a:ahLst/>
            <a:cxnLst/>
            <a:rect l="l" t="t" r="r" b="b"/>
            <a:pathLst>
              <a:path w="95250" h="95250">
                <a:moveTo>
                  <a:pt x="0" y="0"/>
                </a:moveTo>
                <a:lnTo>
                  <a:pt x="47625" y="95250"/>
                </a:lnTo>
                <a:lnTo>
                  <a:pt x="95250" y="0"/>
                </a:lnTo>
                <a:close/>
              </a:path>
            </a:pathLst>
          </a:custGeom>
          <a:solidFill>
            <a:srgbClr val="EF4444"/>
          </a:solidFill>
          <a:ln>
            <a:noFill/>
          </a:ln>
        </p:spPr>
        <p:txBody>
          <a:bodyPr/>
          <a:lstStyle/>
          <a:p>
            <a:endParaRPr lang="zh-CN" altLang="en-US"/>
          </a:p>
        </p:txBody>
      </p:sp>
      <p:sp>
        <p:nvSpPr>
          <p:cNvPr id="48" name="Rectangle 48"/>
          <p:cNvSpPr/>
          <p:nvPr/>
        </p:nvSpPr>
        <p:spPr>
          <a:xfrm>
            <a:off x="952500" y="4000500"/>
            <a:ext cx="1714500" cy="1143000"/>
          </a:xfrm>
          <a:prstGeom prst="roundRect">
            <a:avLst>
              <a:gd name="adj" fmla="val 6667"/>
            </a:avLst>
          </a:prstGeom>
          <a:solidFill>
            <a:srgbClr val="0F1419"/>
          </a:solidFill>
          <a:ln w="19050">
            <a:solidFill>
              <a:srgbClr val="00D4FF"/>
            </a:solidFill>
          </a:ln>
        </p:spPr>
        <p:txBody>
          <a:bodyPr/>
          <a:lstStyle/>
          <a:p>
            <a:endParaRPr lang="zh-CN" altLang="en-US"/>
          </a:p>
        </p:txBody>
      </p:sp>
      <p:sp>
        <p:nvSpPr>
          <p:cNvPr id="49" name="TextBox 49"/>
          <p:cNvSpPr txBox="1"/>
          <p:nvPr/>
        </p:nvSpPr>
        <p:spPr>
          <a:xfrm>
            <a:off x="1414558" y="4235768"/>
            <a:ext cx="790384" cy="274320"/>
          </a:xfrm>
          <a:prstGeom prst="rect">
            <a:avLst/>
          </a:prstGeom>
          <a:noFill/>
          <a:ln>
            <a:noFill/>
          </a:ln>
        </p:spPr>
        <p:txBody>
          <a:bodyPr wrap="none" lIns="0" tIns="0" rIns="0" bIns="0" anchor="t" anchorCtr="0">
            <a:spAutoFit/>
          </a:bodyPr>
          <a:lstStyle/>
          <a:p>
            <a:pPr algn="ctr"/>
            <a:r>
              <a:rPr lang="zh-CN" sz="1350" b="1" dirty="0">
                <a:solidFill>
                  <a:srgbClr val="00D4FF"/>
                </a:solidFill>
                <a:latin typeface="Arial" panose="020B0604020202020204"/>
                <a:ea typeface="微软雅黑" panose="020B0503020204020204" charset="-122"/>
                <a:cs typeface="Arial" panose="020B0604020202020204"/>
              </a:rPr>
              <a:t>结果导出</a:t>
            </a:r>
          </a:p>
        </p:txBody>
      </p:sp>
      <p:sp>
        <p:nvSpPr>
          <p:cNvPr id="50" name="Rectangle 50"/>
          <p:cNvSpPr/>
          <p:nvPr/>
        </p:nvSpPr>
        <p:spPr>
          <a:xfrm>
            <a:off x="1030192" y="4463414"/>
            <a:ext cx="1524000" cy="285750"/>
          </a:xfrm>
          <a:prstGeom prst="roundRect">
            <a:avLst>
              <a:gd name="adj" fmla="val 13333"/>
            </a:avLst>
          </a:prstGeom>
          <a:solidFill>
            <a:srgbClr val="1A2332"/>
          </a:solidFill>
          <a:ln>
            <a:noFill/>
          </a:ln>
        </p:spPr>
        <p:txBody>
          <a:bodyPr/>
          <a:lstStyle/>
          <a:p>
            <a:endParaRPr lang="zh-CN" altLang="en-US"/>
          </a:p>
        </p:txBody>
      </p:sp>
      <p:sp>
        <p:nvSpPr>
          <p:cNvPr id="51" name="TextBox 51"/>
          <p:cNvSpPr txBox="1"/>
          <p:nvPr/>
        </p:nvSpPr>
        <p:spPr>
          <a:xfrm>
            <a:off x="1441235" y="4542472"/>
            <a:ext cx="684752" cy="213360"/>
          </a:xfrm>
          <a:prstGeom prst="rect">
            <a:avLst/>
          </a:prstGeom>
          <a:noFill/>
          <a:ln>
            <a:noFill/>
          </a:ln>
        </p:spPr>
        <p:txBody>
          <a:bodyPr wrap="none" lIns="0" tIns="0" rIns="0" bIns="0" anchor="t" anchorCtr="0">
            <a:spAutoFit/>
          </a:bodyPr>
          <a:lstStyle/>
          <a:p>
            <a:pPr algn="ctr"/>
            <a:r>
              <a:rPr lang="zh-CN" sz="1050" dirty="0">
                <a:solidFill>
                  <a:srgbClr val="E8EAED"/>
                </a:solidFill>
                <a:latin typeface="Arial" panose="020B0604020202020204"/>
                <a:ea typeface="微软雅黑" panose="020B0503020204020204" charset="-122"/>
                <a:cs typeface="Arial" panose="020B0604020202020204"/>
              </a:rPr>
              <a:t>JSON 格式</a:t>
            </a:r>
          </a:p>
        </p:txBody>
      </p:sp>
      <p:sp>
        <p:nvSpPr>
          <p:cNvPr id="52" name="Rectangle 52"/>
          <p:cNvSpPr/>
          <p:nvPr/>
        </p:nvSpPr>
        <p:spPr>
          <a:xfrm>
            <a:off x="1030192" y="4798378"/>
            <a:ext cx="1524000" cy="285750"/>
          </a:xfrm>
          <a:prstGeom prst="roundRect">
            <a:avLst>
              <a:gd name="adj" fmla="val 13333"/>
            </a:avLst>
          </a:prstGeom>
          <a:solidFill>
            <a:srgbClr val="1A2332"/>
          </a:solidFill>
          <a:ln>
            <a:noFill/>
          </a:ln>
        </p:spPr>
        <p:txBody>
          <a:bodyPr/>
          <a:lstStyle/>
          <a:p>
            <a:endParaRPr lang="zh-CN" altLang="en-US"/>
          </a:p>
        </p:txBody>
      </p:sp>
      <p:sp>
        <p:nvSpPr>
          <p:cNvPr id="53" name="TextBox 53"/>
          <p:cNvSpPr txBox="1"/>
          <p:nvPr/>
        </p:nvSpPr>
        <p:spPr>
          <a:xfrm>
            <a:off x="1493741" y="4824730"/>
            <a:ext cx="579739" cy="213360"/>
          </a:xfrm>
          <a:prstGeom prst="rect">
            <a:avLst/>
          </a:prstGeom>
          <a:noFill/>
          <a:ln>
            <a:noFill/>
          </a:ln>
        </p:spPr>
        <p:txBody>
          <a:bodyPr wrap="none" lIns="0" tIns="0" rIns="0" bIns="0" anchor="t" anchorCtr="0">
            <a:spAutoFit/>
          </a:bodyPr>
          <a:lstStyle/>
          <a:p>
            <a:pPr algn="ctr"/>
            <a:r>
              <a:rPr lang="zh-CN" sz="1050" dirty="0">
                <a:solidFill>
                  <a:srgbClr val="E8EAED"/>
                </a:solidFill>
                <a:latin typeface="Arial" panose="020B0604020202020204"/>
                <a:ea typeface="微软雅黑" panose="020B0503020204020204" charset="-122"/>
                <a:cs typeface="Arial" panose="020B0604020202020204"/>
              </a:rPr>
              <a:t>CSV 格式</a:t>
            </a:r>
          </a:p>
        </p:txBody>
      </p:sp>
      <p:sp>
        <p:nvSpPr>
          <p:cNvPr id="54" name="Freeform 54"/>
          <p:cNvSpPr/>
          <p:nvPr/>
        </p:nvSpPr>
        <p:spPr>
          <a:xfrm>
            <a:off x="2667000" y="4095750"/>
            <a:ext cx="6381750" cy="285750"/>
          </a:xfrm>
          <a:custGeom>
            <a:avLst/>
            <a:gdLst/>
            <a:ahLst/>
            <a:cxnLst/>
            <a:rect l="l" t="t" r="r" b="b"/>
            <a:pathLst>
              <a:path w="6381750" h="285750">
                <a:moveTo>
                  <a:pt x="6381750" y="0"/>
                </a:moveTo>
                <a:cubicBezTo>
                  <a:pt x="5429250" y="0"/>
                  <a:pt x="3302000" y="95250"/>
                  <a:pt x="0" y="285750"/>
                </a:cubicBezTo>
              </a:path>
            </a:pathLst>
          </a:custGeom>
          <a:noFill/>
          <a:ln w="19050">
            <a:solidFill>
              <a:srgbClr val="00D4FF"/>
            </a:solidFill>
            <a:custDash>
              <a:ds d="250000" sp="250000"/>
            </a:custDash>
          </a:ln>
        </p:spPr>
        <p:txBody>
          <a:bodyPr/>
          <a:lstStyle/>
          <a:p>
            <a:endParaRPr lang="zh-CN" altLang="en-US"/>
          </a:p>
        </p:txBody>
      </p:sp>
      <p:sp>
        <p:nvSpPr>
          <p:cNvPr id="55" name="Polygon 55"/>
          <p:cNvSpPr/>
          <p:nvPr/>
        </p:nvSpPr>
        <p:spPr>
          <a:xfrm>
            <a:off x="2571750" y="4333875"/>
            <a:ext cx="95250" cy="95250"/>
          </a:xfrm>
          <a:custGeom>
            <a:avLst/>
            <a:gdLst/>
            <a:ahLst/>
            <a:cxnLst/>
            <a:rect l="l" t="t" r="r" b="b"/>
            <a:pathLst>
              <a:path w="95250" h="95250">
                <a:moveTo>
                  <a:pt x="95250" y="0"/>
                </a:moveTo>
                <a:lnTo>
                  <a:pt x="0" y="47625"/>
                </a:lnTo>
                <a:lnTo>
                  <a:pt x="95250" y="95250"/>
                </a:lnTo>
                <a:close/>
              </a:path>
            </a:pathLst>
          </a:custGeom>
          <a:solidFill>
            <a:srgbClr val="00D4FF"/>
          </a:solidFill>
          <a:ln>
            <a:noFill/>
          </a:ln>
        </p:spPr>
        <p:txBody>
          <a:bodyPr/>
          <a:lstStyle/>
          <a:p>
            <a:endParaRPr lang="zh-CN" altLang="en-US"/>
          </a:p>
        </p:txBody>
      </p:sp>
      <p:sp>
        <p:nvSpPr>
          <p:cNvPr id="56" name="Rectangle 56"/>
          <p:cNvSpPr/>
          <p:nvPr/>
        </p:nvSpPr>
        <p:spPr>
          <a:xfrm>
            <a:off x="952500" y="5524500"/>
            <a:ext cx="10096500" cy="666750"/>
          </a:xfrm>
          <a:prstGeom prst="roundRect">
            <a:avLst>
              <a:gd name="adj" fmla="val 11429"/>
            </a:avLst>
          </a:prstGeom>
          <a:solidFill>
            <a:srgbClr val="0F1419"/>
          </a:solidFill>
          <a:ln w="9525">
            <a:solidFill>
              <a:srgbClr val="2D3748"/>
            </a:solidFill>
          </a:ln>
        </p:spPr>
        <p:txBody>
          <a:bodyPr/>
          <a:lstStyle/>
          <a:p>
            <a:endParaRPr lang="zh-CN" altLang="en-US"/>
          </a:p>
        </p:txBody>
      </p:sp>
      <p:sp>
        <p:nvSpPr>
          <p:cNvPr id="57" name="TextBox 57"/>
          <p:cNvSpPr txBox="1"/>
          <p:nvPr/>
        </p:nvSpPr>
        <p:spPr>
          <a:xfrm>
            <a:off x="1223010" y="5680710"/>
            <a:ext cx="1038606" cy="243840"/>
          </a:xfrm>
          <a:prstGeom prst="rect">
            <a:avLst/>
          </a:prstGeom>
          <a:noFill/>
          <a:ln>
            <a:noFill/>
          </a:ln>
        </p:spPr>
        <p:txBody>
          <a:bodyPr wrap="none" lIns="0" tIns="0" rIns="0" bIns="0" anchor="t" anchorCtr="0">
            <a:spAutoFit/>
          </a:bodyPr>
          <a:lstStyle/>
          <a:p>
            <a:pPr algn="l"/>
            <a:r>
              <a:rPr lang="zh-CN" sz="1200" b="1" dirty="0">
                <a:solidFill>
                  <a:srgbClr val="00D4FF"/>
                </a:solidFill>
                <a:latin typeface="Arial" panose="020B0604020202020204"/>
                <a:ea typeface="微软雅黑" panose="020B0503020204020204" charset="-122"/>
                <a:cs typeface="Arial" panose="020B0604020202020204"/>
              </a:rPr>
              <a:t>关键技术点：</a:t>
            </a:r>
          </a:p>
        </p:txBody>
      </p:sp>
      <p:sp>
        <p:nvSpPr>
          <p:cNvPr id="58" name="TextBox 58"/>
          <p:cNvSpPr txBox="1"/>
          <p:nvPr/>
        </p:nvSpPr>
        <p:spPr>
          <a:xfrm>
            <a:off x="2651760" y="5680710"/>
            <a:ext cx="5167122" cy="243840"/>
          </a:xfrm>
          <a:prstGeom prst="rect">
            <a:avLst/>
          </a:prstGeom>
          <a:noFill/>
          <a:ln>
            <a:noFill/>
          </a:ln>
        </p:spPr>
        <p:txBody>
          <a:bodyPr wrap="none" lIns="0" tIns="0" rIns="0" bIns="0" anchor="t" anchorCtr="0">
            <a:spAutoFit/>
          </a:bodyPr>
          <a:lstStyle/>
          <a:p>
            <a:pPr algn="l"/>
            <a:r>
              <a:rPr lang="zh-CN" sz="1200" dirty="0">
                <a:solidFill>
                  <a:srgbClr val="E8EAED"/>
                </a:solidFill>
                <a:latin typeface="Arial" panose="020B0604020202020204"/>
                <a:ea typeface="微软雅黑" panose="020B0503020204020204" charset="-122"/>
                <a:cs typeface="Arial" panose="020B0604020202020204"/>
              </a:rPr>
              <a:t>BeautifulSoup 解析 HTML | 正则表达式规范化日期 | hashlib 生成去重键</a:t>
            </a:r>
          </a:p>
        </p:txBody>
      </p:sp>
      <p:sp>
        <p:nvSpPr>
          <p:cNvPr id="59" name="TextBox 59"/>
          <p:cNvSpPr txBox="1"/>
          <p:nvPr/>
        </p:nvSpPr>
        <p:spPr>
          <a:xfrm>
            <a:off x="1224915" y="5982652"/>
            <a:ext cx="5207317"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数据清洗是保证数据质量的关键步骤，清洗后的数据可直接用于词云生成和情感分析</a:t>
            </a:r>
          </a:p>
        </p:txBody>
      </p:sp>
      <p:sp>
        <p:nvSpPr>
          <p:cNvPr id="60" name="TextBox 60"/>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06 / 11</a:t>
            </a:r>
          </a:p>
        </p:txBody>
      </p:sp>
      <p:sp>
        <p:nvSpPr>
          <p:cNvPr id="61" name="Rectangle 61"/>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4" name="Rectangle 4"/>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5" name="TextBox 5"/>
          <p:cNvSpPr txBox="1"/>
          <p:nvPr/>
        </p:nvSpPr>
        <p:spPr>
          <a:xfrm>
            <a:off x="727710" y="356235"/>
            <a:ext cx="2714911"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词云与情感分析</a:t>
            </a:r>
          </a:p>
        </p:txBody>
      </p:sp>
      <p:sp>
        <p:nvSpPr>
          <p:cNvPr id="6" name="TextBox 6"/>
          <p:cNvSpPr txBox="1"/>
          <p:nvPr/>
        </p:nvSpPr>
        <p:spPr>
          <a:xfrm>
            <a:off x="3602355" y="501968"/>
            <a:ext cx="2815638" cy="274320"/>
          </a:xfrm>
          <a:prstGeom prst="rect">
            <a:avLst/>
          </a:prstGeom>
          <a:noFill/>
          <a:ln>
            <a:noFill/>
          </a:ln>
        </p:spPr>
        <p:txBody>
          <a:bodyPr wrap="none" lIns="0" tIns="0" rIns="0" bIns="0" anchor="t" anchorCtr="0">
            <a:spAutoFit/>
          </a:bodyPr>
          <a:lstStyle/>
          <a:p>
            <a:pPr algn="l"/>
            <a:r>
              <a:rPr lang="zh-CN" sz="1350" dirty="0">
                <a:solidFill>
                  <a:srgbClr val="9AA0A6"/>
                </a:solidFill>
                <a:latin typeface="Arial" panose="020B0604020202020204"/>
                <a:ea typeface="微软雅黑" panose="020B0503020204020204" charset="-122"/>
                <a:cs typeface="Arial" panose="020B0604020202020204"/>
              </a:rPr>
              <a:t>Word Cloud &amp; Sentiment Analysis</a:t>
            </a:r>
          </a:p>
        </p:txBody>
      </p:sp>
      <p:sp>
        <p:nvSpPr>
          <p:cNvPr id="7" name="Rectangle 7"/>
          <p:cNvSpPr/>
          <p:nvPr/>
        </p:nvSpPr>
        <p:spPr>
          <a:xfrm>
            <a:off x="571500" y="1047750"/>
            <a:ext cx="5334000" cy="5334000"/>
          </a:xfrm>
          <a:prstGeom prst="roundRect">
            <a:avLst>
              <a:gd name="adj" fmla="val 2143"/>
            </a:avLst>
          </a:prstGeom>
          <a:solidFill>
            <a:srgbClr val="1A2332"/>
          </a:solidFill>
          <a:ln w="9525">
            <a:solidFill>
              <a:srgbClr val="2D3748"/>
            </a:solidFill>
          </a:ln>
        </p:spPr>
        <p:txBody>
          <a:bodyPr/>
          <a:lstStyle/>
          <a:p>
            <a:endParaRPr lang="zh-CN" altLang="en-US"/>
          </a:p>
        </p:txBody>
      </p:sp>
      <p:sp>
        <p:nvSpPr>
          <p:cNvPr id="8" name="TextBox 8"/>
          <p:cNvSpPr txBox="1"/>
          <p:nvPr/>
        </p:nvSpPr>
        <p:spPr>
          <a:xfrm>
            <a:off x="741045" y="1250632"/>
            <a:ext cx="966026" cy="335280"/>
          </a:xfrm>
          <a:prstGeom prst="rect">
            <a:avLst/>
          </a:prstGeom>
          <a:noFill/>
          <a:ln>
            <a:noFill/>
          </a:ln>
        </p:spPr>
        <p:txBody>
          <a:bodyPr wrap="none" lIns="0" tIns="0" rIns="0" bIns="0" anchor="t" anchorCtr="0">
            <a:spAutoFit/>
          </a:bodyPr>
          <a:lstStyle/>
          <a:p>
            <a:pPr algn="l"/>
            <a:r>
              <a:rPr lang="zh-CN" sz="1650" b="1" dirty="0">
                <a:solidFill>
                  <a:srgbClr val="00D4FF"/>
                </a:solidFill>
                <a:latin typeface="Arial" panose="020B0604020202020204"/>
                <a:ea typeface="微软雅黑" panose="020B0503020204020204" charset="-122"/>
                <a:cs typeface="Arial" panose="020B0604020202020204"/>
              </a:rPr>
              <a:t>词云生成</a:t>
            </a:r>
          </a:p>
        </p:txBody>
      </p:sp>
      <p:sp>
        <p:nvSpPr>
          <p:cNvPr id="9" name="Rectangle 9"/>
          <p:cNvSpPr/>
          <p:nvPr/>
        </p:nvSpPr>
        <p:spPr>
          <a:xfrm>
            <a:off x="952500" y="1619250"/>
            <a:ext cx="4762500" cy="2667000"/>
          </a:xfrm>
          <a:prstGeom prst="roundRect">
            <a:avLst>
              <a:gd name="adj" fmla="val 2857"/>
            </a:avLst>
          </a:prstGeom>
          <a:solidFill>
            <a:srgbClr val="0F1419"/>
          </a:solidFill>
          <a:ln w="9525">
            <a:solidFill>
              <a:srgbClr val="2D3748"/>
            </a:solidFill>
          </a:ln>
        </p:spPr>
        <p:txBody>
          <a:bodyPr/>
          <a:lstStyle/>
          <a:p>
            <a:endParaRPr lang="zh-CN" altLang="en-US"/>
          </a:p>
        </p:txBody>
      </p:sp>
      <p:sp>
        <p:nvSpPr>
          <p:cNvPr id="10" name="TextBox 10"/>
          <p:cNvSpPr txBox="1"/>
          <p:nvPr/>
        </p:nvSpPr>
        <p:spPr>
          <a:xfrm>
            <a:off x="1870710" y="1994535"/>
            <a:ext cx="1316136" cy="548640"/>
          </a:xfrm>
          <a:prstGeom prst="rect">
            <a:avLst/>
          </a:prstGeom>
          <a:noFill/>
          <a:ln>
            <a:noFill/>
          </a:ln>
        </p:spPr>
        <p:txBody>
          <a:bodyPr wrap="none" lIns="0" tIns="0" rIns="0" bIns="0" anchor="t" anchorCtr="0">
            <a:spAutoFit/>
          </a:bodyPr>
          <a:lstStyle/>
          <a:p>
            <a:pPr algn="l"/>
            <a:r>
              <a:rPr lang="zh-CN" sz="2700" b="1" dirty="0">
                <a:solidFill>
                  <a:srgbClr val="00D4FF">
                    <a:alphaMod val="90000"/>
                  </a:srgbClr>
                </a:solidFill>
                <a:latin typeface="Arial" panose="020B0604020202020204"/>
                <a:ea typeface="微软雅黑" panose="020B0503020204020204" charset="-122"/>
                <a:cs typeface="Arial" panose="020B0604020202020204"/>
              </a:rPr>
              <a:t>Python</a:t>
            </a:r>
          </a:p>
        </p:txBody>
      </p:sp>
      <p:sp>
        <p:nvSpPr>
          <p:cNvPr id="11" name="TextBox 11"/>
          <p:cNvSpPr txBox="1"/>
          <p:nvPr/>
        </p:nvSpPr>
        <p:spPr>
          <a:xfrm>
            <a:off x="3592830" y="1868805"/>
            <a:ext cx="641414" cy="426720"/>
          </a:xfrm>
          <a:prstGeom prst="rect">
            <a:avLst/>
          </a:prstGeom>
          <a:noFill/>
          <a:ln>
            <a:noFill/>
          </a:ln>
        </p:spPr>
        <p:txBody>
          <a:bodyPr wrap="none" lIns="0" tIns="0" rIns="0" bIns="0" anchor="t" anchorCtr="0">
            <a:spAutoFit/>
          </a:bodyPr>
          <a:lstStyle/>
          <a:p>
            <a:pPr algn="l"/>
            <a:r>
              <a:rPr lang="zh-CN" sz="2100" b="1" dirty="0">
                <a:solidFill>
                  <a:srgbClr val="4ECDC4">
                    <a:alphaMod val="80000"/>
                  </a:srgbClr>
                </a:solidFill>
                <a:latin typeface="Arial" panose="020B0604020202020204"/>
                <a:ea typeface="微软雅黑" panose="020B0503020204020204" charset="-122"/>
                <a:cs typeface="Arial" panose="020B0604020202020204"/>
              </a:rPr>
              <a:t>数据</a:t>
            </a:r>
          </a:p>
        </p:txBody>
      </p:sp>
      <p:sp>
        <p:nvSpPr>
          <p:cNvPr id="12" name="TextBox 12"/>
          <p:cNvSpPr txBox="1"/>
          <p:nvPr/>
        </p:nvSpPr>
        <p:spPr>
          <a:xfrm>
            <a:off x="1405890" y="2567940"/>
            <a:ext cx="525780" cy="365760"/>
          </a:xfrm>
          <a:prstGeom prst="rect">
            <a:avLst/>
          </a:prstGeom>
          <a:noFill/>
          <a:ln>
            <a:noFill/>
          </a:ln>
        </p:spPr>
        <p:txBody>
          <a:bodyPr wrap="none" lIns="0" tIns="0" rIns="0" bIns="0" anchor="t" anchorCtr="0">
            <a:spAutoFit/>
          </a:bodyPr>
          <a:lstStyle/>
          <a:p>
            <a:pPr algn="l"/>
            <a:r>
              <a:rPr lang="zh-CN" sz="1800" dirty="0">
                <a:solidFill>
                  <a:srgbClr val="FF6B35">
                    <a:alphaMod val="70000"/>
                  </a:srgbClr>
                </a:solidFill>
                <a:latin typeface="Arial" panose="020B0604020202020204"/>
                <a:ea typeface="微软雅黑" panose="020B0503020204020204" charset="-122"/>
                <a:cs typeface="Arial" panose="020B0604020202020204"/>
              </a:rPr>
              <a:t>爬虫</a:t>
            </a:r>
          </a:p>
        </p:txBody>
      </p:sp>
      <p:sp>
        <p:nvSpPr>
          <p:cNvPr id="13" name="TextBox 13"/>
          <p:cNvSpPr txBox="1"/>
          <p:nvPr/>
        </p:nvSpPr>
        <p:spPr>
          <a:xfrm>
            <a:off x="3970020" y="2407920"/>
            <a:ext cx="901065" cy="487680"/>
          </a:xfrm>
          <a:prstGeom prst="rect">
            <a:avLst/>
          </a:prstGeom>
          <a:noFill/>
          <a:ln>
            <a:noFill/>
          </a:ln>
        </p:spPr>
        <p:txBody>
          <a:bodyPr wrap="none" lIns="0" tIns="0" rIns="0" bIns="0" anchor="t" anchorCtr="0">
            <a:spAutoFit/>
          </a:bodyPr>
          <a:lstStyle/>
          <a:p>
            <a:pPr algn="l"/>
            <a:r>
              <a:rPr lang="zh-CN" sz="2400" b="1" dirty="0">
                <a:solidFill>
                  <a:srgbClr val="00D4FF">
                    <a:alphaMod val="85000"/>
                  </a:srgbClr>
                </a:solidFill>
                <a:latin typeface="Arial" panose="020B0604020202020204"/>
                <a:ea typeface="微软雅黑" panose="020B0503020204020204" charset="-122"/>
                <a:cs typeface="Arial" panose="020B0604020202020204"/>
              </a:rPr>
              <a:t>Sanic</a:t>
            </a:r>
          </a:p>
        </p:txBody>
      </p:sp>
      <p:sp>
        <p:nvSpPr>
          <p:cNvPr id="14" name="TextBox 14"/>
          <p:cNvSpPr txBox="1"/>
          <p:nvPr/>
        </p:nvSpPr>
        <p:spPr>
          <a:xfrm>
            <a:off x="2362200" y="2981325"/>
            <a:ext cx="638175" cy="304800"/>
          </a:xfrm>
          <a:prstGeom prst="rect">
            <a:avLst/>
          </a:prstGeom>
          <a:noFill/>
          <a:ln>
            <a:noFill/>
          </a:ln>
        </p:spPr>
        <p:txBody>
          <a:bodyPr wrap="none" lIns="0" tIns="0" rIns="0" bIns="0" anchor="t" anchorCtr="0">
            <a:spAutoFit/>
          </a:bodyPr>
          <a:lstStyle/>
          <a:p>
            <a:pPr algn="l"/>
            <a:r>
              <a:rPr lang="zh-CN" sz="1500" dirty="0">
                <a:solidFill>
                  <a:srgbClr val="4ECDC4">
                    <a:alphaMod val="60000"/>
                  </a:srgbClr>
                </a:solidFill>
                <a:latin typeface="Arial" panose="020B0604020202020204"/>
                <a:ea typeface="微软雅黑" panose="020B0503020204020204" charset="-122"/>
                <a:cs typeface="Arial" panose="020B0604020202020204"/>
              </a:rPr>
              <a:t>可视化</a:t>
            </a:r>
          </a:p>
        </p:txBody>
      </p:sp>
      <p:sp>
        <p:nvSpPr>
          <p:cNvPr id="15" name="TextBox 15"/>
          <p:cNvSpPr txBox="1"/>
          <p:nvPr/>
        </p:nvSpPr>
        <p:spPr>
          <a:xfrm>
            <a:off x="4269105" y="3092768"/>
            <a:ext cx="394335" cy="274320"/>
          </a:xfrm>
          <a:prstGeom prst="rect">
            <a:avLst/>
          </a:prstGeom>
          <a:noFill/>
          <a:ln>
            <a:noFill/>
          </a:ln>
        </p:spPr>
        <p:txBody>
          <a:bodyPr wrap="none" lIns="0" tIns="0" rIns="0" bIns="0" anchor="t" anchorCtr="0">
            <a:spAutoFit/>
          </a:bodyPr>
          <a:lstStyle/>
          <a:p>
            <a:pPr algn="l"/>
            <a:r>
              <a:rPr lang="zh-CN" sz="1350" dirty="0">
                <a:solidFill>
                  <a:srgbClr val="9AA0A6">
                    <a:alphaMod val="50000"/>
                  </a:srgbClr>
                </a:solidFill>
                <a:latin typeface="Arial" panose="020B0604020202020204"/>
                <a:ea typeface="微软雅黑" panose="020B0503020204020204" charset="-122"/>
                <a:cs typeface="Arial" panose="020B0604020202020204"/>
              </a:rPr>
              <a:t>分析</a:t>
            </a:r>
          </a:p>
        </p:txBody>
      </p:sp>
      <p:sp>
        <p:nvSpPr>
          <p:cNvPr id="16" name="TextBox 16"/>
          <p:cNvSpPr txBox="1"/>
          <p:nvPr/>
        </p:nvSpPr>
        <p:spPr>
          <a:xfrm>
            <a:off x="1693545" y="3346132"/>
            <a:ext cx="481965" cy="335280"/>
          </a:xfrm>
          <a:prstGeom prst="rect">
            <a:avLst/>
          </a:prstGeom>
          <a:noFill/>
          <a:ln>
            <a:noFill/>
          </a:ln>
        </p:spPr>
        <p:txBody>
          <a:bodyPr wrap="none" lIns="0" tIns="0" rIns="0" bIns="0" anchor="t" anchorCtr="0">
            <a:spAutoFit/>
          </a:bodyPr>
          <a:lstStyle/>
          <a:p>
            <a:pPr algn="l"/>
            <a:r>
              <a:rPr lang="zh-CN" sz="1650" dirty="0">
                <a:solidFill>
                  <a:srgbClr val="FF6B35">
                    <a:alphaMod val="75000"/>
                  </a:srgbClr>
                </a:solidFill>
                <a:latin typeface="Arial" panose="020B0604020202020204"/>
                <a:ea typeface="微软雅黑" panose="020B0503020204020204" charset="-122"/>
                <a:cs typeface="Arial" panose="020B0604020202020204"/>
              </a:rPr>
              <a:t>词云</a:t>
            </a:r>
          </a:p>
        </p:txBody>
      </p:sp>
      <p:sp>
        <p:nvSpPr>
          <p:cNvPr id="17" name="TextBox 17"/>
          <p:cNvSpPr txBox="1"/>
          <p:nvPr/>
        </p:nvSpPr>
        <p:spPr>
          <a:xfrm>
            <a:off x="3318510" y="3585210"/>
            <a:ext cx="350520" cy="243840"/>
          </a:xfrm>
          <a:prstGeom prst="rect">
            <a:avLst/>
          </a:prstGeom>
          <a:noFill/>
          <a:ln>
            <a:noFill/>
          </a:ln>
        </p:spPr>
        <p:txBody>
          <a:bodyPr wrap="none" lIns="0" tIns="0" rIns="0" bIns="0" anchor="t" anchorCtr="0">
            <a:spAutoFit/>
          </a:bodyPr>
          <a:lstStyle/>
          <a:p>
            <a:pPr algn="l"/>
            <a:r>
              <a:rPr lang="zh-CN" sz="1200" dirty="0">
                <a:solidFill>
                  <a:srgbClr val="6B7280">
                    <a:alphaMod val="40000"/>
                  </a:srgbClr>
                </a:solidFill>
                <a:latin typeface="Arial" panose="020B0604020202020204"/>
                <a:ea typeface="微软雅黑" panose="020B0503020204020204" charset="-122"/>
                <a:cs typeface="Arial" panose="020B0604020202020204"/>
              </a:rPr>
              <a:t>清洗</a:t>
            </a:r>
          </a:p>
        </p:txBody>
      </p:sp>
      <p:sp>
        <p:nvSpPr>
          <p:cNvPr id="18" name="TextBox 18"/>
          <p:cNvSpPr txBox="1"/>
          <p:nvPr/>
        </p:nvSpPr>
        <p:spPr>
          <a:xfrm>
            <a:off x="4547235" y="3408998"/>
            <a:ext cx="554643" cy="396240"/>
          </a:xfrm>
          <a:prstGeom prst="rect">
            <a:avLst/>
          </a:prstGeom>
          <a:noFill/>
          <a:ln>
            <a:noFill/>
          </a:ln>
        </p:spPr>
        <p:txBody>
          <a:bodyPr wrap="none" lIns="0" tIns="0" rIns="0" bIns="0" anchor="t" anchorCtr="0">
            <a:spAutoFit/>
          </a:bodyPr>
          <a:lstStyle/>
          <a:p>
            <a:pPr algn="l"/>
            <a:r>
              <a:rPr lang="zh-CN" sz="1950" b="1" dirty="0">
                <a:solidFill>
                  <a:srgbClr val="00D4FF">
                    <a:alphaMod val="80000"/>
                  </a:srgbClr>
                </a:solidFill>
                <a:latin typeface="Arial" panose="020B0604020202020204"/>
                <a:ea typeface="微软雅黑" panose="020B0503020204020204" charset="-122"/>
                <a:cs typeface="Arial" panose="020B0604020202020204"/>
              </a:rPr>
              <a:t>Web</a:t>
            </a:r>
          </a:p>
        </p:txBody>
      </p:sp>
      <p:sp>
        <p:nvSpPr>
          <p:cNvPr id="19" name="TextBox 19"/>
          <p:cNvSpPr txBox="1"/>
          <p:nvPr/>
        </p:nvSpPr>
        <p:spPr>
          <a:xfrm>
            <a:off x="1224915" y="3887152"/>
            <a:ext cx="306705" cy="213360"/>
          </a:xfrm>
          <a:prstGeom prst="rect">
            <a:avLst/>
          </a:prstGeom>
          <a:noFill/>
          <a:ln>
            <a:noFill/>
          </a:ln>
        </p:spPr>
        <p:txBody>
          <a:bodyPr wrap="none" lIns="0" tIns="0" rIns="0" bIns="0" anchor="t" anchorCtr="0">
            <a:spAutoFit/>
          </a:bodyPr>
          <a:lstStyle/>
          <a:p>
            <a:pPr algn="l"/>
            <a:r>
              <a:rPr lang="zh-CN" sz="1050" dirty="0">
                <a:solidFill>
                  <a:srgbClr val="9AA0A6">
                    <a:alphaMod val="50000"/>
                  </a:srgbClr>
                </a:solidFill>
                <a:latin typeface="Arial" panose="020B0604020202020204"/>
                <a:ea typeface="微软雅黑" panose="020B0503020204020204" charset="-122"/>
                <a:cs typeface="Arial" panose="020B0604020202020204"/>
              </a:rPr>
              <a:t>情感</a:t>
            </a:r>
          </a:p>
        </p:txBody>
      </p:sp>
      <p:sp>
        <p:nvSpPr>
          <p:cNvPr id="20" name="TextBox 20"/>
          <p:cNvSpPr txBox="1"/>
          <p:nvPr/>
        </p:nvSpPr>
        <p:spPr>
          <a:xfrm>
            <a:off x="744855" y="4521518"/>
            <a:ext cx="790384" cy="274320"/>
          </a:xfrm>
          <a:prstGeom prst="rect">
            <a:avLst/>
          </a:prstGeom>
          <a:noFill/>
          <a:ln>
            <a:noFill/>
          </a:ln>
        </p:spPr>
        <p:txBody>
          <a:bodyPr wrap="none" lIns="0" tIns="0" rIns="0" bIns="0" anchor="t" anchorCtr="0">
            <a:spAutoFit/>
          </a:bodyPr>
          <a:lstStyle/>
          <a:p>
            <a:pPr algn="l"/>
            <a:r>
              <a:rPr lang="zh-CN" sz="1350" b="1" dirty="0">
                <a:solidFill>
                  <a:srgbClr val="E8EAED"/>
                </a:solidFill>
                <a:latin typeface="Arial" panose="020B0604020202020204"/>
                <a:ea typeface="微软雅黑" panose="020B0503020204020204" charset="-122"/>
                <a:cs typeface="Arial" panose="020B0604020202020204"/>
              </a:rPr>
              <a:t>生成流程</a:t>
            </a:r>
          </a:p>
        </p:txBody>
      </p:sp>
      <p:sp>
        <p:nvSpPr>
          <p:cNvPr id="21" name="Rectangle 21"/>
          <p:cNvSpPr/>
          <p:nvPr/>
        </p:nvSpPr>
        <p:spPr>
          <a:xfrm>
            <a:off x="952500" y="4857750"/>
            <a:ext cx="1143000" cy="381000"/>
          </a:xfrm>
          <a:prstGeom prst="roundRect">
            <a:avLst>
              <a:gd name="adj" fmla="val 10000"/>
            </a:avLst>
          </a:prstGeom>
          <a:solidFill>
            <a:srgbClr val="0F1419"/>
          </a:solidFill>
          <a:ln w="14288">
            <a:solidFill>
              <a:srgbClr val="00D4FF"/>
            </a:solidFill>
          </a:ln>
        </p:spPr>
        <p:txBody>
          <a:bodyPr/>
          <a:lstStyle/>
          <a:p>
            <a:endParaRPr lang="zh-CN" altLang="en-US"/>
          </a:p>
        </p:txBody>
      </p:sp>
      <p:sp>
        <p:nvSpPr>
          <p:cNvPr id="22" name="TextBox 22"/>
          <p:cNvSpPr txBox="1"/>
          <p:nvPr/>
        </p:nvSpPr>
        <p:spPr>
          <a:xfrm>
            <a:off x="1192125" y="4982528"/>
            <a:ext cx="663750" cy="213360"/>
          </a:xfrm>
          <a:prstGeom prst="rect">
            <a:avLst/>
          </a:prstGeom>
          <a:noFill/>
          <a:ln>
            <a:noFill/>
          </a:ln>
        </p:spPr>
        <p:txBody>
          <a:bodyPr wrap="none" lIns="0" tIns="0" rIns="0" bIns="0" anchor="t" anchorCtr="0">
            <a:spAutoFit/>
          </a:bodyPr>
          <a:lstStyle/>
          <a:p>
            <a:pPr algn="ctr"/>
            <a:r>
              <a:rPr lang="zh-CN" sz="1050" dirty="0">
                <a:solidFill>
                  <a:srgbClr val="00D4FF"/>
                </a:solidFill>
                <a:latin typeface="Arial" panose="020B0604020202020204"/>
                <a:ea typeface="微软雅黑" panose="020B0503020204020204" charset="-122"/>
                <a:cs typeface="Arial" panose="020B0604020202020204"/>
              </a:rPr>
              <a:t>jieba 分词</a:t>
            </a:r>
          </a:p>
        </p:txBody>
      </p:sp>
      <p:sp>
        <p:nvSpPr>
          <p:cNvPr id="23" name="Line 23"/>
          <p:cNvSpPr/>
          <p:nvPr/>
        </p:nvSpPr>
        <p:spPr>
          <a:xfrm>
            <a:off x="2095500" y="5048250"/>
            <a:ext cx="285750" cy="9525"/>
          </a:xfrm>
          <a:custGeom>
            <a:avLst/>
            <a:gdLst/>
            <a:ahLst/>
            <a:cxnLst/>
            <a:rect l="l" t="t" r="r" b="b"/>
            <a:pathLst>
              <a:path w="285750" h="9525">
                <a:moveTo>
                  <a:pt x="0" y="0"/>
                </a:moveTo>
                <a:lnTo>
                  <a:pt x="285750" y="0"/>
                </a:lnTo>
              </a:path>
            </a:pathLst>
          </a:custGeom>
          <a:noFill/>
          <a:ln w="14288">
            <a:solidFill>
              <a:srgbClr val="00D4FF"/>
            </a:solidFill>
          </a:ln>
        </p:spPr>
        <p:txBody>
          <a:bodyPr/>
          <a:lstStyle/>
          <a:p>
            <a:endParaRPr lang="zh-CN" altLang="en-US"/>
          </a:p>
        </p:txBody>
      </p:sp>
      <p:sp>
        <p:nvSpPr>
          <p:cNvPr id="24" name="Polygon 24"/>
          <p:cNvSpPr/>
          <p:nvPr/>
        </p:nvSpPr>
        <p:spPr>
          <a:xfrm>
            <a:off x="2381250" y="5010150"/>
            <a:ext cx="76200" cy="76200"/>
          </a:xfrm>
          <a:custGeom>
            <a:avLst/>
            <a:gdLst/>
            <a:ahLst/>
            <a:cxnLst/>
            <a:rect l="l" t="t" r="r" b="b"/>
            <a:pathLst>
              <a:path w="76200" h="76200">
                <a:moveTo>
                  <a:pt x="0" y="0"/>
                </a:moveTo>
                <a:lnTo>
                  <a:pt x="76200" y="38100"/>
                </a:lnTo>
                <a:lnTo>
                  <a:pt x="0" y="76200"/>
                </a:lnTo>
                <a:close/>
              </a:path>
            </a:pathLst>
          </a:custGeom>
          <a:solidFill>
            <a:srgbClr val="00D4FF"/>
          </a:solidFill>
          <a:ln>
            <a:noFill/>
          </a:ln>
        </p:spPr>
        <p:txBody>
          <a:bodyPr/>
          <a:lstStyle/>
          <a:p>
            <a:endParaRPr lang="zh-CN" altLang="en-US"/>
          </a:p>
        </p:txBody>
      </p:sp>
      <p:sp>
        <p:nvSpPr>
          <p:cNvPr id="25" name="Rectangle 25"/>
          <p:cNvSpPr/>
          <p:nvPr/>
        </p:nvSpPr>
        <p:spPr>
          <a:xfrm>
            <a:off x="2476500" y="4857750"/>
            <a:ext cx="1143000" cy="381000"/>
          </a:xfrm>
          <a:prstGeom prst="roundRect">
            <a:avLst>
              <a:gd name="adj" fmla="val 10000"/>
            </a:avLst>
          </a:prstGeom>
          <a:solidFill>
            <a:srgbClr val="0F1419"/>
          </a:solidFill>
          <a:ln w="14288">
            <a:solidFill>
              <a:srgbClr val="4ECDC4"/>
            </a:solidFill>
          </a:ln>
        </p:spPr>
        <p:txBody>
          <a:bodyPr/>
          <a:lstStyle/>
          <a:p>
            <a:endParaRPr lang="zh-CN" altLang="en-US"/>
          </a:p>
        </p:txBody>
      </p:sp>
      <p:sp>
        <p:nvSpPr>
          <p:cNvPr id="26" name="TextBox 26"/>
          <p:cNvSpPr txBox="1"/>
          <p:nvPr/>
        </p:nvSpPr>
        <p:spPr>
          <a:xfrm>
            <a:off x="2684621" y="4982528"/>
            <a:ext cx="726758" cy="213360"/>
          </a:xfrm>
          <a:prstGeom prst="rect">
            <a:avLst/>
          </a:prstGeom>
          <a:noFill/>
          <a:ln>
            <a:noFill/>
          </a:ln>
        </p:spPr>
        <p:txBody>
          <a:bodyPr wrap="none" lIns="0" tIns="0" rIns="0" bIns="0" anchor="t" anchorCtr="0">
            <a:spAutoFit/>
          </a:bodyPr>
          <a:lstStyle/>
          <a:p>
            <a:pPr algn="ctr"/>
            <a:r>
              <a:rPr lang="zh-CN" sz="1050" dirty="0">
                <a:solidFill>
                  <a:srgbClr val="4ECDC4"/>
                </a:solidFill>
                <a:latin typeface="Arial" panose="020B0604020202020204"/>
                <a:ea typeface="微软雅黑" panose="020B0503020204020204" charset="-122"/>
                <a:cs typeface="Arial" panose="020B0604020202020204"/>
              </a:rPr>
              <a:t>停用词过滤</a:t>
            </a:r>
          </a:p>
        </p:txBody>
      </p:sp>
      <p:sp>
        <p:nvSpPr>
          <p:cNvPr id="27" name="Line 27"/>
          <p:cNvSpPr/>
          <p:nvPr/>
        </p:nvSpPr>
        <p:spPr>
          <a:xfrm>
            <a:off x="3619500" y="5048250"/>
            <a:ext cx="285750" cy="9525"/>
          </a:xfrm>
          <a:custGeom>
            <a:avLst/>
            <a:gdLst/>
            <a:ahLst/>
            <a:cxnLst/>
            <a:rect l="l" t="t" r="r" b="b"/>
            <a:pathLst>
              <a:path w="285750" h="9525">
                <a:moveTo>
                  <a:pt x="0" y="0"/>
                </a:moveTo>
                <a:lnTo>
                  <a:pt x="285750" y="0"/>
                </a:lnTo>
              </a:path>
            </a:pathLst>
          </a:custGeom>
          <a:noFill/>
          <a:ln w="14288">
            <a:solidFill>
              <a:srgbClr val="4ECDC4"/>
            </a:solidFill>
          </a:ln>
        </p:spPr>
        <p:txBody>
          <a:bodyPr/>
          <a:lstStyle/>
          <a:p>
            <a:endParaRPr lang="zh-CN" altLang="en-US"/>
          </a:p>
        </p:txBody>
      </p:sp>
      <p:sp>
        <p:nvSpPr>
          <p:cNvPr id="28" name="Polygon 28"/>
          <p:cNvSpPr/>
          <p:nvPr/>
        </p:nvSpPr>
        <p:spPr>
          <a:xfrm>
            <a:off x="3905250" y="5010150"/>
            <a:ext cx="76200" cy="76200"/>
          </a:xfrm>
          <a:custGeom>
            <a:avLst/>
            <a:gdLst/>
            <a:ahLst/>
            <a:cxnLst/>
            <a:rect l="l" t="t" r="r" b="b"/>
            <a:pathLst>
              <a:path w="76200" h="76200">
                <a:moveTo>
                  <a:pt x="0" y="0"/>
                </a:moveTo>
                <a:lnTo>
                  <a:pt x="76200" y="38100"/>
                </a:lnTo>
                <a:lnTo>
                  <a:pt x="0" y="76200"/>
                </a:lnTo>
                <a:close/>
              </a:path>
            </a:pathLst>
          </a:custGeom>
          <a:solidFill>
            <a:srgbClr val="4ECDC4"/>
          </a:solidFill>
          <a:ln>
            <a:noFill/>
          </a:ln>
        </p:spPr>
        <p:txBody>
          <a:bodyPr/>
          <a:lstStyle/>
          <a:p>
            <a:endParaRPr lang="zh-CN" altLang="en-US"/>
          </a:p>
        </p:txBody>
      </p:sp>
      <p:sp>
        <p:nvSpPr>
          <p:cNvPr id="29" name="Rectangle 29"/>
          <p:cNvSpPr/>
          <p:nvPr/>
        </p:nvSpPr>
        <p:spPr>
          <a:xfrm>
            <a:off x="4000500" y="4857750"/>
            <a:ext cx="1143000" cy="381000"/>
          </a:xfrm>
          <a:prstGeom prst="roundRect">
            <a:avLst>
              <a:gd name="adj" fmla="val 10000"/>
            </a:avLst>
          </a:prstGeom>
          <a:solidFill>
            <a:srgbClr val="0F1419"/>
          </a:solidFill>
          <a:ln w="14288">
            <a:solidFill>
              <a:srgbClr val="FF6B35"/>
            </a:solidFill>
          </a:ln>
        </p:spPr>
        <p:txBody>
          <a:bodyPr/>
          <a:lstStyle/>
          <a:p>
            <a:endParaRPr lang="zh-CN" altLang="en-US"/>
          </a:p>
        </p:txBody>
      </p:sp>
      <p:sp>
        <p:nvSpPr>
          <p:cNvPr id="30" name="TextBox 30"/>
          <p:cNvSpPr txBox="1"/>
          <p:nvPr/>
        </p:nvSpPr>
        <p:spPr>
          <a:xfrm>
            <a:off x="4054602" y="4982528"/>
            <a:ext cx="1034796" cy="213360"/>
          </a:xfrm>
          <a:prstGeom prst="rect">
            <a:avLst/>
          </a:prstGeom>
          <a:noFill/>
          <a:ln>
            <a:noFill/>
          </a:ln>
        </p:spPr>
        <p:txBody>
          <a:bodyPr wrap="none" lIns="0" tIns="0" rIns="0" bIns="0" anchor="t" anchorCtr="0">
            <a:spAutoFit/>
          </a:bodyPr>
          <a:lstStyle/>
          <a:p>
            <a:pPr algn="ctr"/>
            <a:r>
              <a:rPr lang="zh-CN" sz="1050" dirty="0">
                <a:solidFill>
                  <a:srgbClr val="FF6B35"/>
                </a:solidFill>
                <a:latin typeface="Arial" panose="020B0604020202020204"/>
                <a:ea typeface="微软雅黑" panose="020B0503020204020204" charset="-122"/>
                <a:cs typeface="Arial" panose="020B0604020202020204"/>
              </a:rPr>
              <a:t>WordCloud 渲染</a:t>
            </a:r>
          </a:p>
        </p:txBody>
      </p:sp>
      <p:sp>
        <p:nvSpPr>
          <p:cNvPr id="31" name="Rectangle 31"/>
          <p:cNvSpPr/>
          <p:nvPr/>
        </p:nvSpPr>
        <p:spPr>
          <a:xfrm>
            <a:off x="1905000" y="5524500"/>
            <a:ext cx="1524000" cy="381000"/>
          </a:xfrm>
          <a:prstGeom prst="roundRect">
            <a:avLst>
              <a:gd name="adj" fmla="val 50000"/>
            </a:avLst>
          </a:prstGeom>
          <a:solidFill>
            <a:srgbClr val="00D4FF">
              <a:alpha val="20000"/>
            </a:srgbClr>
          </a:solidFill>
          <a:ln w="14288">
            <a:solidFill>
              <a:srgbClr val="00D4FF"/>
            </a:solidFill>
          </a:ln>
        </p:spPr>
        <p:txBody>
          <a:bodyPr/>
          <a:lstStyle/>
          <a:p>
            <a:endParaRPr lang="zh-CN" altLang="en-US"/>
          </a:p>
        </p:txBody>
      </p:sp>
      <p:sp>
        <p:nvSpPr>
          <p:cNvPr id="32" name="TextBox 32"/>
          <p:cNvSpPr txBox="1"/>
          <p:nvPr/>
        </p:nvSpPr>
        <p:spPr>
          <a:xfrm>
            <a:off x="2216110" y="5649278"/>
            <a:ext cx="901779" cy="213360"/>
          </a:xfrm>
          <a:prstGeom prst="rect">
            <a:avLst/>
          </a:prstGeom>
          <a:noFill/>
          <a:ln>
            <a:noFill/>
          </a:ln>
        </p:spPr>
        <p:txBody>
          <a:bodyPr wrap="none" lIns="0" tIns="0" rIns="0" bIns="0" anchor="t" anchorCtr="0">
            <a:spAutoFit/>
          </a:bodyPr>
          <a:lstStyle/>
          <a:p>
            <a:pPr algn="ctr"/>
            <a:r>
              <a:rPr lang="zh-CN" sz="1050" dirty="0">
                <a:solidFill>
                  <a:srgbClr val="00D4FF"/>
                </a:solidFill>
                <a:latin typeface="Arial" panose="020B0604020202020204"/>
                <a:ea typeface="微软雅黑" panose="020B0503020204020204" charset="-122"/>
                <a:cs typeface="Arial" panose="020B0604020202020204"/>
              </a:rPr>
              <a:t>下载 PNG 图片</a:t>
            </a:r>
          </a:p>
        </p:txBody>
      </p:sp>
      <p:sp>
        <p:nvSpPr>
          <p:cNvPr id="33" name="Rectangle 33"/>
          <p:cNvSpPr/>
          <p:nvPr/>
        </p:nvSpPr>
        <p:spPr>
          <a:xfrm>
            <a:off x="6286500" y="1047750"/>
            <a:ext cx="5334000" cy="5334000"/>
          </a:xfrm>
          <a:prstGeom prst="roundRect">
            <a:avLst>
              <a:gd name="adj" fmla="val 2143"/>
            </a:avLst>
          </a:prstGeom>
          <a:solidFill>
            <a:srgbClr val="1A2332"/>
          </a:solidFill>
          <a:ln w="9525">
            <a:solidFill>
              <a:srgbClr val="2D3748"/>
            </a:solidFill>
          </a:ln>
        </p:spPr>
        <p:txBody>
          <a:bodyPr/>
          <a:lstStyle/>
          <a:p>
            <a:endParaRPr lang="zh-CN" altLang="en-US"/>
          </a:p>
        </p:txBody>
      </p:sp>
      <p:sp>
        <p:nvSpPr>
          <p:cNvPr id="34" name="TextBox 34"/>
          <p:cNvSpPr txBox="1"/>
          <p:nvPr/>
        </p:nvSpPr>
        <p:spPr>
          <a:xfrm>
            <a:off x="6456045" y="1250632"/>
            <a:ext cx="966026" cy="335280"/>
          </a:xfrm>
          <a:prstGeom prst="rect">
            <a:avLst/>
          </a:prstGeom>
          <a:noFill/>
          <a:ln>
            <a:noFill/>
          </a:ln>
        </p:spPr>
        <p:txBody>
          <a:bodyPr wrap="none" lIns="0" tIns="0" rIns="0" bIns="0" anchor="t" anchorCtr="0">
            <a:spAutoFit/>
          </a:bodyPr>
          <a:lstStyle/>
          <a:p>
            <a:pPr algn="l"/>
            <a:r>
              <a:rPr lang="zh-CN" sz="1650" b="1" dirty="0">
                <a:solidFill>
                  <a:srgbClr val="4ECDC4"/>
                </a:solidFill>
                <a:latin typeface="Arial" panose="020B0604020202020204"/>
                <a:ea typeface="微软雅黑" panose="020B0503020204020204" charset="-122"/>
                <a:cs typeface="Arial" panose="020B0604020202020204"/>
              </a:rPr>
              <a:t>情感分析</a:t>
            </a:r>
          </a:p>
        </p:txBody>
      </p:sp>
      <p:sp>
        <p:nvSpPr>
          <p:cNvPr id="35" name="Rectangle 35"/>
          <p:cNvSpPr/>
          <p:nvPr/>
        </p:nvSpPr>
        <p:spPr>
          <a:xfrm>
            <a:off x="6667500" y="1619250"/>
            <a:ext cx="4762500" cy="2667000"/>
          </a:xfrm>
          <a:prstGeom prst="roundRect">
            <a:avLst>
              <a:gd name="adj" fmla="val 2857"/>
            </a:avLst>
          </a:prstGeom>
          <a:solidFill>
            <a:srgbClr val="0F1419"/>
          </a:solidFill>
          <a:ln w="9525">
            <a:solidFill>
              <a:srgbClr val="2D3748"/>
            </a:solidFill>
          </a:ln>
        </p:spPr>
        <p:txBody>
          <a:bodyPr/>
          <a:lstStyle/>
          <a:p>
            <a:endParaRPr lang="zh-CN" altLang="en-US"/>
          </a:p>
        </p:txBody>
      </p:sp>
      <p:sp>
        <p:nvSpPr>
          <p:cNvPr id="36" name="Arc 36"/>
          <p:cNvSpPr/>
          <p:nvPr/>
        </p:nvSpPr>
        <p:spPr>
          <a:xfrm>
            <a:off x="8096250" y="1714500"/>
            <a:ext cx="1238080" cy="1620943"/>
          </a:xfrm>
          <a:custGeom>
            <a:avLst/>
            <a:gdLst/>
            <a:ahLst/>
            <a:cxnLst/>
            <a:rect l="l" t="t" r="r" b="b"/>
            <a:pathLst>
              <a:path w="1238080" h="1620943">
                <a:moveTo>
                  <a:pt x="0" y="0"/>
                </a:moveTo>
                <a:lnTo>
                  <a:pt x="122646" y="6089"/>
                </a:lnTo>
                <a:lnTo>
                  <a:pt x="244086" y="24296"/>
                </a:lnTo>
                <a:lnTo>
                  <a:pt x="363125" y="54441"/>
                </a:lnTo>
                <a:lnTo>
                  <a:pt x="478593" y="96229"/>
                </a:lnTo>
                <a:lnTo>
                  <a:pt x="589355" y="149249"/>
                </a:lnTo>
                <a:lnTo>
                  <a:pt x="694320" y="212978"/>
                </a:lnTo>
                <a:lnTo>
                  <a:pt x="792457" y="286790"/>
                </a:lnTo>
                <a:lnTo>
                  <a:pt x="882800" y="369960"/>
                </a:lnTo>
                <a:lnTo>
                  <a:pt x="964461" y="461669"/>
                </a:lnTo>
                <a:lnTo>
                  <a:pt x="1036637" y="561016"/>
                </a:lnTo>
                <a:lnTo>
                  <a:pt x="1098618" y="667023"/>
                </a:lnTo>
                <a:lnTo>
                  <a:pt x="1149795" y="778647"/>
                </a:lnTo>
                <a:lnTo>
                  <a:pt x="1189664" y="894792"/>
                </a:lnTo>
                <a:lnTo>
                  <a:pt x="1217832" y="1014315"/>
                </a:lnTo>
                <a:lnTo>
                  <a:pt x="1234024" y="1136039"/>
                </a:lnTo>
                <a:lnTo>
                  <a:pt x="1238080" y="1258769"/>
                </a:lnTo>
                <a:lnTo>
                  <a:pt x="1229960" y="1381298"/>
                </a:lnTo>
                <a:lnTo>
                  <a:pt x="1209743" y="1502419"/>
                </a:lnTo>
                <a:lnTo>
                  <a:pt x="1177629" y="1620943"/>
                </a:lnTo>
                <a:lnTo>
                  <a:pt x="634108" y="1444315"/>
                </a:lnTo>
                <a:lnTo>
                  <a:pt x="651400" y="1380495"/>
                </a:lnTo>
                <a:lnTo>
                  <a:pt x="662286" y="1315276"/>
                </a:lnTo>
                <a:lnTo>
                  <a:pt x="666658" y="1249299"/>
                </a:lnTo>
                <a:lnTo>
                  <a:pt x="664475" y="1183214"/>
                </a:lnTo>
                <a:lnTo>
                  <a:pt x="655756" y="1117669"/>
                </a:lnTo>
                <a:lnTo>
                  <a:pt x="640588" y="1053311"/>
                </a:lnTo>
                <a:lnTo>
                  <a:pt x="619120" y="990772"/>
                </a:lnTo>
                <a:lnTo>
                  <a:pt x="591564" y="930666"/>
                </a:lnTo>
                <a:lnTo>
                  <a:pt x="558189" y="873585"/>
                </a:lnTo>
                <a:lnTo>
                  <a:pt x="519325" y="820091"/>
                </a:lnTo>
                <a:lnTo>
                  <a:pt x="475354" y="770709"/>
                </a:lnTo>
                <a:lnTo>
                  <a:pt x="426707" y="725926"/>
                </a:lnTo>
                <a:lnTo>
                  <a:pt x="373865" y="686180"/>
                </a:lnTo>
                <a:lnTo>
                  <a:pt x="317345" y="651865"/>
                </a:lnTo>
                <a:lnTo>
                  <a:pt x="257704" y="623316"/>
                </a:lnTo>
                <a:lnTo>
                  <a:pt x="195529" y="600815"/>
                </a:lnTo>
                <a:lnTo>
                  <a:pt x="131431" y="584582"/>
                </a:lnTo>
                <a:lnTo>
                  <a:pt x="66040" y="574779"/>
                </a:lnTo>
                <a:lnTo>
                  <a:pt x="0" y="571500"/>
                </a:lnTo>
                <a:close/>
              </a:path>
            </a:pathLst>
          </a:custGeom>
          <a:solidFill>
            <a:srgbClr val="10B981"/>
          </a:solidFill>
          <a:ln>
            <a:noFill/>
          </a:ln>
        </p:spPr>
        <p:txBody>
          <a:bodyPr/>
          <a:lstStyle/>
          <a:p>
            <a:endParaRPr lang="zh-CN" altLang="en-US"/>
          </a:p>
        </p:txBody>
      </p:sp>
      <p:sp>
        <p:nvSpPr>
          <p:cNvPr id="37" name="Arc 37"/>
          <p:cNvSpPr/>
          <p:nvPr/>
        </p:nvSpPr>
        <p:spPr>
          <a:xfrm>
            <a:off x="8096645" y="3158815"/>
            <a:ext cx="1177234" cy="1032185"/>
          </a:xfrm>
          <a:custGeom>
            <a:avLst/>
            <a:gdLst/>
            <a:ahLst/>
            <a:cxnLst/>
            <a:rect l="l" t="t" r="r" b="b"/>
            <a:pathLst>
              <a:path w="1177234" h="1032185">
                <a:moveTo>
                  <a:pt x="1177234" y="176627"/>
                </a:moveTo>
                <a:lnTo>
                  <a:pt x="1143597" y="267798"/>
                </a:lnTo>
                <a:lnTo>
                  <a:pt x="1102913" y="356050"/>
                </a:lnTo>
                <a:lnTo>
                  <a:pt x="1055435" y="440839"/>
                </a:lnTo>
                <a:lnTo>
                  <a:pt x="1001454" y="521645"/>
                </a:lnTo>
                <a:lnTo>
                  <a:pt x="941302" y="597968"/>
                </a:lnTo>
                <a:lnTo>
                  <a:pt x="875350" y="669339"/>
                </a:lnTo>
                <a:lnTo>
                  <a:pt x="804004" y="735319"/>
                </a:lnTo>
                <a:lnTo>
                  <a:pt x="727705" y="795501"/>
                </a:lnTo>
                <a:lnTo>
                  <a:pt x="646920" y="849513"/>
                </a:lnTo>
                <a:lnTo>
                  <a:pt x="562149" y="897025"/>
                </a:lnTo>
                <a:lnTo>
                  <a:pt x="473913" y="937742"/>
                </a:lnTo>
                <a:lnTo>
                  <a:pt x="382755" y="971415"/>
                </a:lnTo>
                <a:lnTo>
                  <a:pt x="289238" y="997835"/>
                </a:lnTo>
                <a:lnTo>
                  <a:pt x="193937" y="1016840"/>
                </a:lnTo>
                <a:lnTo>
                  <a:pt x="97439" y="1028314"/>
                </a:lnTo>
                <a:lnTo>
                  <a:pt x="339" y="1032185"/>
                </a:lnTo>
                <a:lnTo>
                  <a:pt x="0" y="460685"/>
                </a:lnTo>
                <a:lnTo>
                  <a:pt x="52285" y="458600"/>
                </a:lnTo>
                <a:lnTo>
                  <a:pt x="104245" y="452422"/>
                </a:lnTo>
                <a:lnTo>
                  <a:pt x="155561" y="442189"/>
                </a:lnTo>
                <a:lnTo>
                  <a:pt x="205917" y="427962"/>
                </a:lnTo>
                <a:lnTo>
                  <a:pt x="255001" y="409831"/>
                </a:lnTo>
                <a:lnTo>
                  <a:pt x="302513" y="387906"/>
                </a:lnTo>
                <a:lnTo>
                  <a:pt x="348159" y="362323"/>
                </a:lnTo>
                <a:lnTo>
                  <a:pt x="391659" y="333239"/>
                </a:lnTo>
                <a:lnTo>
                  <a:pt x="432743" y="300834"/>
                </a:lnTo>
                <a:lnTo>
                  <a:pt x="471160" y="265307"/>
                </a:lnTo>
                <a:lnTo>
                  <a:pt x="506672" y="226876"/>
                </a:lnTo>
                <a:lnTo>
                  <a:pt x="539062" y="185779"/>
                </a:lnTo>
                <a:lnTo>
                  <a:pt x="568129" y="142268"/>
                </a:lnTo>
                <a:lnTo>
                  <a:pt x="593694" y="96612"/>
                </a:lnTo>
                <a:lnTo>
                  <a:pt x="615600" y="49092"/>
                </a:lnTo>
                <a:lnTo>
                  <a:pt x="633713" y="0"/>
                </a:lnTo>
                <a:close/>
              </a:path>
            </a:pathLst>
          </a:custGeom>
          <a:solidFill>
            <a:srgbClr val="6B7280"/>
          </a:solidFill>
          <a:ln>
            <a:noFill/>
          </a:ln>
        </p:spPr>
        <p:txBody>
          <a:bodyPr/>
          <a:lstStyle/>
          <a:p>
            <a:endParaRPr lang="zh-CN" altLang="en-US"/>
          </a:p>
        </p:txBody>
      </p:sp>
      <p:sp>
        <p:nvSpPr>
          <p:cNvPr id="38" name="Arc 38"/>
          <p:cNvSpPr/>
          <p:nvPr/>
        </p:nvSpPr>
        <p:spPr>
          <a:xfrm>
            <a:off x="7369338" y="3492519"/>
            <a:ext cx="727646" cy="698481"/>
          </a:xfrm>
          <a:custGeom>
            <a:avLst/>
            <a:gdLst/>
            <a:ahLst/>
            <a:cxnLst/>
            <a:rect l="l" t="t" r="r" b="b"/>
            <a:pathLst>
              <a:path w="727646" h="698481">
                <a:moveTo>
                  <a:pt x="727646" y="698481"/>
                </a:moveTo>
                <a:lnTo>
                  <a:pt x="679056" y="697556"/>
                </a:lnTo>
                <a:lnTo>
                  <a:pt x="630541" y="694725"/>
                </a:lnTo>
                <a:lnTo>
                  <a:pt x="582174" y="689993"/>
                </a:lnTo>
                <a:lnTo>
                  <a:pt x="534029" y="683366"/>
                </a:lnTo>
                <a:lnTo>
                  <a:pt x="486182" y="674855"/>
                </a:lnTo>
                <a:lnTo>
                  <a:pt x="438706" y="664474"/>
                </a:lnTo>
                <a:lnTo>
                  <a:pt x="391673" y="652237"/>
                </a:lnTo>
                <a:lnTo>
                  <a:pt x="345157" y="638164"/>
                </a:lnTo>
                <a:lnTo>
                  <a:pt x="299229" y="622277"/>
                </a:lnTo>
                <a:lnTo>
                  <a:pt x="253960" y="604600"/>
                </a:lnTo>
                <a:lnTo>
                  <a:pt x="209419" y="585160"/>
                </a:lnTo>
                <a:lnTo>
                  <a:pt x="165676" y="563987"/>
                </a:lnTo>
                <a:lnTo>
                  <a:pt x="122797" y="541114"/>
                </a:lnTo>
                <a:lnTo>
                  <a:pt x="80848" y="516576"/>
                </a:lnTo>
                <a:lnTo>
                  <a:pt x="39895" y="490411"/>
                </a:lnTo>
                <a:lnTo>
                  <a:pt x="0" y="462659"/>
                </a:lnTo>
                <a:lnTo>
                  <a:pt x="335498" y="0"/>
                </a:lnTo>
                <a:lnTo>
                  <a:pt x="356980" y="14943"/>
                </a:lnTo>
                <a:lnTo>
                  <a:pt x="379032" y="29032"/>
                </a:lnTo>
                <a:lnTo>
                  <a:pt x="401619" y="42245"/>
                </a:lnTo>
                <a:lnTo>
                  <a:pt x="424708" y="54561"/>
                </a:lnTo>
                <a:lnTo>
                  <a:pt x="448262" y="65962"/>
                </a:lnTo>
                <a:lnTo>
                  <a:pt x="472246" y="76430"/>
                </a:lnTo>
                <a:lnTo>
                  <a:pt x="496621" y="85948"/>
                </a:lnTo>
                <a:lnTo>
                  <a:pt x="521352" y="94503"/>
                </a:lnTo>
                <a:lnTo>
                  <a:pt x="546399" y="102080"/>
                </a:lnTo>
                <a:lnTo>
                  <a:pt x="571724" y="108669"/>
                </a:lnTo>
                <a:lnTo>
                  <a:pt x="597288" y="114260"/>
                </a:lnTo>
                <a:lnTo>
                  <a:pt x="623052" y="118842"/>
                </a:lnTo>
                <a:lnTo>
                  <a:pt x="648976" y="122410"/>
                </a:lnTo>
                <a:lnTo>
                  <a:pt x="675020" y="124959"/>
                </a:lnTo>
                <a:lnTo>
                  <a:pt x="701144" y="126483"/>
                </a:lnTo>
                <a:lnTo>
                  <a:pt x="727307" y="126981"/>
                </a:lnTo>
                <a:close/>
              </a:path>
            </a:pathLst>
          </a:custGeom>
          <a:solidFill>
            <a:srgbClr val="EF4444"/>
          </a:solidFill>
          <a:ln>
            <a:noFill/>
          </a:ln>
        </p:spPr>
        <p:txBody>
          <a:bodyPr/>
          <a:lstStyle/>
          <a:p>
            <a:endParaRPr lang="zh-CN" altLang="en-US"/>
          </a:p>
        </p:txBody>
      </p:sp>
      <p:sp>
        <p:nvSpPr>
          <p:cNvPr id="39" name="Ellipse 39"/>
          <p:cNvSpPr/>
          <p:nvPr/>
        </p:nvSpPr>
        <p:spPr>
          <a:xfrm>
            <a:off x="7429500" y="2286000"/>
            <a:ext cx="1333500" cy="1333500"/>
          </a:xfrm>
          <a:prstGeom prst="ellipse">
            <a:avLst/>
          </a:prstGeom>
          <a:solidFill>
            <a:srgbClr val="0F1419"/>
          </a:solidFill>
          <a:ln>
            <a:noFill/>
          </a:ln>
        </p:spPr>
        <p:txBody>
          <a:bodyPr/>
          <a:lstStyle/>
          <a:p>
            <a:endParaRPr lang="zh-CN" altLang="en-US"/>
          </a:p>
        </p:txBody>
      </p:sp>
      <p:sp>
        <p:nvSpPr>
          <p:cNvPr id="40" name="TextBox 40"/>
          <p:cNvSpPr txBox="1"/>
          <p:nvPr/>
        </p:nvSpPr>
        <p:spPr>
          <a:xfrm>
            <a:off x="7744968" y="2775585"/>
            <a:ext cx="702564" cy="243840"/>
          </a:xfrm>
          <a:prstGeom prst="rect">
            <a:avLst/>
          </a:prstGeom>
          <a:noFill/>
          <a:ln>
            <a:noFill/>
          </a:ln>
        </p:spPr>
        <p:txBody>
          <a:bodyPr wrap="none" lIns="0" tIns="0" rIns="0" bIns="0" anchor="t" anchorCtr="0">
            <a:spAutoFit/>
          </a:bodyPr>
          <a:lstStyle/>
          <a:p>
            <a:pPr algn="ctr"/>
            <a:r>
              <a:rPr lang="zh-CN" sz="1200" b="1" dirty="0">
                <a:solidFill>
                  <a:srgbClr val="E8EAED"/>
                </a:solidFill>
                <a:latin typeface="Arial" panose="020B0604020202020204"/>
                <a:ea typeface="微软雅黑" panose="020B0503020204020204" charset="-122"/>
                <a:cs typeface="Arial" panose="020B0604020202020204"/>
              </a:rPr>
              <a:t>情感分布</a:t>
            </a:r>
          </a:p>
        </p:txBody>
      </p:sp>
      <p:sp>
        <p:nvSpPr>
          <p:cNvPr id="41" name="TextBox 41"/>
          <p:cNvSpPr txBox="1"/>
          <p:nvPr/>
        </p:nvSpPr>
        <p:spPr>
          <a:xfrm>
            <a:off x="7781782" y="2998470"/>
            <a:ext cx="628936"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Senta 模型</a:t>
            </a:r>
          </a:p>
        </p:txBody>
      </p:sp>
      <p:sp>
        <p:nvSpPr>
          <p:cNvPr id="42" name="Rectangle 42"/>
          <p:cNvSpPr/>
          <p:nvPr/>
        </p:nvSpPr>
        <p:spPr>
          <a:xfrm>
            <a:off x="9438448" y="2113280"/>
            <a:ext cx="142875" cy="142875"/>
          </a:xfrm>
          <a:prstGeom prst="roundRect">
            <a:avLst>
              <a:gd name="adj" fmla="val 13333"/>
            </a:avLst>
          </a:prstGeom>
          <a:solidFill>
            <a:srgbClr val="10B981"/>
          </a:solidFill>
          <a:ln>
            <a:noFill/>
          </a:ln>
        </p:spPr>
        <p:txBody>
          <a:bodyPr/>
          <a:lstStyle/>
          <a:p>
            <a:endParaRPr lang="zh-CN" altLang="en-US"/>
          </a:p>
        </p:txBody>
      </p:sp>
      <p:sp>
        <p:nvSpPr>
          <p:cNvPr id="43" name="TextBox 43"/>
          <p:cNvSpPr txBox="1"/>
          <p:nvPr/>
        </p:nvSpPr>
        <p:spPr>
          <a:xfrm>
            <a:off x="9697208" y="2105978"/>
            <a:ext cx="607743" cy="213360"/>
          </a:xfrm>
          <a:prstGeom prst="rect">
            <a:avLst/>
          </a:prstGeom>
          <a:noFill/>
          <a:ln>
            <a:noFill/>
          </a:ln>
        </p:spPr>
        <p:txBody>
          <a:bodyPr wrap="none" lIns="0" tIns="0" rIns="0" bIns="0" anchor="t" anchorCtr="0">
            <a:spAutoFit/>
          </a:bodyPr>
          <a:lstStyle/>
          <a:p>
            <a:pPr algn="l"/>
            <a:r>
              <a:rPr lang="zh-CN" sz="1050" dirty="0">
                <a:solidFill>
                  <a:srgbClr val="E8EAED"/>
                </a:solidFill>
                <a:latin typeface="Arial" panose="020B0604020202020204"/>
                <a:ea typeface="微软雅黑" panose="020B0503020204020204" charset="-122"/>
                <a:cs typeface="Arial" panose="020B0604020202020204"/>
              </a:rPr>
              <a:t>正面 60%</a:t>
            </a:r>
          </a:p>
        </p:txBody>
      </p:sp>
      <p:sp>
        <p:nvSpPr>
          <p:cNvPr id="44" name="Rectangle 44"/>
          <p:cNvSpPr/>
          <p:nvPr/>
        </p:nvSpPr>
        <p:spPr>
          <a:xfrm>
            <a:off x="9435268" y="2502932"/>
            <a:ext cx="142875" cy="142875"/>
          </a:xfrm>
          <a:prstGeom prst="roundRect">
            <a:avLst>
              <a:gd name="adj" fmla="val 13333"/>
            </a:avLst>
          </a:prstGeom>
          <a:solidFill>
            <a:srgbClr val="6B7280"/>
          </a:solidFill>
          <a:ln>
            <a:noFill/>
          </a:ln>
        </p:spPr>
        <p:txBody>
          <a:bodyPr/>
          <a:lstStyle/>
          <a:p>
            <a:endParaRPr lang="zh-CN" altLang="en-US"/>
          </a:p>
        </p:txBody>
      </p:sp>
      <p:sp>
        <p:nvSpPr>
          <p:cNvPr id="45" name="TextBox 45"/>
          <p:cNvSpPr txBox="1"/>
          <p:nvPr/>
        </p:nvSpPr>
        <p:spPr>
          <a:xfrm>
            <a:off x="9685441" y="2475548"/>
            <a:ext cx="607743" cy="213360"/>
          </a:xfrm>
          <a:prstGeom prst="rect">
            <a:avLst/>
          </a:prstGeom>
          <a:noFill/>
          <a:ln>
            <a:noFill/>
          </a:ln>
        </p:spPr>
        <p:txBody>
          <a:bodyPr wrap="none" lIns="0" tIns="0" rIns="0" bIns="0" anchor="t" anchorCtr="0">
            <a:spAutoFit/>
          </a:bodyPr>
          <a:lstStyle/>
          <a:p>
            <a:pPr algn="l"/>
            <a:r>
              <a:rPr lang="zh-CN" sz="1050" dirty="0">
                <a:solidFill>
                  <a:srgbClr val="E8EAED"/>
                </a:solidFill>
                <a:latin typeface="Arial" panose="020B0604020202020204"/>
                <a:ea typeface="微软雅黑" panose="020B0503020204020204" charset="-122"/>
                <a:cs typeface="Arial" panose="020B0604020202020204"/>
              </a:rPr>
              <a:t>中立 25%</a:t>
            </a:r>
          </a:p>
        </p:txBody>
      </p:sp>
      <p:sp>
        <p:nvSpPr>
          <p:cNvPr id="46" name="Rectangle 46"/>
          <p:cNvSpPr/>
          <p:nvPr/>
        </p:nvSpPr>
        <p:spPr>
          <a:xfrm>
            <a:off x="9444331" y="2902427"/>
            <a:ext cx="142875" cy="142875"/>
          </a:xfrm>
          <a:prstGeom prst="roundRect">
            <a:avLst>
              <a:gd name="adj" fmla="val 13333"/>
            </a:avLst>
          </a:prstGeom>
          <a:solidFill>
            <a:srgbClr val="EF4444"/>
          </a:solidFill>
          <a:ln>
            <a:noFill/>
          </a:ln>
        </p:spPr>
        <p:txBody>
          <a:bodyPr/>
          <a:lstStyle/>
          <a:p>
            <a:endParaRPr lang="zh-CN" altLang="en-US"/>
          </a:p>
        </p:txBody>
      </p:sp>
      <p:sp>
        <p:nvSpPr>
          <p:cNvPr id="47" name="TextBox 47"/>
          <p:cNvSpPr txBox="1"/>
          <p:nvPr/>
        </p:nvSpPr>
        <p:spPr>
          <a:xfrm>
            <a:off x="9697208" y="2857818"/>
            <a:ext cx="607743" cy="213360"/>
          </a:xfrm>
          <a:prstGeom prst="rect">
            <a:avLst/>
          </a:prstGeom>
          <a:noFill/>
          <a:ln>
            <a:noFill/>
          </a:ln>
        </p:spPr>
        <p:txBody>
          <a:bodyPr wrap="none" lIns="0" tIns="0" rIns="0" bIns="0" anchor="t" anchorCtr="0">
            <a:spAutoFit/>
          </a:bodyPr>
          <a:lstStyle/>
          <a:p>
            <a:pPr algn="l"/>
            <a:r>
              <a:rPr lang="zh-CN" sz="1050" dirty="0">
                <a:solidFill>
                  <a:srgbClr val="E8EAED"/>
                </a:solidFill>
                <a:latin typeface="Arial" panose="020B0604020202020204"/>
                <a:ea typeface="微软雅黑" panose="020B0503020204020204" charset="-122"/>
                <a:cs typeface="Arial" panose="020B0604020202020204"/>
              </a:rPr>
              <a:t>负面 15%</a:t>
            </a:r>
          </a:p>
        </p:txBody>
      </p:sp>
      <p:sp>
        <p:nvSpPr>
          <p:cNvPr id="48" name="TextBox 48"/>
          <p:cNvSpPr txBox="1"/>
          <p:nvPr/>
        </p:nvSpPr>
        <p:spPr>
          <a:xfrm>
            <a:off x="6459855" y="4521518"/>
            <a:ext cx="790384" cy="274320"/>
          </a:xfrm>
          <a:prstGeom prst="rect">
            <a:avLst/>
          </a:prstGeom>
          <a:noFill/>
          <a:ln>
            <a:noFill/>
          </a:ln>
        </p:spPr>
        <p:txBody>
          <a:bodyPr wrap="none" lIns="0" tIns="0" rIns="0" bIns="0" anchor="t" anchorCtr="0">
            <a:spAutoFit/>
          </a:bodyPr>
          <a:lstStyle/>
          <a:p>
            <a:pPr algn="l"/>
            <a:r>
              <a:rPr lang="zh-CN" sz="1350" b="1" dirty="0">
                <a:solidFill>
                  <a:srgbClr val="E8EAED"/>
                </a:solidFill>
                <a:latin typeface="Arial" panose="020B0604020202020204"/>
                <a:ea typeface="微软雅黑" panose="020B0503020204020204" charset="-122"/>
                <a:cs typeface="Arial" panose="020B0604020202020204"/>
              </a:rPr>
              <a:t>分析模型</a:t>
            </a:r>
          </a:p>
        </p:txBody>
      </p:sp>
      <p:sp>
        <p:nvSpPr>
          <p:cNvPr id="49" name="Rectangle 49"/>
          <p:cNvSpPr/>
          <p:nvPr/>
        </p:nvSpPr>
        <p:spPr>
          <a:xfrm>
            <a:off x="6572250" y="4932522"/>
            <a:ext cx="4762500" cy="762000"/>
          </a:xfrm>
          <a:prstGeom prst="roundRect">
            <a:avLst>
              <a:gd name="adj" fmla="val 10000"/>
            </a:avLst>
          </a:prstGeom>
          <a:solidFill>
            <a:srgbClr val="0F1419"/>
          </a:solidFill>
          <a:ln w="9525">
            <a:solidFill>
              <a:srgbClr val="2D3748"/>
            </a:solidFill>
          </a:ln>
        </p:spPr>
        <p:txBody>
          <a:bodyPr/>
          <a:lstStyle/>
          <a:p>
            <a:endParaRPr lang="zh-CN" altLang="en-US"/>
          </a:p>
        </p:txBody>
      </p:sp>
      <p:sp>
        <p:nvSpPr>
          <p:cNvPr id="50" name="TextBox 50"/>
          <p:cNvSpPr txBox="1"/>
          <p:nvPr/>
        </p:nvSpPr>
        <p:spPr>
          <a:xfrm>
            <a:off x="6842760" y="5013960"/>
            <a:ext cx="1766697" cy="243840"/>
          </a:xfrm>
          <a:prstGeom prst="rect">
            <a:avLst/>
          </a:prstGeom>
          <a:noFill/>
          <a:ln>
            <a:noFill/>
          </a:ln>
        </p:spPr>
        <p:txBody>
          <a:bodyPr wrap="none" lIns="0" tIns="0" rIns="0" bIns="0" anchor="t" anchorCtr="0">
            <a:spAutoFit/>
          </a:bodyPr>
          <a:lstStyle/>
          <a:p>
            <a:pPr algn="l"/>
            <a:r>
              <a:rPr lang="zh-CN" sz="1200" dirty="0">
                <a:solidFill>
                  <a:srgbClr val="00D4FF"/>
                </a:solidFill>
                <a:latin typeface="Arial" panose="020B0604020202020204"/>
                <a:ea typeface="微软雅黑" panose="020B0503020204020204" charset="-122"/>
                <a:cs typeface="Arial" panose="020B0604020202020204"/>
              </a:rPr>
              <a:t>Senta 模型（snownlp）</a:t>
            </a:r>
          </a:p>
        </p:txBody>
      </p:sp>
      <p:sp>
        <p:nvSpPr>
          <p:cNvPr id="51" name="TextBox 51"/>
          <p:cNvSpPr txBox="1"/>
          <p:nvPr/>
        </p:nvSpPr>
        <p:spPr>
          <a:xfrm>
            <a:off x="6844665" y="5268278"/>
            <a:ext cx="2406968"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基于中文自然语言处理的情感分析模型</a:t>
            </a:r>
          </a:p>
        </p:txBody>
      </p:sp>
      <p:sp>
        <p:nvSpPr>
          <p:cNvPr id="52" name="TextBox 52"/>
          <p:cNvSpPr txBox="1"/>
          <p:nvPr/>
        </p:nvSpPr>
        <p:spPr>
          <a:xfrm>
            <a:off x="6844665" y="5458778"/>
            <a:ext cx="2490978"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输出：正面 / 中立 / 负面 三种情感倾向</a:t>
            </a:r>
          </a:p>
        </p:txBody>
      </p:sp>
      <p:sp>
        <p:nvSpPr>
          <p:cNvPr id="53" name="Rectangle 53"/>
          <p:cNvSpPr/>
          <p:nvPr/>
        </p:nvSpPr>
        <p:spPr>
          <a:xfrm>
            <a:off x="6667500" y="5810250"/>
            <a:ext cx="952500" cy="285750"/>
          </a:xfrm>
          <a:prstGeom prst="roundRect">
            <a:avLst>
              <a:gd name="adj" fmla="val 50000"/>
            </a:avLst>
          </a:prstGeom>
          <a:solidFill>
            <a:srgbClr val="0F1419"/>
          </a:solidFill>
          <a:ln w="9525">
            <a:solidFill>
              <a:srgbClr val="10B981"/>
            </a:solidFill>
          </a:ln>
        </p:spPr>
        <p:txBody>
          <a:bodyPr/>
          <a:lstStyle/>
          <a:p>
            <a:endParaRPr lang="zh-CN" altLang="en-US"/>
          </a:p>
        </p:txBody>
      </p:sp>
      <p:sp>
        <p:nvSpPr>
          <p:cNvPr id="54" name="TextBox 54"/>
          <p:cNvSpPr txBox="1"/>
          <p:nvPr/>
        </p:nvSpPr>
        <p:spPr>
          <a:xfrm>
            <a:off x="7012305" y="5903595"/>
            <a:ext cx="262890" cy="182880"/>
          </a:xfrm>
          <a:prstGeom prst="rect">
            <a:avLst/>
          </a:prstGeom>
          <a:noFill/>
          <a:ln>
            <a:noFill/>
          </a:ln>
        </p:spPr>
        <p:txBody>
          <a:bodyPr wrap="none" lIns="0" tIns="0" rIns="0" bIns="0" anchor="t" anchorCtr="0">
            <a:spAutoFit/>
          </a:bodyPr>
          <a:lstStyle/>
          <a:p>
            <a:pPr algn="ctr"/>
            <a:r>
              <a:rPr lang="zh-CN" sz="900" dirty="0">
                <a:solidFill>
                  <a:srgbClr val="10B981"/>
                </a:solidFill>
                <a:latin typeface="Arial" panose="020B0604020202020204"/>
                <a:ea typeface="微软雅黑" panose="020B0503020204020204" charset="-122"/>
                <a:cs typeface="Arial" panose="020B0604020202020204"/>
              </a:rPr>
              <a:t>正面</a:t>
            </a:r>
          </a:p>
        </p:txBody>
      </p:sp>
      <p:sp>
        <p:nvSpPr>
          <p:cNvPr id="55" name="Rectangle 55"/>
          <p:cNvSpPr/>
          <p:nvPr/>
        </p:nvSpPr>
        <p:spPr>
          <a:xfrm>
            <a:off x="7810500" y="5810250"/>
            <a:ext cx="952500" cy="285750"/>
          </a:xfrm>
          <a:prstGeom prst="roundRect">
            <a:avLst>
              <a:gd name="adj" fmla="val 50000"/>
            </a:avLst>
          </a:prstGeom>
          <a:solidFill>
            <a:srgbClr val="0F1419"/>
          </a:solidFill>
          <a:ln w="9525">
            <a:solidFill>
              <a:srgbClr val="6B7280"/>
            </a:solidFill>
          </a:ln>
        </p:spPr>
        <p:txBody>
          <a:bodyPr/>
          <a:lstStyle/>
          <a:p>
            <a:endParaRPr lang="zh-CN" altLang="en-US"/>
          </a:p>
        </p:txBody>
      </p:sp>
      <p:sp>
        <p:nvSpPr>
          <p:cNvPr id="56" name="TextBox 56"/>
          <p:cNvSpPr txBox="1"/>
          <p:nvPr/>
        </p:nvSpPr>
        <p:spPr>
          <a:xfrm>
            <a:off x="8155305" y="5903595"/>
            <a:ext cx="262890"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中立</a:t>
            </a:r>
          </a:p>
        </p:txBody>
      </p:sp>
      <p:sp>
        <p:nvSpPr>
          <p:cNvPr id="57" name="Rectangle 57"/>
          <p:cNvSpPr/>
          <p:nvPr/>
        </p:nvSpPr>
        <p:spPr>
          <a:xfrm>
            <a:off x="8953500" y="5810250"/>
            <a:ext cx="952500" cy="285750"/>
          </a:xfrm>
          <a:prstGeom prst="roundRect">
            <a:avLst>
              <a:gd name="adj" fmla="val 50000"/>
            </a:avLst>
          </a:prstGeom>
          <a:solidFill>
            <a:srgbClr val="0F1419"/>
          </a:solidFill>
          <a:ln w="9525">
            <a:solidFill>
              <a:srgbClr val="EF4444"/>
            </a:solidFill>
          </a:ln>
        </p:spPr>
        <p:txBody>
          <a:bodyPr/>
          <a:lstStyle/>
          <a:p>
            <a:endParaRPr lang="zh-CN" altLang="en-US"/>
          </a:p>
        </p:txBody>
      </p:sp>
      <p:sp>
        <p:nvSpPr>
          <p:cNvPr id="58" name="TextBox 58"/>
          <p:cNvSpPr txBox="1"/>
          <p:nvPr/>
        </p:nvSpPr>
        <p:spPr>
          <a:xfrm>
            <a:off x="9298305" y="5903595"/>
            <a:ext cx="262890" cy="182880"/>
          </a:xfrm>
          <a:prstGeom prst="rect">
            <a:avLst/>
          </a:prstGeom>
          <a:noFill/>
          <a:ln>
            <a:noFill/>
          </a:ln>
        </p:spPr>
        <p:txBody>
          <a:bodyPr wrap="none" lIns="0" tIns="0" rIns="0" bIns="0" anchor="t" anchorCtr="0">
            <a:spAutoFit/>
          </a:bodyPr>
          <a:lstStyle/>
          <a:p>
            <a:pPr algn="ctr"/>
            <a:r>
              <a:rPr lang="zh-CN" sz="900" dirty="0">
                <a:solidFill>
                  <a:srgbClr val="EF4444"/>
                </a:solidFill>
                <a:latin typeface="Arial" panose="020B0604020202020204"/>
                <a:ea typeface="微软雅黑" panose="020B0503020204020204" charset="-122"/>
                <a:cs typeface="Arial" panose="020B0604020202020204"/>
              </a:rPr>
              <a:t>负面</a:t>
            </a:r>
          </a:p>
        </p:txBody>
      </p:sp>
      <p:sp>
        <p:nvSpPr>
          <p:cNvPr id="59" name="TextBox 59"/>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07 / 11</a:t>
            </a:r>
          </a:p>
        </p:txBody>
      </p:sp>
      <p:sp>
        <p:nvSpPr>
          <p:cNvPr id="60" name="Rectangle 60"/>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4" name="Rectangle 4"/>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5" name="TextBox 5"/>
          <p:cNvSpPr txBox="1"/>
          <p:nvPr/>
        </p:nvSpPr>
        <p:spPr>
          <a:xfrm>
            <a:off x="727710" y="356235"/>
            <a:ext cx="1580769"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结果导出</a:t>
            </a:r>
          </a:p>
        </p:txBody>
      </p:sp>
      <p:sp>
        <p:nvSpPr>
          <p:cNvPr id="6" name="TextBox 6"/>
          <p:cNvSpPr txBox="1"/>
          <p:nvPr/>
        </p:nvSpPr>
        <p:spPr>
          <a:xfrm>
            <a:off x="2649855" y="501968"/>
            <a:ext cx="1231440" cy="274320"/>
          </a:xfrm>
          <a:prstGeom prst="rect">
            <a:avLst/>
          </a:prstGeom>
          <a:noFill/>
          <a:ln>
            <a:noFill/>
          </a:ln>
        </p:spPr>
        <p:txBody>
          <a:bodyPr wrap="none" lIns="0" tIns="0" rIns="0" bIns="0" anchor="t" anchorCtr="0">
            <a:spAutoFit/>
          </a:bodyPr>
          <a:lstStyle/>
          <a:p>
            <a:pPr algn="l"/>
            <a:r>
              <a:rPr lang="zh-CN" sz="1350" dirty="0">
                <a:solidFill>
                  <a:srgbClr val="9AA0A6"/>
                </a:solidFill>
                <a:latin typeface="Arial" panose="020B0604020202020204"/>
                <a:ea typeface="微软雅黑" panose="020B0503020204020204" charset="-122"/>
                <a:cs typeface="Arial" panose="020B0604020202020204"/>
              </a:rPr>
              <a:t>Result Export</a:t>
            </a:r>
          </a:p>
        </p:txBody>
      </p:sp>
      <p:sp>
        <p:nvSpPr>
          <p:cNvPr id="7" name="Rectangle 7"/>
          <p:cNvSpPr/>
          <p:nvPr/>
        </p:nvSpPr>
        <p:spPr>
          <a:xfrm>
            <a:off x="571500" y="1143000"/>
            <a:ext cx="3429000" cy="4572000"/>
          </a:xfrm>
          <a:prstGeom prst="roundRect">
            <a:avLst>
              <a:gd name="adj" fmla="val 3333"/>
            </a:avLst>
          </a:prstGeom>
          <a:solidFill>
            <a:srgbClr val="1A2332"/>
          </a:solidFill>
          <a:ln w="9525">
            <a:solidFill>
              <a:srgbClr val="2D3748"/>
            </a:solidFill>
          </a:ln>
        </p:spPr>
        <p:txBody>
          <a:bodyPr/>
          <a:lstStyle/>
          <a:p>
            <a:endParaRPr lang="zh-CN" altLang="en-US"/>
          </a:p>
        </p:txBody>
      </p:sp>
      <p:sp>
        <p:nvSpPr>
          <p:cNvPr id="8" name="Rectangle 8"/>
          <p:cNvSpPr/>
          <p:nvPr/>
        </p:nvSpPr>
        <p:spPr>
          <a:xfrm>
            <a:off x="1714500" y="1428750"/>
            <a:ext cx="762000" cy="762000"/>
          </a:xfrm>
          <a:prstGeom prst="roundRect">
            <a:avLst>
              <a:gd name="adj" fmla="val 10000"/>
            </a:avLst>
          </a:prstGeom>
          <a:solidFill>
            <a:srgbClr val="0F1419"/>
          </a:solidFill>
          <a:ln w="19050">
            <a:solidFill>
              <a:srgbClr val="00D4FF"/>
            </a:solidFill>
          </a:ln>
        </p:spPr>
        <p:txBody>
          <a:bodyPr/>
          <a:lstStyle/>
          <a:p>
            <a:endParaRPr lang="zh-CN" altLang="en-US"/>
          </a:p>
        </p:txBody>
      </p:sp>
      <p:sp>
        <p:nvSpPr>
          <p:cNvPr id="9" name="TextBox 9"/>
          <p:cNvSpPr txBox="1"/>
          <p:nvPr/>
        </p:nvSpPr>
        <p:spPr>
          <a:xfrm>
            <a:off x="1934023" y="1663065"/>
            <a:ext cx="322955" cy="365760"/>
          </a:xfrm>
          <a:prstGeom prst="rect">
            <a:avLst/>
          </a:prstGeom>
          <a:noFill/>
          <a:ln>
            <a:noFill/>
          </a:ln>
        </p:spPr>
        <p:txBody>
          <a:bodyPr wrap="none" lIns="0" tIns="0" rIns="0" bIns="0" anchor="t" anchorCtr="0">
            <a:spAutoFit/>
          </a:bodyPr>
          <a:lstStyle/>
          <a:p>
            <a:pPr algn="ctr"/>
            <a:r>
              <a:rPr lang="zh-CN" sz="1800" b="1" dirty="0">
                <a:solidFill>
                  <a:srgbClr val="00D4FF"/>
                </a:solidFill>
                <a:latin typeface="Consolas" panose="020B0609020204030204"/>
                <a:ea typeface="微软雅黑" panose="020B0503020204020204" charset="-122"/>
                <a:cs typeface="Consolas" panose="020B0609020204030204"/>
              </a:rPr>
              <a:t>{}</a:t>
            </a:r>
          </a:p>
        </p:txBody>
      </p:sp>
      <p:sp>
        <p:nvSpPr>
          <p:cNvPr id="10" name="TextBox 10"/>
          <p:cNvSpPr txBox="1"/>
          <p:nvPr/>
        </p:nvSpPr>
        <p:spPr>
          <a:xfrm>
            <a:off x="1670866" y="2377440"/>
            <a:ext cx="1230268" cy="365760"/>
          </a:xfrm>
          <a:prstGeom prst="rect">
            <a:avLst/>
          </a:prstGeom>
          <a:noFill/>
          <a:ln>
            <a:noFill/>
          </a:ln>
        </p:spPr>
        <p:txBody>
          <a:bodyPr wrap="none" lIns="0" tIns="0" rIns="0" bIns="0" anchor="t" anchorCtr="0">
            <a:spAutoFit/>
          </a:bodyPr>
          <a:lstStyle/>
          <a:p>
            <a:pPr algn="ctr"/>
            <a:r>
              <a:rPr lang="zh-CN" sz="1800" b="1" dirty="0">
                <a:solidFill>
                  <a:srgbClr val="00D4FF"/>
                </a:solidFill>
                <a:latin typeface="Arial" panose="020B0604020202020204"/>
                <a:ea typeface="微软雅黑" panose="020B0503020204020204" charset="-122"/>
                <a:cs typeface="Arial" panose="020B0604020202020204"/>
              </a:rPr>
              <a:t>JSON 导出</a:t>
            </a:r>
          </a:p>
        </p:txBody>
      </p:sp>
      <p:sp>
        <p:nvSpPr>
          <p:cNvPr id="11" name="Line 11"/>
          <p:cNvSpPr/>
          <p:nvPr/>
        </p:nvSpPr>
        <p:spPr>
          <a:xfrm>
            <a:off x="1333500" y="2762250"/>
            <a:ext cx="1905000" cy="9525"/>
          </a:xfrm>
          <a:custGeom>
            <a:avLst/>
            <a:gdLst/>
            <a:ahLst/>
            <a:cxnLst/>
            <a:rect l="l" t="t" r="r" b="b"/>
            <a:pathLst>
              <a:path w="1905000" h="9525">
                <a:moveTo>
                  <a:pt x="0" y="0"/>
                </a:moveTo>
                <a:lnTo>
                  <a:pt x="1905000" y="0"/>
                </a:lnTo>
              </a:path>
            </a:pathLst>
          </a:custGeom>
          <a:noFill/>
          <a:ln w="9525">
            <a:solidFill>
              <a:srgbClr val="2D3748"/>
            </a:solidFill>
          </a:ln>
        </p:spPr>
        <p:txBody>
          <a:bodyPr/>
          <a:lstStyle/>
          <a:p>
            <a:endParaRPr lang="zh-CN" altLang="en-US"/>
          </a:p>
        </p:txBody>
      </p:sp>
      <p:sp>
        <p:nvSpPr>
          <p:cNvPr id="12" name="TextBox 12"/>
          <p:cNvSpPr txBox="1"/>
          <p:nvPr/>
        </p:nvSpPr>
        <p:spPr>
          <a:xfrm>
            <a:off x="1318260" y="2918460"/>
            <a:ext cx="1097280" cy="510540"/>
          </a:xfrm>
          <a:prstGeom prst="rect">
            <a:avLst/>
          </a:prstGeom>
          <a:noFill/>
          <a:ln>
            <a:noFill/>
          </a:ln>
        </p:spPr>
        <p:txBody>
          <a:bodyPr wrap="square" lIns="0" tIns="0" rIns="0" bIns="0" anchor="t" anchorCtr="0"/>
          <a:lstStyle/>
          <a:p>
            <a:pPr algn="l">
              <a:lnSpc>
                <a:spcPts val="2100"/>
              </a:lnSpc>
            </a:pPr>
            <a:r>
              <a:rPr lang="zh-CN" sz="1200" dirty="0">
                <a:solidFill>
                  <a:srgbClr val="E8EAED"/>
                </a:solidFill>
                <a:latin typeface="Arial" panose="020B0604020202020204"/>
                <a:ea typeface="微软雅黑" panose="020B0503020204020204" charset="-122"/>
                <a:cs typeface="Arial" panose="020B0604020202020204"/>
              </a:rPr>
              <a:t>结构化数据格式便于程序处理</a:t>
            </a:r>
          </a:p>
        </p:txBody>
      </p:sp>
      <p:sp>
        <p:nvSpPr>
          <p:cNvPr id="13" name="Rectangle 13"/>
          <p:cNvSpPr/>
          <p:nvPr/>
        </p:nvSpPr>
        <p:spPr>
          <a:xfrm>
            <a:off x="1333500" y="3714750"/>
            <a:ext cx="1905000" cy="285750"/>
          </a:xfrm>
          <a:prstGeom prst="roundRect">
            <a:avLst>
              <a:gd name="adj" fmla="val 13333"/>
            </a:avLst>
          </a:prstGeom>
          <a:solidFill>
            <a:srgbClr val="0F1419"/>
          </a:solidFill>
          <a:ln>
            <a:noFill/>
          </a:ln>
        </p:spPr>
        <p:txBody>
          <a:bodyPr/>
          <a:lstStyle/>
          <a:p>
            <a:endParaRPr lang="zh-CN" altLang="en-US"/>
          </a:p>
        </p:txBody>
      </p:sp>
      <p:sp>
        <p:nvSpPr>
          <p:cNvPr id="14" name="TextBox 14"/>
          <p:cNvSpPr txBox="1"/>
          <p:nvPr/>
        </p:nvSpPr>
        <p:spPr>
          <a:xfrm>
            <a:off x="1510665" y="3791902"/>
            <a:ext cx="1265825" cy="213360"/>
          </a:xfrm>
          <a:prstGeom prst="rect">
            <a:avLst/>
          </a:prstGeom>
          <a:noFill/>
          <a:ln>
            <a:noFill/>
          </a:ln>
        </p:spPr>
        <p:txBody>
          <a:bodyPr wrap="none" lIns="0" tIns="0" rIns="0" bIns="0" anchor="t" anchorCtr="0">
            <a:spAutoFit/>
          </a:bodyPr>
          <a:lstStyle/>
          <a:p>
            <a:pPr algn="l"/>
            <a:r>
              <a:rPr lang="zh-CN" sz="1050" dirty="0">
                <a:solidFill>
                  <a:srgbClr val="00D4FF"/>
                </a:solidFill>
                <a:latin typeface="Arial" panose="020B0604020202020204"/>
                <a:ea typeface="微软雅黑" panose="020B0503020204020204" charset="-122"/>
                <a:cs typeface="Arial" panose="020B0604020202020204"/>
              </a:rPr>
              <a:t>✓ 标准数据交换格式</a:t>
            </a:r>
          </a:p>
        </p:txBody>
      </p:sp>
      <p:sp>
        <p:nvSpPr>
          <p:cNvPr id="15" name="Rectangle 15"/>
          <p:cNvSpPr/>
          <p:nvPr/>
        </p:nvSpPr>
        <p:spPr>
          <a:xfrm>
            <a:off x="1333500" y="4095750"/>
            <a:ext cx="1905000" cy="285750"/>
          </a:xfrm>
          <a:prstGeom prst="roundRect">
            <a:avLst>
              <a:gd name="adj" fmla="val 13333"/>
            </a:avLst>
          </a:prstGeom>
          <a:solidFill>
            <a:srgbClr val="0F1419"/>
          </a:solidFill>
          <a:ln>
            <a:noFill/>
          </a:ln>
        </p:spPr>
        <p:txBody>
          <a:bodyPr/>
          <a:lstStyle/>
          <a:p>
            <a:endParaRPr lang="zh-CN" altLang="en-US"/>
          </a:p>
        </p:txBody>
      </p:sp>
      <p:sp>
        <p:nvSpPr>
          <p:cNvPr id="16" name="TextBox 16"/>
          <p:cNvSpPr txBox="1"/>
          <p:nvPr/>
        </p:nvSpPr>
        <p:spPr>
          <a:xfrm>
            <a:off x="1510665" y="4172902"/>
            <a:ext cx="985790" cy="213360"/>
          </a:xfrm>
          <a:prstGeom prst="rect">
            <a:avLst/>
          </a:prstGeom>
          <a:noFill/>
          <a:ln>
            <a:noFill/>
          </a:ln>
        </p:spPr>
        <p:txBody>
          <a:bodyPr wrap="none" lIns="0" tIns="0" rIns="0" bIns="0" anchor="t" anchorCtr="0">
            <a:spAutoFit/>
          </a:bodyPr>
          <a:lstStyle/>
          <a:p>
            <a:pPr algn="l"/>
            <a:r>
              <a:rPr lang="zh-CN" sz="1050" dirty="0">
                <a:solidFill>
                  <a:srgbClr val="00D4FF"/>
                </a:solidFill>
                <a:latin typeface="Arial" panose="020B0604020202020204"/>
                <a:ea typeface="微软雅黑" panose="020B0503020204020204" charset="-122"/>
                <a:cs typeface="Arial" panose="020B0604020202020204"/>
              </a:rPr>
              <a:t>✓ 支持嵌套结构</a:t>
            </a:r>
          </a:p>
        </p:txBody>
      </p:sp>
      <p:sp>
        <p:nvSpPr>
          <p:cNvPr id="17" name="Rectangle 17"/>
          <p:cNvSpPr/>
          <p:nvPr/>
        </p:nvSpPr>
        <p:spPr>
          <a:xfrm>
            <a:off x="1333500" y="4476750"/>
            <a:ext cx="1905000" cy="285750"/>
          </a:xfrm>
          <a:prstGeom prst="roundRect">
            <a:avLst>
              <a:gd name="adj" fmla="val 13333"/>
            </a:avLst>
          </a:prstGeom>
          <a:solidFill>
            <a:srgbClr val="0F1419"/>
          </a:solidFill>
          <a:ln>
            <a:noFill/>
          </a:ln>
        </p:spPr>
        <p:txBody>
          <a:bodyPr/>
          <a:lstStyle/>
          <a:p>
            <a:endParaRPr lang="zh-CN" altLang="en-US"/>
          </a:p>
        </p:txBody>
      </p:sp>
      <p:sp>
        <p:nvSpPr>
          <p:cNvPr id="18" name="TextBox 18"/>
          <p:cNvSpPr txBox="1"/>
          <p:nvPr/>
        </p:nvSpPr>
        <p:spPr>
          <a:xfrm>
            <a:off x="1510665" y="4553902"/>
            <a:ext cx="985790" cy="213360"/>
          </a:xfrm>
          <a:prstGeom prst="rect">
            <a:avLst/>
          </a:prstGeom>
          <a:noFill/>
          <a:ln>
            <a:noFill/>
          </a:ln>
        </p:spPr>
        <p:txBody>
          <a:bodyPr wrap="none" lIns="0" tIns="0" rIns="0" bIns="0" anchor="t" anchorCtr="0">
            <a:spAutoFit/>
          </a:bodyPr>
          <a:lstStyle/>
          <a:p>
            <a:pPr algn="l"/>
            <a:r>
              <a:rPr lang="zh-CN" sz="1050" dirty="0">
                <a:solidFill>
                  <a:srgbClr val="00D4FF"/>
                </a:solidFill>
                <a:latin typeface="Arial" panose="020B0604020202020204"/>
                <a:ea typeface="微软雅黑" panose="020B0503020204020204" charset="-122"/>
                <a:cs typeface="Arial" panose="020B0604020202020204"/>
              </a:rPr>
              <a:t>✓ 易于 API 集成</a:t>
            </a:r>
          </a:p>
        </p:txBody>
      </p:sp>
      <p:sp>
        <p:nvSpPr>
          <p:cNvPr id="19" name="Rectangle 19"/>
          <p:cNvSpPr/>
          <p:nvPr/>
        </p:nvSpPr>
        <p:spPr>
          <a:xfrm>
            <a:off x="1143000" y="4953000"/>
            <a:ext cx="2286000" cy="571500"/>
          </a:xfrm>
          <a:prstGeom prst="roundRect">
            <a:avLst>
              <a:gd name="adj" fmla="val 6667"/>
            </a:avLst>
          </a:prstGeom>
          <a:solidFill>
            <a:srgbClr val="0F1419"/>
          </a:solidFill>
          <a:ln w="9525">
            <a:solidFill>
              <a:srgbClr val="2D3748"/>
            </a:solidFill>
          </a:ln>
        </p:spPr>
        <p:txBody>
          <a:bodyPr/>
          <a:lstStyle/>
          <a:p>
            <a:endParaRPr lang="zh-CN" altLang="en-US"/>
          </a:p>
        </p:txBody>
      </p:sp>
      <p:sp>
        <p:nvSpPr>
          <p:cNvPr id="20" name="TextBox 20"/>
          <p:cNvSpPr txBox="1"/>
          <p:nvPr/>
        </p:nvSpPr>
        <p:spPr>
          <a:xfrm>
            <a:off x="1322070" y="5093970"/>
            <a:ext cx="1343025" cy="182880"/>
          </a:xfrm>
          <a:prstGeom prst="rect">
            <a:avLst/>
          </a:prstGeom>
          <a:noFill/>
          <a:ln>
            <a:noFill/>
          </a:ln>
        </p:spPr>
        <p:txBody>
          <a:bodyPr wrap="none" lIns="0" tIns="0" rIns="0" bIns="0" anchor="t" anchorCtr="0">
            <a:spAutoFit/>
          </a:bodyPr>
          <a:lstStyle/>
          <a:p>
            <a:pPr algn="l"/>
            <a:r>
              <a:rPr lang="zh-CN" sz="900" dirty="0">
                <a:solidFill>
                  <a:srgbClr val="4ECDC4"/>
                </a:solidFill>
                <a:latin typeface="Consolas" panose="020B0609020204030204"/>
                <a:ea typeface="微软雅黑" panose="020B0503020204020204" charset="-122"/>
                <a:cs typeface="Consolas" panose="020B0609020204030204"/>
              </a:rPr>
              <a:t>{"news_title": "..."}</a:t>
            </a:r>
          </a:p>
        </p:txBody>
      </p:sp>
      <p:sp>
        <p:nvSpPr>
          <p:cNvPr id="21" name="TextBox 21"/>
          <p:cNvSpPr txBox="1"/>
          <p:nvPr/>
        </p:nvSpPr>
        <p:spPr>
          <a:xfrm>
            <a:off x="1322070" y="5284470"/>
            <a:ext cx="1535049" cy="182880"/>
          </a:xfrm>
          <a:prstGeom prst="rect">
            <a:avLst/>
          </a:prstGeom>
          <a:noFill/>
          <a:ln>
            <a:noFill/>
          </a:ln>
        </p:spPr>
        <p:txBody>
          <a:bodyPr wrap="none" lIns="0" tIns="0" rIns="0" bIns="0" anchor="t" anchorCtr="0">
            <a:spAutoFit/>
          </a:bodyPr>
          <a:lstStyle/>
          <a:p>
            <a:pPr algn="l"/>
            <a:r>
              <a:rPr lang="zh-CN" sz="900" dirty="0">
                <a:solidFill>
                  <a:srgbClr val="9AA0A6"/>
                </a:solidFill>
                <a:latin typeface="Consolas" panose="020B0609020204030204"/>
                <a:ea typeface="微软雅黑" panose="020B0503020204020204" charset="-122"/>
                <a:cs typeface="Consolas" panose="020B0609020204030204"/>
              </a:rPr>
              <a:t>{"news_content": "..."}</a:t>
            </a:r>
          </a:p>
        </p:txBody>
      </p:sp>
      <p:sp>
        <p:nvSpPr>
          <p:cNvPr id="22" name="Rectangle 22"/>
          <p:cNvSpPr/>
          <p:nvPr/>
        </p:nvSpPr>
        <p:spPr>
          <a:xfrm>
            <a:off x="4381500" y="1143000"/>
            <a:ext cx="3429000" cy="4572000"/>
          </a:xfrm>
          <a:prstGeom prst="roundRect">
            <a:avLst>
              <a:gd name="adj" fmla="val 3333"/>
            </a:avLst>
          </a:prstGeom>
          <a:solidFill>
            <a:srgbClr val="1A2332"/>
          </a:solidFill>
          <a:ln w="9525">
            <a:solidFill>
              <a:srgbClr val="2D3748"/>
            </a:solidFill>
          </a:ln>
        </p:spPr>
        <p:txBody>
          <a:bodyPr/>
          <a:lstStyle/>
          <a:p>
            <a:endParaRPr lang="zh-CN" altLang="en-US"/>
          </a:p>
        </p:txBody>
      </p:sp>
      <p:sp>
        <p:nvSpPr>
          <p:cNvPr id="23" name="Rectangle 23"/>
          <p:cNvSpPr/>
          <p:nvPr/>
        </p:nvSpPr>
        <p:spPr>
          <a:xfrm>
            <a:off x="5524500" y="1428750"/>
            <a:ext cx="762000" cy="762000"/>
          </a:xfrm>
          <a:prstGeom prst="roundRect">
            <a:avLst>
              <a:gd name="adj" fmla="val 10000"/>
            </a:avLst>
          </a:prstGeom>
          <a:solidFill>
            <a:srgbClr val="0F1419"/>
          </a:solidFill>
          <a:ln w="19050">
            <a:solidFill>
              <a:srgbClr val="4ECDC4"/>
            </a:solidFill>
          </a:ln>
        </p:spPr>
        <p:txBody>
          <a:bodyPr/>
          <a:lstStyle/>
          <a:p>
            <a:endParaRPr lang="zh-CN" altLang="en-US"/>
          </a:p>
        </p:txBody>
      </p:sp>
      <p:sp>
        <p:nvSpPr>
          <p:cNvPr id="24" name="TextBox 24"/>
          <p:cNvSpPr txBox="1"/>
          <p:nvPr/>
        </p:nvSpPr>
        <p:spPr>
          <a:xfrm>
            <a:off x="5713178" y="1695450"/>
            <a:ext cx="384643" cy="304800"/>
          </a:xfrm>
          <a:prstGeom prst="rect">
            <a:avLst/>
          </a:prstGeom>
          <a:noFill/>
          <a:ln>
            <a:noFill/>
          </a:ln>
        </p:spPr>
        <p:txBody>
          <a:bodyPr wrap="none" lIns="0" tIns="0" rIns="0" bIns="0" anchor="t" anchorCtr="0">
            <a:spAutoFit/>
          </a:bodyPr>
          <a:lstStyle/>
          <a:p>
            <a:pPr algn="ctr"/>
            <a:r>
              <a:rPr lang="zh-CN" sz="1500" b="1" dirty="0">
                <a:solidFill>
                  <a:srgbClr val="4ECDC4"/>
                </a:solidFill>
                <a:latin typeface="Arial" panose="020B0604020202020204"/>
                <a:ea typeface="微软雅黑" panose="020B0503020204020204" charset="-122"/>
                <a:cs typeface="Arial" panose="020B0604020202020204"/>
              </a:rPr>
              <a:t>CSV</a:t>
            </a:r>
          </a:p>
        </p:txBody>
      </p:sp>
      <p:sp>
        <p:nvSpPr>
          <p:cNvPr id="25" name="TextBox 25"/>
          <p:cNvSpPr txBox="1"/>
          <p:nvPr/>
        </p:nvSpPr>
        <p:spPr>
          <a:xfrm>
            <a:off x="5575378" y="2377440"/>
            <a:ext cx="1041244" cy="365760"/>
          </a:xfrm>
          <a:prstGeom prst="rect">
            <a:avLst/>
          </a:prstGeom>
          <a:noFill/>
          <a:ln>
            <a:noFill/>
          </a:ln>
        </p:spPr>
        <p:txBody>
          <a:bodyPr wrap="none" lIns="0" tIns="0" rIns="0" bIns="0" anchor="t" anchorCtr="0">
            <a:spAutoFit/>
          </a:bodyPr>
          <a:lstStyle/>
          <a:p>
            <a:pPr algn="ctr"/>
            <a:r>
              <a:rPr lang="zh-CN" sz="1800" b="1" dirty="0">
                <a:solidFill>
                  <a:srgbClr val="4ECDC4"/>
                </a:solidFill>
                <a:latin typeface="Arial" panose="020B0604020202020204"/>
                <a:ea typeface="微软雅黑" panose="020B0503020204020204" charset="-122"/>
                <a:cs typeface="Arial" panose="020B0604020202020204"/>
              </a:rPr>
              <a:t>CSV 导出</a:t>
            </a:r>
          </a:p>
        </p:txBody>
      </p:sp>
      <p:sp>
        <p:nvSpPr>
          <p:cNvPr id="26" name="Line 26"/>
          <p:cNvSpPr/>
          <p:nvPr/>
        </p:nvSpPr>
        <p:spPr>
          <a:xfrm>
            <a:off x="5143500" y="2762250"/>
            <a:ext cx="1905000" cy="9525"/>
          </a:xfrm>
          <a:custGeom>
            <a:avLst/>
            <a:gdLst/>
            <a:ahLst/>
            <a:cxnLst/>
            <a:rect l="l" t="t" r="r" b="b"/>
            <a:pathLst>
              <a:path w="1905000" h="9525">
                <a:moveTo>
                  <a:pt x="0" y="0"/>
                </a:moveTo>
                <a:lnTo>
                  <a:pt x="1905000" y="0"/>
                </a:lnTo>
              </a:path>
            </a:pathLst>
          </a:custGeom>
          <a:noFill/>
          <a:ln w="9525">
            <a:solidFill>
              <a:srgbClr val="2D3748"/>
            </a:solidFill>
          </a:ln>
        </p:spPr>
        <p:txBody>
          <a:bodyPr/>
          <a:lstStyle/>
          <a:p>
            <a:endParaRPr lang="zh-CN" altLang="en-US"/>
          </a:p>
        </p:txBody>
      </p:sp>
      <p:sp>
        <p:nvSpPr>
          <p:cNvPr id="27" name="TextBox 27"/>
          <p:cNvSpPr txBox="1"/>
          <p:nvPr/>
        </p:nvSpPr>
        <p:spPr>
          <a:xfrm>
            <a:off x="5128260" y="2918460"/>
            <a:ext cx="1112520" cy="510540"/>
          </a:xfrm>
          <a:prstGeom prst="rect">
            <a:avLst/>
          </a:prstGeom>
          <a:noFill/>
          <a:ln>
            <a:noFill/>
          </a:ln>
        </p:spPr>
        <p:txBody>
          <a:bodyPr wrap="square" lIns="0" tIns="0" rIns="0" bIns="0" anchor="t" anchorCtr="0"/>
          <a:lstStyle/>
          <a:p>
            <a:pPr algn="l">
              <a:lnSpc>
                <a:spcPts val="2100"/>
              </a:lnSpc>
            </a:pPr>
            <a:r>
              <a:rPr lang="zh-CN" sz="1200" dirty="0">
                <a:solidFill>
                  <a:srgbClr val="E8EAED"/>
                </a:solidFill>
                <a:latin typeface="Arial" panose="020B0604020202020204"/>
                <a:ea typeface="微软雅黑" panose="020B0503020204020204" charset="-122"/>
                <a:cs typeface="Arial" panose="020B0604020202020204"/>
              </a:rPr>
              <a:t>表格数据格式便于 Excel 打开</a:t>
            </a:r>
          </a:p>
        </p:txBody>
      </p:sp>
      <p:sp>
        <p:nvSpPr>
          <p:cNvPr id="28" name="Rectangle 28"/>
          <p:cNvSpPr/>
          <p:nvPr/>
        </p:nvSpPr>
        <p:spPr>
          <a:xfrm>
            <a:off x="5143500" y="3714750"/>
            <a:ext cx="1905000" cy="285750"/>
          </a:xfrm>
          <a:prstGeom prst="roundRect">
            <a:avLst>
              <a:gd name="adj" fmla="val 13333"/>
            </a:avLst>
          </a:prstGeom>
          <a:solidFill>
            <a:srgbClr val="0F1419"/>
          </a:solidFill>
          <a:ln>
            <a:noFill/>
          </a:ln>
        </p:spPr>
        <p:txBody>
          <a:bodyPr/>
          <a:lstStyle/>
          <a:p>
            <a:endParaRPr lang="zh-CN" altLang="en-US"/>
          </a:p>
        </p:txBody>
      </p:sp>
      <p:sp>
        <p:nvSpPr>
          <p:cNvPr id="29" name="TextBox 29"/>
          <p:cNvSpPr txBox="1"/>
          <p:nvPr/>
        </p:nvSpPr>
        <p:spPr>
          <a:xfrm>
            <a:off x="5320665" y="3791902"/>
            <a:ext cx="985790" cy="213360"/>
          </a:xfrm>
          <a:prstGeom prst="rect">
            <a:avLst/>
          </a:prstGeom>
          <a:noFill/>
          <a:ln>
            <a:noFill/>
          </a:ln>
        </p:spPr>
        <p:txBody>
          <a:bodyPr wrap="none" lIns="0" tIns="0" rIns="0" bIns="0" anchor="t" anchorCtr="0">
            <a:spAutoFit/>
          </a:bodyPr>
          <a:lstStyle/>
          <a:p>
            <a:pPr algn="l"/>
            <a:r>
              <a:rPr lang="zh-CN" sz="1050" dirty="0">
                <a:solidFill>
                  <a:srgbClr val="4ECDC4"/>
                </a:solidFill>
                <a:latin typeface="Arial" panose="020B0604020202020204"/>
                <a:ea typeface="微软雅黑" panose="020B0503020204020204" charset="-122"/>
                <a:cs typeface="Arial" panose="020B0604020202020204"/>
              </a:rPr>
              <a:t>✓ 通用表格格式</a:t>
            </a:r>
          </a:p>
        </p:txBody>
      </p:sp>
      <p:sp>
        <p:nvSpPr>
          <p:cNvPr id="30" name="Rectangle 30"/>
          <p:cNvSpPr/>
          <p:nvPr/>
        </p:nvSpPr>
        <p:spPr>
          <a:xfrm>
            <a:off x="5143500" y="4095750"/>
            <a:ext cx="1905000" cy="285750"/>
          </a:xfrm>
          <a:prstGeom prst="roundRect">
            <a:avLst>
              <a:gd name="adj" fmla="val 13333"/>
            </a:avLst>
          </a:prstGeom>
          <a:solidFill>
            <a:srgbClr val="0F1419"/>
          </a:solidFill>
          <a:ln>
            <a:noFill/>
          </a:ln>
        </p:spPr>
        <p:txBody>
          <a:bodyPr/>
          <a:lstStyle/>
          <a:p>
            <a:endParaRPr lang="zh-CN" altLang="en-US"/>
          </a:p>
        </p:txBody>
      </p:sp>
      <p:sp>
        <p:nvSpPr>
          <p:cNvPr id="31" name="TextBox 31"/>
          <p:cNvSpPr txBox="1"/>
          <p:nvPr/>
        </p:nvSpPr>
        <p:spPr>
          <a:xfrm>
            <a:off x="5320665" y="4172902"/>
            <a:ext cx="1097804" cy="213360"/>
          </a:xfrm>
          <a:prstGeom prst="rect">
            <a:avLst/>
          </a:prstGeom>
          <a:noFill/>
          <a:ln>
            <a:noFill/>
          </a:ln>
        </p:spPr>
        <p:txBody>
          <a:bodyPr wrap="none" lIns="0" tIns="0" rIns="0" bIns="0" anchor="t" anchorCtr="0">
            <a:spAutoFit/>
          </a:bodyPr>
          <a:lstStyle/>
          <a:p>
            <a:pPr algn="l"/>
            <a:r>
              <a:rPr lang="zh-CN" sz="1050" dirty="0">
                <a:solidFill>
                  <a:srgbClr val="4ECDC4"/>
                </a:solidFill>
                <a:latin typeface="Arial" panose="020B0604020202020204"/>
                <a:ea typeface="微软雅黑" panose="020B0503020204020204" charset="-122"/>
                <a:cs typeface="Arial" panose="020B0604020202020204"/>
              </a:rPr>
              <a:t>✓ Excel 直接打开</a:t>
            </a:r>
          </a:p>
        </p:txBody>
      </p:sp>
      <p:sp>
        <p:nvSpPr>
          <p:cNvPr id="32" name="Rectangle 32"/>
          <p:cNvSpPr/>
          <p:nvPr/>
        </p:nvSpPr>
        <p:spPr>
          <a:xfrm>
            <a:off x="5143500" y="4476750"/>
            <a:ext cx="1905000" cy="285750"/>
          </a:xfrm>
          <a:prstGeom prst="roundRect">
            <a:avLst>
              <a:gd name="adj" fmla="val 13333"/>
            </a:avLst>
          </a:prstGeom>
          <a:solidFill>
            <a:srgbClr val="0F1419"/>
          </a:solidFill>
          <a:ln>
            <a:noFill/>
          </a:ln>
        </p:spPr>
        <p:txBody>
          <a:bodyPr/>
          <a:lstStyle/>
          <a:p>
            <a:endParaRPr lang="zh-CN" altLang="en-US"/>
          </a:p>
        </p:txBody>
      </p:sp>
      <p:sp>
        <p:nvSpPr>
          <p:cNvPr id="33" name="TextBox 33"/>
          <p:cNvSpPr txBox="1"/>
          <p:nvPr/>
        </p:nvSpPr>
        <p:spPr>
          <a:xfrm>
            <a:off x="5320665" y="4553902"/>
            <a:ext cx="985790" cy="213360"/>
          </a:xfrm>
          <a:prstGeom prst="rect">
            <a:avLst/>
          </a:prstGeom>
          <a:noFill/>
          <a:ln>
            <a:noFill/>
          </a:ln>
        </p:spPr>
        <p:txBody>
          <a:bodyPr wrap="none" lIns="0" tIns="0" rIns="0" bIns="0" anchor="t" anchorCtr="0">
            <a:spAutoFit/>
          </a:bodyPr>
          <a:lstStyle/>
          <a:p>
            <a:pPr algn="l"/>
            <a:r>
              <a:rPr lang="zh-CN" sz="1050" dirty="0">
                <a:solidFill>
                  <a:srgbClr val="4ECDC4"/>
                </a:solidFill>
                <a:latin typeface="Arial" panose="020B0604020202020204"/>
                <a:ea typeface="微软雅黑" panose="020B0503020204020204" charset="-122"/>
                <a:cs typeface="Arial" panose="020B0604020202020204"/>
              </a:rPr>
              <a:t>✓ 数据分析友好</a:t>
            </a:r>
          </a:p>
        </p:txBody>
      </p:sp>
      <p:sp>
        <p:nvSpPr>
          <p:cNvPr id="34" name="Rectangle 34"/>
          <p:cNvSpPr/>
          <p:nvPr/>
        </p:nvSpPr>
        <p:spPr>
          <a:xfrm>
            <a:off x="4953000" y="4953000"/>
            <a:ext cx="2286000" cy="571500"/>
          </a:xfrm>
          <a:prstGeom prst="roundRect">
            <a:avLst>
              <a:gd name="adj" fmla="val 6667"/>
            </a:avLst>
          </a:prstGeom>
          <a:solidFill>
            <a:srgbClr val="0F1419"/>
          </a:solidFill>
          <a:ln w="9525">
            <a:solidFill>
              <a:srgbClr val="2D3748"/>
            </a:solidFill>
          </a:ln>
        </p:spPr>
        <p:txBody>
          <a:bodyPr/>
          <a:lstStyle/>
          <a:p>
            <a:endParaRPr lang="zh-CN" altLang="en-US"/>
          </a:p>
        </p:txBody>
      </p:sp>
      <p:sp>
        <p:nvSpPr>
          <p:cNvPr id="35" name="TextBox 35"/>
          <p:cNvSpPr txBox="1"/>
          <p:nvPr/>
        </p:nvSpPr>
        <p:spPr>
          <a:xfrm>
            <a:off x="5132070" y="5093970"/>
            <a:ext cx="1151001" cy="182880"/>
          </a:xfrm>
          <a:prstGeom prst="rect">
            <a:avLst/>
          </a:prstGeom>
          <a:noFill/>
          <a:ln>
            <a:noFill/>
          </a:ln>
        </p:spPr>
        <p:txBody>
          <a:bodyPr wrap="none" lIns="0" tIns="0" rIns="0" bIns="0" anchor="t" anchorCtr="0">
            <a:spAutoFit/>
          </a:bodyPr>
          <a:lstStyle/>
          <a:p>
            <a:pPr algn="l"/>
            <a:r>
              <a:rPr lang="zh-CN" sz="900" dirty="0">
                <a:solidFill>
                  <a:srgbClr val="FF6B35"/>
                </a:solidFill>
                <a:latin typeface="Consolas" panose="020B0609020204030204"/>
                <a:ea typeface="微软雅黑" panose="020B0503020204020204" charset="-122"/>
                <a:cs typeface="Consolas" panose="020B0609020204030204"/>
              </a:rPr>
              <a:t>title,content,date</a:t>
            </a:r>
          </a:p>
        </p:txBody>
      </p:sp>
      <p:sp>
        <p:nvSpPr>
          <p:cNvPr id="36" name="TextBox 36"/>
          <p:cNvSpPr txBox="1"/>
          <p:nvPr/>
        </p:nvSpPr>
        <p:spPr>
          <a:xfrm>
            <a:off x="5132070" y="5284470"/>
            <a:ext cx="1409033" cy="182880"/>
          </a:xfrm>
          <a:prstGeom prst="rect">
            <a:avLst/>
          </a:prstGeom>
          <a:noFill/>
          <a:ln>
            <a:noFill/>
          </a:ln>
        </p:spPr>
        <p:txBody>
          <a:bodyPr wrap="none" lIns="0" tIns="0" rIns="0" bIns="0" anchor="t" anchorCtr="0">
            <a:spAutoFit/>
          </a:bodyPr>
          <a:lstStyle/>
          <a:p>
            <a:pPr algn="l"/>
            <a:r>
              <a:rPr lang="zh-CN" sz="900" dirty="0">
                <a:solidFill>
                  <a:srgbClr val="9AA0A6"/>
                </a:solidFill>
                <a:latin typeface="Consolas" panose="020B0609020204030204"/>
                <a:ea typeface="微软雅黑" panose="020B0503020204020204" charset="-122"/>
                <a:cs typeface="Consolas" panose="020B0609020204030204"/>
              </a:rPr>
              <a:t>"...","...","2026-01"</a:t>
            </a:r>
          </a:p>
        </p:txBody>
      </p:sp>
      <p:sp>
        <p:nvSpPr>
          <p:cNvPr id="37" name="Rectangle 37"/>
          <p:cNvSpPr/>
          <p:nvPr/>
        </p:nvSpPr>
        <p:spPr>
          <a:xfrm>
            <a:off x="8191500" y="1143000"/>
            <a:ext cx="3429000" cy="4572000"/>
          </a:xfrm>
          <a:prstGeom prst="roundRect">
            <a:avLst>
              <a:gd name="adj" fmla="val 3333"/>
            </a:avLst>
          </a:prstGeom>
          <a:solidFill>
            <a:srgbClr val="1A2332"/>
          </a:solidFill>
          <a:ln w="9525">
            <a:solidFill>
              <a:srgbClr val="2D3748"/>
            </a:solidFill>
          </a:ln>
        </p:spPr>
        <p:txBody>
          <a:bodyPr/>
          <a:lstStyle/>
          <a:p>
            <a:endParaRPr lang="zh-CN" altLang="en-US"/>
          </a:p>
        </p:txBody>
      </p:sp>
      <p:sp>
        <p:nvSpPr>
          <p:cNvPr id="38" name="Rectangle 38"/>
          <p:cNvSpPr/>
          <p:nvPr/>
        </p:nvSpPr>
        <p:spPr>
          <a:xfrm>
            <a:off x="9334500" y="1428750"/>
            <a:ext cx="762000" cy="762000"/>
          </a:xfrm>
          <a:prstGeom prst="roundRect">
            <a:avLst>
              <a:gd name="adj" fmla="val 10000"/>
            </a:avLst>
          </a:prstGeom>
          <a:solidFill>
            <a:srgbClr val="0F1419"/>
          </a:solidFill>
          <a:ln w="19050">
            <a:solidFill>
              <a:srgbClr val="FF6B35"/>
            </a:solidFill>
          </a:ln>
        </p:spPr>
        <p:txBody>
          <a:bodyPr/>
          <a:lstStyle/>
          <a:p>
            <a:endParaRPr lang="zh-CN" altLang="en-US"/>
          </a:p>
        </p:txBody>
      </p:sp>
      <p:sp>
        <p:nvSpPr>
          <p:cNvPr id="39" name="TextBox 39"/>
          <p:cNvSpPr txBox="1"/>
          <p:nvPr/>
        </p:nvSpPr>
        <p:spPr>
          <a:xfrm>
            <a:off x="9548146" y="1648778"/>
            <a:ext cx="334708" cy="213360"/>
          </a:xfrm>
          <a:prstGeom prst="rect">
            <a:avLst/>
          </a:prstGeom>
          <a:noFill/>
          <a:ln>
            <a:noFill/>
          </a:ln>
        </p:spPr>
        <p:txBody>
          <a:bodyPr wrap="none" lIns="0" tIns="0" rIns="0" bIns="0" anchor="t" anchorCtr="0">
            <a:spAutoFit/>
          </a:bodyPr>
          <a:lstStyle/>
          <a:p>
            <a:pPr algn="ctr"/>
            <a:r>
              <a:rPr lang="zh-CN" sz="1050" dirty="0">
                <a:solidFill>
                  <a:srgbClr val="FF6B35"/>
                </a:solidFill>
                <a:latin typeface="Arial" panose="020B0604020202020204"/>
                <a:ea typeface="微软雅黑" panose="020B0503020204020204" charset="-122"/>
                <a:cs typeface="Arial" panose="020B0604020202020204"/>
              </a:rPr>
              <a:t>1-20</a:t>
            </a:r>
          </a:p>
        </p:txBody>
      </p:sp>
      <p:sp>
        <p:nvSpPr>
          <p:cNvPr id="40" name="TextBox 40"/>
          <p:cNvSpPr txBox="1"/>
          <p:nvPr/>
        </p:nvSpPr>
        <p:spPr>
          <a:xfrm>
            <a:off x="9554051" y="1903095"/>
            <a:ext cx="322898"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 100</a:t>
            </a:r>
          </a:p>
        </p:txBody>
      </p:sp>
      <p:sp>
        <p:nvSpPr>
          <p:cNvPr id="41" name="TextBox 41"/>
          <p:cNvSpPr txBox="1"/>
          <p:nvPr/>
        </p:nvSpPr>
        <p:spPr>
          <a:xfrm>
            <a:off x="9379077" y="2377440"/>
            <a:ext cx="1053846" cy="365760"/>
          </a:xfrm>
          <a:prstGeom prst="rect">
            <a:avLst/>
          </a:prstGeom>
          <a:noFill/>
          <a:ln>
            <a:noFill/>
          </a:ln>
        </p:spPr>
        <p:txBody>
          <a:bodyPr wrap="none" lIns="0" tIns="0" rIns="0" bIns="0" anchor="t" anchorCtr="0">
            <a:spAutoFit/>
          </a:bodyPr>
          <a:lstStyle/>
          <a:p>
            <a:pPr algn="ctr"/>
            <a:r>
              <a:rPr lang="zh-CN" sz="1800" b="1" dirty="0">
                <a:solidFill>
                  <a:srgbClr val="FF6B35"/>
                </a:solidFill>
                <a:latin typeface="Arial" panose="020B0604020202020204"/>
                <a:ea typeface="微软雅黑" panose="020B0503020204020204" charset="-122"/>
                <a:cs typeface="Arial" panose="020B0604020202020204"/>
              </a:rPr>
              <a:t>分页查询</a:t>
            </a:r>
          </a:p>
        </p:txBody>
      </p:sp>
      <p:sp>
        <p:nvSpPr>
          <p:cNvPr id="42" name="Line 42"/>
          <p:cNvSpPr/>
          <p:nvPr/>
        </p:nvSpPr>
        <p:spPr>
          <a:xfrm>
            <a:off x="8953500" y="2762250"/>
            <a:ext cx="1905000" cy="9525"/>
          </a:xfrm>
          <a:custGeom>
            <a:avLst/>
            <a:gdLst/>
            <a:ahLst/>
            <a:cxnLst/>
            <a:rect l="l" t="t" r="r" b="b"/>
            <a:pathLst>
              <a:path w="1905000" h="9525">
                <a:moveTo>
                  <a:pt x="0" y="0"/>
                </a:moveTo>
                <a:lnTo>
                  <a:pt x="1905000" y="0"/>
                </a:lnTo>
              </a:path>
            </a:pathLst>
          </a:custGeom>
          <a:noFill/>
          <a:ln w="9525">
            <a:solidFill>
              <a:srgbClr val="2D3748"/>
            </a:solidFill>
          </a:ln>
        </p:spPr>
        <p:txBody>
          <a:bodyPr/>
          <a:lstStyle/>
          <a:p>
            <a:endParaRPr lang="zh-CN" altLang="en-US"/>
          </a:p>
        </p:txBody>
      </p:sp>
      <p:sp>
        <p:nvSpPr>
          <p:cNvPr id="43" name="TextBox 43"/>
          <p:cNvSpPr txBox="1"/>
          <p:nvPr/>
        </p:nvSpPr>
        <p:spPr>
          <a:xfrm>
            <a:off x="8938260" y="2918460"/>
            <a:ext cx="944880" cy="510540"/>
          </a:xfrm>
          <a:prstGeom prst="rect">
            <a:avLst/>
          </a:prstGeom>
          <a:noFill/>
          <a:ln>
            <a:noFill/>
          </a:ln>
        </p:spPr>
        <p:txBody>
          <a:bodyPr wrap="square" lIns="0" tIns="0" rIns="0" bIns="0" anchor="t" anchorCtr="0"/>
          <a:lstStyle/>
          <a:p>
            <a:pPr algn="l">
              <a:lnSpc>
                <a:spcPts val="2100"/>
              </a:lnSpc>
            </a:pPr>
            <a:r>
              <a:rPr lang="zh-CN" sz="1200" dirty="0">
                <a:solidFill>
                  <a:srgbClr val="E8EAED"/>
                </a:solidFill>
                <a:latin typeface="Arial" panose="020B0604020202020204"/>
                <a:ea typeface="微软雅黑" panose="020B0503020204020204" charset="-122"/>
                <a:cs typeface="Arial" panose="020B0604020202020204"/>
              </a:rPr>
              <a:t>支持大量数据分页浏览</a:t>
            </a:r>
          </a:p>
        </p:txBody>
      </p:sp>
      <p:sp>
        <p:nvSpPr>
          <p:cNvPr id="44" name="Rectangle 44"/>
          <p:cNvSpPr/>
          <p:nvPr/>
        </p:nvSpPr>
        <p:spPr>
          <a:xfrm>
            <a:off x="8953500" y="3714750"/>
            <a:ext cx="1905000" cy="285750"/>
          </a:xfrm>
          <a:prstGeom prst="roundRect">
            <a:avLst>
              <a:gd name="adj" fmla="val 13333"/>
            </a:avLst>
          </a:prstGeom>
          <a:solidFill>
            <a:srgbClr val="0F1419"/>
          </a:solidFill>
          <a:ln>
            <a:noFill/>
          </a:ln>
        </p:spPr>
        <p:txBody>
          <a:bodyPr/>
          <a:lstStyle/>
          <a:p>
            <a:endParaRPr lang="zh-CN" altLang="en-US"/>
          </a:p>
        </p:txBody>
      </p:sp>
      <p:sp>
        <p:nvSpPr>
          <p:cNvPr id="45" name="TextBox 45"/>
          <p:cNvSpPr txBox="1"/>
          <p:nvPr/>
        </p:nvSpPr>
        <p:spPr>
          <a:xfrm>
            <a:off x="9130665" y="3791902"/>
            <a:ext cx="1125807"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Arial" panose="020B0604020202020204"/>
                <a:ea typeface="微软雅黑" panose="020B0503020204020204" charset="-122"/>
                <a:cs typeface="Arial" panose="020B0604020202020204"/>
              </a:rPr>
              <a:t>✓ 可配置每页数量</a:t>
            </a:r>
          </a:p>
        </p:txBody>
      </p:sp>
      <p:sp>
        <p:nvSpPr>
          <p:cNvPr id="46" name="Rectangle 46"/>
          <p:cNvSpPr/>
          <p:nvPr/>
        </p:nvSpPr>
        <p:spPr>
          <a:xfrm>
            <a:off x="8953500" y="4095750"/>
            <a:ext cx="1905000" cy="285750"/>
          </a:xfrm>
          <a:prstGeom prst="roundRect">
            <a:avLst>
              <a:gd name="adj" fmla="val 13333"/>
            </a:avLst>
          </a:prstGeom>
          <a:solidFill>
            <a:srgbClr val="0F1419"/>
          </a:solidFill>
          <a:ln>
            <a:noFill/>
          </a:ln>
        </p:spPr>
        <p:txBody>
          <a:bodyPr/>
          <a:lstStyle/>
          <a:p>
            <a:endParaRPr lang="zh-CN" altLang="en-US"/>
          </a:p>
        </p:txBody>
      </p:sp>
      <p:sp>
        <p:nvSpPr>
          <p:cNvPr id="47" name="TextBox 47"/>
          <p:cNvSpPr txBox="1"/>
          <p:nvPr/>
        </p:nvSpPr>
        <p:spPr>
          <a:xfrm>
            <a:off x="9130665" y="4172902"/>
            <a:ext cx="985790"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Arial" panose="020B0604020202020204"/>
                <a:ea typeface="微软雅黑" panose="020B0503020204020204" charset="-122"/>
                <a:cs typeface="Arial" panose="020B0604020202020204"/>
              </a:rPr>
              <a:t>✓ 支持搜索过滤</a:t>
            </a:r>
          </a:p>
        </p:txBody>
      </p:sp>
      <p:sp>
        <p:nvSpPr>
          <p:cNvPr id="48" name="Rectangle 48"/>
          <p:cNvSpPr/>
          <p:nvPr/>
        </p:nvSpPr>
        <p:spPr>
          <a:xfrm>
            <a:off x="8953500" y="4476750"/>
            <a:ext cx="1905000" cy="285750"/>
          </a:xfrm>
          <a:prstGeom prst="roundRect">
            <a:avLst>
              <a:gd name="adj" fmla="val 13333"/>
            </a:avLst>
          </a:prstGeom>
          <a:solidFill>
            <a:srgbClr val="0F1419"/>
          </a:solidFill>
          <a:ln>
            <a:noFill/>
          </a:ln>
        </p:spPr>
        <p:txBody>
          <a:bodyPr/>
          <a:lstStyle/>
          <a:p>
            <a:endParaRPr lang="zh-CN" altLang="en-US"/>
          </a:p>
        </p:txBody>
      </p:sp>
      <p:sp>
        <p:nvSpPr>
          <p:cNvPr id="49" name="TextBox 49"/>
          <p:cNvSpPr txBox="1"/>
          <p:nvPr/>
        </p:nvSpPr>
        <p:spPr>
          <a:xfrm>
            <a:off x="9130665" y="4553902"/>
            <a:ext cx="1062800" cy="213360"/>
          </a:xfrm>
          <a:prstGeom prst="rect">
            <a:avLst/>
          </a:prstGeom>
          <a:noFill/>
          <a:ln>
            <a:noFill/>
          </a:ln>
        </p:spPr>
        <p:txBody>
          <a:bodyPr wrap="none" lIns="0" tIns="0" rIns="0" bIns="0" anchor="t" anchorCtr="0">
            <a:spAutoFit/>
          </a:bodyPr>
          <a:lstStyle/>
          <a:p>
            <a:pPr algn="l"/>
            <a:r>
              <a:rPr lang="zh-CN" sz="1050" dirty="0">
                <a:solidFill>
                  <a:srgbClr val="FF6B35"/>
                </a:solidFill>
                <a:latin typeface="Arial" panose="020B0604020202020204"/>
                <a:ea typeface="微软雅黑" panose="020B0503020204020204" charset="-122"/>
                <a:cs typeface="Arial" panose="020B0604020202020204"/>
              </a:rPr>
              <a:t>✓ 原始/清洗视图</a:t>
            </a:r>
          </a:p>
        </p:txBody>
      </p:sp>
      <p:sp>
        <p:nvSpPr>
          <p:cNvPr id="50" name="Rectangle 50"/>
          <p:cNvSpPr/>
          <p:nvPr/>
        </p:nvSpPr>
        <p:spPr>
          <a:xfrm>
            <a:off x="8763000" y="4953000"/>
            <a:ext cx="2667000" cy="571500"/>
          </a:xfrm>
          <a:prstGeom prst="roundRect">
            <a:avLst>
              <a:gd name="adj" fmla="val 6667"/>
            </a:avLst>
          </a:prstGeom>
          <a:solidFill>
            <a:srgbClr val="0F1419"/>
          </a:solidFill>
          <a:ln w="9525">
            <a:solidFill>
              <a:srgbClr val="2D3748"/>
            </a:solidFill>
          </a:ln>
        </p:spPr>
        <p:txBody>
          <a:bodyPr/>
          <a:lstStyle/>
          <a:p>
            <a:endParaRPr lang="zh-CN" altLang="en-US"/>
          </a:p>
        </p:txBody>
      </p:sp>
      <p:sp>
        <p:nvSpPr>
          <p:cNvPr id="51" name="Rectangle 51"/>
          <p:cNvSpPr/>
          <p:nvPr/>
        </p:nvSpPr>
        <p:spPr>
          <a:xfrm>
            <a:off x="8953500" y="5095875"/>
            <a:ext cx="381000" cy="285750"/>
          </a:xfrm>
          <a:prstGeom prst="roundRect">
            <a:avLst>
              <a:gd name="adj" fmla="val 13333"/>
            </a:avLst>
          </a:prstGeom>
          <a:solidFill>
            <a:srgbClr val="FF6B35">
              <a:alpha val="20000"/>
            </a:srgbClr>
          </a:solidFill>
          <a:ln w="9525">
            <a:solidFill>
              <a:srgbClr val="FF6B35"/>
            </a:solidFill>
          </a:ln>
        </p:spPr>
        <p:txBody>
          <a:bodyPr/>
          <a:lstStyle/>
          <a:p>
            <a:endParaRPr lang="zh-CN" altLang="en-US"/>
          </a:p>
        </p:txBody>
      </p:sp>
      <p:sp>
        <p:nvSpPr>
          <p:cNvPr id="52" name="TextBox 52"/>
          <p:cNvSpPr txBox="1"/>
          <p:nvPr/>
        </p:nvSpPr>
        <p:spPr>
          <a:xfrm>
            <a:off x="9099566" y="5189220"/>
            <a:ext cx="88868" cy="182880"/>
          </a:xfrm>
          <a:prstGeom prst="rect">
            <a:avLst/>
          </a:prstGeom>
          <a:noFill/>
          <a:ln>
            <a:noFill/>
          </a:ln>
        </p:spPr>
        <p:txBody>
          <a:bodyPr wrap="none" lIns="0" tIns="0" rIns="0" bIns="0" anchor="t" anchorCtr="0">
            <a:spAutoFit/>
          </a:bodyPr>
          <a:lstStyle/>
          <a:p>
            <a:pPr algn="ctr"/>
            <a:r>
              <a:rPr lang="zh-CN" sz="900" dirty="0">
                <a:solidFill>
                  <a:srgbClr val="FF6B35"/>
                </a:solidFill>
                <a:latin typeface="Arial" panose="020B0604020202020204"/>
                <a:ea typeface="微软雅黑" panose="020B0503020204020204" charset="-122"/>
                <a:cs typeface="Arial" panose="020B0604020202020204"/>
              </a:rPr>
              <a:t>1</a:t>
            </a:r>
          </a:p>
        </p:txBody>
      </p:sp>
      <p:sp>
        <p:nvSpPr>
          <p:cNvPr id="53" name="Rectangle 53"/>
          <p:cNvSpPr/>
          <p:nvPr/>
        </p:nvSpPr>
        <p:spPr>
          <a:xfrm>
            <a:off x="9429750" y="5095875"/>
            <a:ext cx="381000" cy="285750"/>
          </a:xfrm>
          <a:prstGeom prst="roundRect">
            <a:avLst>
              <a:gd name="adj" fmla="val 13333"/>
            </a:avLst>
          </a:prstGeom>
          <a:solidFill>
            <a:srgbClr val="0F1419"/>
          </a:solidFill>
          <a:ln w="9525">
            <a:solidFill>
              <a:srgbClr val="2D3748"/>
            </a:solidFill>
          </a:ln>
        </p:spPr>
        <p:txBody>
          <a:bodyPr/>
          <a:lstStyle/>
          <a:p>
            <a:endParaRPr lang="zh-CN" altLang="en-US"/>
          </a:p>
        </p:txBody>
      </p:sp>
      <p:sp>
        <p:nvSpPr>
          <p:cNvPr id="54" name="TextBox 54"/>
          <p:cNvSpPr txBox="1"/>
          <p:nvPr/>
        </p:nvSpPr>
        <p:spPr>
          <a:xfrm>
            <a:off x="9575816" y="5189220"/>
            <a:ext cx="88868"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2</a:t>
            </a:r>
          </a:p>
        </p:txBody>
      </p:sp>
      <p:sp>
        <p:nvSpPr>
          <p:cNvPr id="55" name="Rectangle 55"/>
          <p:cNvSpPr/>
          <p:nvPr/>
        </p:nvSpPr>
        <p:spPr>
          <a:xfrm>
            <a:off x="9906000" y="5095875"/>
            <a:ext cx="381000" cy="285750"/>
          </a:xfrm>
          <a:prstGeom prst="roundRect">
            <a:avLst>
              <a:gd name="adj" fmla="val 13333"/>
            </a:avLst>
          </a:prstGeom>
          <a:solidFill>
            <a:srgbClr val="0F1419"/>
          </a:solidFill>
          <a:ln w="9525">
            <a:solidFill>
              <a:srgbClr val="2D3748"/>
            </a:solidFill>
          </a:ln>
        </p:spPr>
        <p:txBody>
          <a:bodyPr/>
          <a:lstStyle/>
          <a:p>
            <a:endParaRPr lang="zh-CN" altLang="en-US"/>
          </a:p>
        </p:txBody>
      </p:sp>
      <p:sp>
        <p:nvSpPr>
          <p:cNvPr id="56" name="TextBox 56"/>
          <p:cNvSpPr txBox="1"/>
          <p:nvPr/>
        </p:nvSpPr>
        <p:spPr>
          <a:xfrm>
            <a:off x="10052066" y="5189220"/>
            <a:ext cx="88868"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3</a:t>
            </a:r>
          </a:p>
        </p:txBody>
      </p:sp>
      <p:sp>
        <p:nvSpPr>
          <p:cNvPr id="57" name="TextBox 57"/>
          <p:cNvSpPr txBox="1"/>
          <p:nvPr/>
        </p:nvSpPr>
        <p:spPr>
          <a:xfrm>
            <a:off x="10418445" y="5189220"/>
            <a:ext cx="220885" cy="182880"/>
          </a:xfrm>
          <a:prstGeom prst="rect">
            <a:avLst/>
          </a:prstGeom>
          <a:noFill/>
          <a:ln>
            <a:noFill/>
          </a:ln>
        </p:spPr>
        <p:txBody>
          <a:bodyPr wrap="none" lIns="0" tIns="0" rIns="0" bIns="0" anchor="t" anchorCtr="0">
            <a:spAutoFit/>
          </a:bodyPr>
          <a:lstStyle/>
          <a:p>
            <a:pPr algn="l"/>
            <a:r>
              <a:rPr lang="zh-CN" sz="900" dirty="0">
                <a:solidFill>
                  <a:srgbClr val="9AA0A6"/>
                </a:solidFill>
                <a:latin typeface="Arial" panose="020B0604020202020204"/>
                <a:ea typeface="微软雅黑" panose="020B0503020204020204" charset="-122"/>
                <a:cs typeface="Arial" panose="020B0604020202020204"/>
              </a:rPr>
              <a:t>...</a:t>
            </a:r>
          </a:p>
        </p:txBody>
      </p:sp>
      <p:sp>
        <p:nvSpPr>
          <p:cNvPr id="58" name="Rectangle 58"/>
          <p:cNvSpPr/>
          <p:nvPr/>
        </p:nvSpPr>
        <p:spPr>
          <a:xfrm>
            <a:off x="10572750" y="5095875"/>
            <a:ext cx="381000" cy="285750"/>
          </a:xfrm>
          <a:prstGeom prst="roundRect">
            <a:avLst>
              <a:gd name="adj" fmla="val 13333"/>
            </a:avLst>
          </a:prstGeom>
          <a:solidFill>
            <a:srgbClr val="0F1419"/>
          </a:solidFill>
          <a:ln w="9525">
            <a:solidFill>
              <a:srgbClr val="2D3748"/>
            </a:solidFill>
          </a:ln>
        </p:spPr>
        <p:txBody>
          <a:bodyPr/>
          <a:lstStyle/>
          <a:p>
            <a:endParaRPr lang="zh-CN" altLang="en-US"/>
          </a:p>
        </p:txBody>
      </p:sp>
      <p:sp>
        <p:nvSpPr>
          <p:cNvPr id="59" name="TextBox 59"/>
          <p:cNvSpPr txBox="1"/>
          <p:nvPr/>
        </p:nvSpPr>
        <p:spPr>
          <a:xfrm>
            <a:off x="10718816" y="5189220"/>
            <a:ext cx="88868" cy="182880"/>
          </a:xfrm>
          <a:prstGeom prst="rect">
            <a:avLst/>
          </a:prstGeom>
          <a:noFill/>
          <a:ln>
            <a:noFill/>
          </a:ln>
        </p:spPr>
        <p:txBody>
          <a:bodyPr wrap="none" lIns="0" tIns="0" rIns="0" bIns="0" anchor="t" anchorCtr="0">
            <a:spAutoFit/>
          </a:bodyPr>
          <a:lstStyle/>
          <a:p>
            <a:pPr algn="ctr"/>
            <a:r>
              <a:rPr lang="zh-CN" sz="900" dirty="0">
                <a:solidFill>
                  <a:srgbClr val="9AA0A6"/>
                </a:solidFill>
                <a:latin typeface="Arial" panose="020B0604020202020204"/>
                <a:ea typeface="微软雅黑" panose="020B0503020204020204" charset="-122"/>
                <a:cs typeface="Arial" panose="020B0604020202020204"/>
              </a:rPr>
              <a:t>5</a:t>
            </a:r>
          </a:p>
        </p:txBody>
      </p:sp>
      <p:sp>
        <p:nvSpPr>
          <p:cNvPr id="60" name="Rectangle 60"/>
          <p:cNvSpPr/>
          <p:nvPr/>
        </p:nvSpPr>
        <p:spPr>
          <a:xfrm>
            <a:off x="571500" y="6000750"/>
            <a:ext cx="11049000" cy="476250"/>
          </a:xfrm>
          <a:prstGeom prst="roundRect">
            <a:avLst>
              <a:gd name="adj" fmla="val 16000"/>
            </a:avLst>
          </a:prstGeom>
          <a:solidFill>
            <a:srgbClr val="1A2332"/>
          </a:solidFill>
          <a:ln w="9525">
            <a:solidFill>
              <a:srgbClr val="2D3748"/>
            </a:solidFill>
          </a:ln>
        </p:spPr>
        <p:txBody>
          <a:bodyPr/>
          <a:lstStyle/>
          <a:p>
            <a:endParaRPr lang="zh-CN" altLang="en-US"/>
          </a:p>
        </p:txBody>
      </p:sp>
      <p:sp>
        <p:nvSpPr>
          <p:cNvPr id="61" name="TextBox 61"/>
          <p:cNvSpPr txBox="1"/>
          <p:nvPr/>
        </p:nvSpPr>
        <p:spPr>
          <a:xfrm>
            <a:off x="746760" y="6156960"/>
            <a:ext cx="782574" cy="243840"/>
          </a:xfrm>
          <a:prstGeom prst="rect">
            <a:avLst/>
          </a:prstGeom>
          <a:noFill/>
          <a:ln>
            <a:noFill/>
          </a:ln>
        </p:spPr>
        <p:txBody>
          <a:bodyPr wrap="none" lIns="0" tIns="0" rIns="0" bIns="0" anchor="t" anchorCtr="0">
            <a:spAutoFit/>
          </a:bodyPr>
          <a:lstStyle/>
          <a:p>
            <a:pPr algn="l"/>
            <a:r>
              <a:rPr lang="zh-CN" sz="1200" dirty="0">
                <a:solidFill>
                  <a:srgbClr val="E8EAED"/>
                </a:solidFill>
                <a:latin typeface="Arial" panose="020B0604020202020204"/>
                <a:ea typeface="微软雅黑" panose="020B0503020204020204" charset="-122"/>
                <a:cs typeface="Arial" panose="020B0604020202020204"/>
              </a:rPr>
              <a:t>API 端点：</a:t>
            </a:r>
          </a:p>
        </p:txBody>
      </p:sp>
      <p:sp>
        <p:nvSpPr>
          <p:cNvPr id="62" name="TextBox 62"/>
          <p:cNvSpPr txBox="1"/>
          <p:nvPr/>
        </p:nvSpPr>
        <p:spPr>
          <a:xfrm>
            <a:off x="1701165" y="6173152"/>
            <a:ext cx="2294953" cy="213360"/>
          </a:xfrm>
          <a:prstGeom prst="rect">
            <a:avLst/>
          </a:prstGeom>
          <a:noFill/>
          <a:ln>
            <a:noFill/>
          </a:ln>
        </p:spPr>
        <p:txBody>
          <a:bodyPr wrap="none" lIns="0" tIns="0" rIns="0" bIns="0" anchor="t" anchorCtr="0">
            <a:spAutoFit/>
          </a:bodyPr>
          <a:lstStyle/>
          <a:p>
            <a:pPr algn="l"/>
            <a:r>
              <a:rPr lang="zh-CN" sz="1050" dirty="0">
                <a:solidFill>
                  <a:srgbClr val="00D4FF"/>
                </a:solidFill>
                <a:latin typeface="Consolas" panose="020B0609020204030204"/>
                <a:ea typeface="微软雅黑" panose="020B0503020204020204" charset="-122"/>
                <a:cs typeface="Consolas" panose="020B0609020204030204"/>
              </a:rPr>
              <a:t>POST /v1/tasks/{"{id}"}/export</a:t>
            </a:r>
          </a:p>
        </p:txBody>
      </p:sp>
      <p:sp>
        <p:nvSpPr>
          <p:cNvPr id="63" name="TextBox 63"/>
          <p:cNvSpPr txBox="1"/>
          <p:nvPr/>
        </p:nvSpPr>
        <p:spPr>
          <a:xfrm>
            <a:off x="4749165" y="6173152"/>
            <a:ext cx="1594866"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参数：format=json/csv</a:t>
            </a:r>
          </a:p>
        </p:txBody>
      </p:sp>
      <p:sp>
        <p:nvSpPr>
          <p:cNvPr id="64" name="TextBox 64"/>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08 / 11</a:t>
            </a:r>
          </a:p>
        </p:txBody>
      </p:sp>
      <p:sp>
        <p:nvSpPr>
          <p:cNvPr id="65" name="Rectangle 65"/>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4" name="Rectangle 4"/>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5" name="TextBox 5"/>
          <p:cNvSpPr txBox="1"/>
          <p:nvPr/>
        </p:nvSpPr>
        <p:spPr>
          <a:xfrm>
            <a:off x="727710" y="356235"/>
            <a:ext cx="1580769"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技术亮点</a:t>
            </a:r>
          </a:p>
        </p:txBody>
      </p:sp>
      <p:sp>
        <p:nvSpPr>
          <p:cNvPr id="6" name="TextBox 6"/>
          <p:cNvSpPr txBox="1"/>
          <p:nvPr/>
        </p:nvSpPr>
        <p:spPr>
          <a:xfrm>
            <a:off x="2649855" y="501968"/>
            <a:ext cx="1744504" cy="274320"/>
          </a:xfrm>
          <a:prstGeom prst="rect">
            <a:avLst/>
          </a:prstGeom>
          <a:noFill/>
          <a:ln>
            <a:noFill/>
          </a:ln>
        </p:spPr>
        <p:txBody>
          <a:bodyPr wrap="none" lIns="0" tIns="0" rIns="0" bIns="0" anchor="t" anchorCtr="0">
            <a:spAutoFit/>
          </a:bodyPr>
          <a:lstStyle/>
          <a:p>
            <a:pPr algn="l"/>
            <a:r>
              <a:rPr lang="zh-CN" sz="1350" dirty="0">
                <a:solidFill>
                  <a:srgbClr val="9AA0A6"/>
                </a:solidFill>
                <a:latin typeface="Arial" panose="020B0604020202020204"/>
                <a:ea typeface="微软雅黑" panose="020B0503020204020204" charset="-122"/>
                <a:cs typeface="Arial" panose="020B0604020202020204"/>
              </a:rPr>
              <a:t>Technical Highlights</a:t>
            </a:r>
          </a:p>
        </p:txBody>
      </p:sp>
      <p:sp>
        <p:nvSpPr>
          <p:cNvPr id="7" name="Rectangle 7"/>
          <p:cNvSpPr/>
          <p:nvPr/>
        </p:nvSpPr>
        <p:spPr>
          <a:xfrm>
            <a:off x="571500" y="1047750"/>
            <a:ext cx="2571750" cy="2667000"/>
          </a:xfrm>
          <a:prstGeom prst="roundRect">
            <a:avLst>
              <a:gd name="adj" fmla="val 4444"/>
            </a:avLst>
          </a:prstGeom>
          <a:solidFill>
            <a:srgbClr val="1A2332"/>
          </a:solidFill>
          <a:ln w="9525">
            <a:solidFill>
              <a:srgbClr val="2D3748"/>
            </a:solidFill>
          </a:ln>
        </p:spPr>
        <p:txBody>
          <a:bodyPr/>
          <a:lstStyle/>
          <a:p>
            <a:endParaRPr lang="zh-CN" altLang="en-US"/>
          </a:p>
        </p:txBody>
      </p:sp>
      <p:sp>
        <p:nvSpPr>
          <p:cNvPr id="8" name="Rectangle 8"/>
          <p:cNvSpPr/>
          <p:nvPr/>
        </p:nvSpPr>
        <p:spPr>
          <a:xfrm>
            <a:off x="565659" y="1042035"/>
            <a:ext cx="2571750" cy="2667000"/>
          </a:xfrm>
          <a:prstGeom prst="roundRect">
            <a:avLst>
              <a:gd name="adj" fmla="val 4444"/>
            </a:avLst>
          </a:prstGeom>
          <a:gradFill>
            <a:gsLst>
              <a:gs pos="0">
                <a:srgbClr val="00D4FF">
                  <a:alpha val="10000"/>
                </a:srgbClr>
              </a:gs>
              <a:gs pos="100000">
                <a:srgbClr val="00D4FF">
                  <a:alpha val="0"/>
                </a:srgbClr>
              </a:gs>
            </a:gsLst>
            <a:lin ang="5400000" scaled="1"/>
          </a:gradFill>
          <a:ln>
            <a:noFill/>
          </a:ln>
        </p:spPr>
        <p:txBody>
          <a:bodyPr/>
          <a:lstStyle/>
          <a:p>
            <a:endParaRPr lang="zh-CN" altLang="en-US"/>
          </a:p>
        </p:txBody>
      </p:sp>
      <p:sp>
        <p:nvSpPr>
          <p:cNvPr id="9" name="Rectangle 9"/>
          <p:cNvSpPr/>
          <p:nvPr/>
        </p:nvSpPr>
        <p:spPr>
          <a:xfrm>
            <a:off x="1476375" y="1238250"/>
            <a:ext cx="666750" cy="666750"/>
          </a:xfrm>
          <a:prstGeom prst="roundRect">
            <a:avLst>
              <a:gd name="adj" fmla="val 11429"/>
            </a:avLst>
          </a:prstGeom>
          <a:solidFill>
            <a:srgbClr val="0F1419"/>
          </a:solidFill>
          <a:ln w="19050">
            <a:solidFill>
              <a:srgbClr val="00D4FF"/>
            </a:solidFill>
          </a:ln>
        </p:spPr>
        <p:txBody>
          <a:bodyPr/>
          <a:lstStyle/>
          <a:p>
            <a:endParaRPr lang="zh-CN" altLang="en-US"/>
          </a:p>
        </p:txBody>
      </p:sp>
      <p:sp>
        <p:nvSpPr>
          <p:cNvPr id="10" name="Ellipse 10"/>
          <p:cNvSpPr/>
          <p:nvPr/>
        </p:nvSpPr>
        <p:spPr>
          <a:xfrm>
            <a:off x="1619250" y="1381125"/>
            <a:ext cx="381000" cy="381000"/>
          </a:xfrm>
          <a:prstGeom prst="ellipse">
            <a:avLst/>
          </a:prstGeom>
          <a:noFill/>
          <a:ln w="19050">
            <a:solidFill>
              <a:srgbClr val="00D4FF"/>
            </a:solidFill>
          </a:ln>
        </p:spPr>
        <p:txBody>
          <a:bodyPr/>
          <a:lstStyle/>
          <a:p>
            <a:endParaRPr lang="zh-CN" altLang="en-US"/>
          </a:p>
        </p:txBody>
      </p:sp>
      <p:sp>
        <p:nvSpPr>
          <p:cNvPr id="11" name="Freeform 11"/>
          <p:cNvSpPr/>
          <p:nvPr/>
        </p:nvSpPr>
        <p:spPr>
          <a:xfrm>
            <a:off x="1714500" y="1476375"/>
            <a:ext cx="190500" cy="95250"/>
          </a:xfrm>
          <a:custGeom>
            <a:avLst/>
            <a:gdLst/>
            <a:ahLst/>
            <a:cxnLst/>
            <a:rect l="l" t="t" r="r" b="b"/>
            <a:pathLst>
              <a:path w="190500" h="95250">
                <a:moveTo>
                  <a:pt x="0" y="0"/>
                </a:moveTo>
                <a:lnTo>
                  <a:pt x="95250" y="95250"/>
                </a:lnTo>
                <a:lnTo>
                  <a:pt x="190500" y="0"/>
                </a:lnTo>
              </a:path>
            </a:pathLst>
          </a:custGeom>
          <a:noFill/>
          <a:ln w="19050">
            <a:solidFill>
              <a:srgbClr val="00D4FF"/>
            </a:solidFill>
          </a:ln>
        </p:spPr>
        <p:txBody>
          <a:bodyPr/>
          <a:lstStyle/>
          <a:p>
            <a:endParaRPr lang="zh-CN" altLang="en-US"/>
          </a:p>
        </p:txBody>
      </p:sp>
      <p:sp>
        <p:nvSpPr>
          <p:cNvPr id="12" name="Freeform 12"/>
          <p:cNvSpPr/>
          <p:nvPr/>
        </p:nvSpPr>
        <p:spPr>
          <a:xfrm>
            <a:off x="1714500" y="1571625"/>
            <a:ext cx="190500" cy="95250"/>
          </a:xfrm>
          <a:custGeom>
            <a:avLst/>
            <a:gdLst/>
            <a:ahLst/>
            <a:cxnLst/>
            <a:rect l="l" t="t" r="r" b="b"/>
            <a:pathLst>
              <a:path w="190500" h="95250">
                <a:moveTo>
                  <a:pt x="0" y="95250"/>
                </a:moveTo>
                <a:lnTo>
                  <a:pt x="95250" y="0"/>
                </a:lnTo>
                <a:lnTo>
                  <a:pt x="190500" y="95250"/>
                </a:lnTo>
              </a:path>
            </a:pathLst>
          </a:custGeom>
          <a:noFill/>
          <a:ln w="19050">
            <a:solidFill>
              <a:srgbClr val="00D4FF"/>
            </a:solidFill>
          </a:ln>
        </p:spPr>
        <p:txBody>
          <a:bodyPr/>
          <a:lstStyle/>
          <a:p>
            <a:endParaRPr lang="zh-CN" altLang="en-US"/>
          </a:p>
        </p:txBody>
      </p:sp>
      <p:sp>
        <p:nvSpPr>
          <p:cNvPr id="13" name="TextBox 13"/>
          <p:cNvSpPr txBox="1"/>
          <p:nvPr/>
        </p:nvSpPr>
        <p:spPr>
          <a:xfrm>
            <a:off x="1055608" y="2076450"/>
            <a:ext cx="1508284" cy="304800"/>
          </a:xfrm>
          <a:prstGeom prst="rect">
            <a:avLst/>
          </a:prstGeom>
          <a:noFill/>
          <a:ln>
            <a:noFill/>
          </a:ln>
        </p:spPr>
        <p:txBody>
          <a:bodyPr wrap="none" lIns="0" tIns="0" rIns="0" bIns="0" anchor="t" anchorCtr="0">
            <a:spAutoFit/>
          </a:bodyPr>
          <a:lstStyle/>
          <a:p>
            <a:pPr algn="ctr"/>
            <a:r>
              <a:rPr lang="zh-CN" sz="1500" b="1" dirty="0">
                <a:solidFill>
                  <a:srgbClr val="00D4FF"/>
                </a:solidFill>
                <a:latin typeface="Arial" panose="020B0604020202020204"/>
                <a:ea typeface="微软雅黑" panose="020B0503020204020204" charset="-122"/>
                <a:cs typeface="Arial" panose="020B0604020202020204"/>
              </a:rPr>
              <a:t>状态机设计模式</a:t>
            </a:r>
          </a:p>
        </p:txBody>
      </p:sp>
      <p:sp>
        <p:nvSpPr>
          <p:cNvPr id="14" name="Line 14"/>
          <p:cNvSpPr/>
          <p:nvPr/>
        </p:nvSpPr>
        <p:spPr>
          <a:xfrm>
            <a:off x="1047750" y="2381250"/>
            <a:ext cx="1524000" cy="9525"/>
          </a:xfrm>
          <a:custGeom>
            <a:avLst/>
            <a:gdLst/>
            <a:ahLst/>
            <a:cxnLst/>
            <a:rect l="l" t="t" r="r" b="b"/>
            <a:pathLst>
              <a:path w="1524000" h="9525">
                <a:moveTo>
                  <a:pt x="0" y="0"/>
                </a:moveTo>
                <a:lnTo>
                  <a:pt x="1524000" y="0"/>
                </a:lnTo>
              </a:path>
            </a:pathLst>
          </a:custGeom>
          <a:noFill/>
          <a:ln w="9525">
            <a:solidFill>
              <a:srgbClr val="2D3748"/>
            </a:solidFill>
          </a:ln>
        </p:spPr>
        <p:txBody>
          <a:bodyPr/>
          <a:lstStyle/>
          <a:p>
            <a:endParaRPr lang="zh-CN" altLang="en-US"/>
          </a:p>
        </p:txBody>
      </p:sp>
      <p:sp>
        <p:nvSpPr>
          <p:cNvPr id="15" name="TextBox 15"/>
          <p:cNvSpPr txBox="1"/>
          <p:nvPr/>
        </p:nvSpPr>
        <p:spPr>
          <a:xfrm>
            <a:off x="924195" y="2351723"/>
            <a:ext cx="1093470" cy="842010"/>
          </a:xfrm>
          <a:prstGeom prst="rect">
            <a:avLst/>
          </a:prstGeom>
          <a:noFill/>
          <a:ln>
            <a:noFill/>
          </a:ln>
        </p:spPr>
        <p:txBody>
          <a:bodyPr wrap="square" lIns="0" tIns="0" rIns="0" bIns="0" anchor="t" anchorCtr="0"/>
          <a:lstStyle/>
          <a:p>
            <a:pPr algn="l">
              <a:lnSpc>
                <a:spcPts val="1650"/>
              </a:lnSpc>
            </a:pPr>
            <a:r>
              <a:rPr lang="zh-CN" sz="1050" dirty="0">
                <a:solidFill>
                  <a:srgbClr val="E8EAED"/>
                </a:solidFill>
                <a:latin typeface="Arial" panose="020B0604020202020204"/>
                <a:ea typeface="微软雅黑" panose="020B0503020204020204" charset="-122"/>
                <a:cs typeface="Arial" panose="020B0604020202020204"/>
              </a:rPr>
              <a:t>使用枚举定义状态字典定义转换规则避免 if-else 嵌套逻辑清晰易维护</a:t>
            </a:r>
          </a:p>
        </p:txBody>
      </p:sp>
      <p:sp>
        <p:nvSpPr>
          <p:cNvPr id="16" name="Rectangle 16"/>
          <p:cNvSpPr/>
          <p:nvPr/>
        </p:nvSpPr>
        <p:spPr>
          <a:xfrm>
            <a:off x="653307" y="3227704"/>
            <a:ext cx="2333734" cy="427037"/>
          </a:xfrm>
          <a:prstGeom prst="roundRect">
            <a:avLst>
              <a:gd name="adj" fmla="val 13333"/>
            </a:avLst>
          </a:prstGeom>
          <a:solidFill>
            <a:srgbClr val="0F1419"/>
          </a:solidFill>
          <a:ln>
            <a:noFill/>
          </a:ln>
        </p:spPr>
        <p:txBody>
          <a:bodyPr/>
          <a:lstStyle/>
          <a:p>
            <a:endParaRPr lang="zh-CN" altLang="en-US"/>
          </a:p>
        </p:txBody>
      </p:sp>
      <p:sp>
        <p:nvSpPr>
          <p:cNvPr id="17" name="TextBox 17"/>
          <p:cNvSpPr txBox="1"/>
          <p:nvPr/>
        </p:nvSpPr>
        <p:spPr>
          <a:xfrm>
            <a:off x="1628191" y="4194491"/>
            <a:ext cx="2875812" cy="167640"/>
          </a:xfrm>
          <a:prstGeom prst="rect">
            <a:avLst/>
          </a:prstGeom>
          <a:noFill/>
          <a:ln>
            <a:noFill/>
          </a:ln>
        </p:spPr>
        <p:txBody>
          <a:bodyPr wrap="none" lIns="0" tIns="0" rIns="0" bIns="0" anchor="t" anchorCtr="0">
            <a:spAutoFit/>
          </a:bodyPr>
          <a:lstStyle/>
          <a:p>
            <a:pPr algn="l"/>
            <a:r>
              <a:rPr lang="zh-CN" sz="825" dirty="0">
                <a:solidFill>
                  <a:srgbClr val="4ECDC4"/>
                </a:solidFill>
                <a:latin typeface="Consolas" panose="020B0609020204030204"/>
                <a:ea typeface="微软雅黑" panose="020B0503020204020204" charset="-122"/>
                <a:cs typeface="Consolas" panose="020B0609020204030204"/>
              </a:rPr>
              <a:t>TRANSITIONS = {"{"}pending: {"{"}running{"}"}{"}"}</a:t>
            </a:r>
          </a:p>
        </p:txBody>
      </p:sp>
      <p:sp>
        <p:nvSpPr>
          <p:cNvPr id="18" name="Rectangle 18"/>
          <p:cNvSpPr/>
          <p:nvPr/>
        </p:nvSpPr>
        <p:spPr>
          <a:xfrm>
            <a:off x="3333750" y="1047750"/>
            <a:ext cx="2571750" cy="2667000"/>
          </a:xfrm>
          <a:prstGeom prst="roundRect">
            <a:avLst>
              <a:gd name="adj" fmla="val 4444"/>
            </a:avLst>
          </a:prstGeom>
          <a:solidFill>
            <a:srgbClr val="1A2332"/>
          </a:solidFill>
          <a:ln w="9525">
            <a:solidFill>
              <a:srgbClr val="2D3748"/>
            </a:solidFill>
          </a:ln>
        </p:spPr>
        <p:txBody>
          <a:bodyPr/>
          <a:lstStyle/>
          <a:p>
            <a:endParaRPr lang="zh-CN" altLang="en-US"/>
          </a:p>
        </p:txBody>
      </p:sp>
      <p:sp>
        <p:nvSpPr>
          <p:cNvPr id="19" name="Rectangle 19"/>
          <p:cNvSpPr/>
          <p:nvPr/>
        </p:nvSpPr>
        <p:spPr>
          <a:xfrm>
            <a:off x="3333750" y="1047750"/>
            <a:ext cx="2571750" cy="2667000"/>
          </a:xfrm>
          <a:prstGeom prst="roundRect">
            <a:avLst>
              <a:gd name="adj" fmla="val 4444"/>
            </a:avLst>
          </a:prstGeom>
          <a:gradFill>
            <a:gsLst>
              <a:gs pos="0">
                <a:srgbClr val="00D4FF">
                  <a:alpha val="10000"/>
                </a:srgbClr>
              </a:gs>
              <a:gs pos="100000">
                <a:srgbClr val="00D4FF">
                  <a:alpha val="0"/>
                </a:srgbClr>
              </a:gs>
            </a:gsLst>
            <a:lin ang="5400000" scaled="1"/>
          </a:gradFill>
          <a:ln>
            <a:noFill/>
          </a:ln>
        </p:spPr>
        <p:txBody>
          <a:bodyPr/>
          <a:lstStyle/>
          <a:p>
            <a:endParaRPr lang="zh-CN" altLang="en-US"/>
          </a:p>
        </p:txBody>
      </p:sp>
      <p:sp>
        <p:nvSpPr>
          <p:cNvPr id="20" name="Rectangle 20"/>
          <p:cNvSpPr/>
          <p:nvPr/>
        </p:nvSpPr>
        <p:spPr>
          <a:xfrm>
            <a:off x="4238625" y="1238250"/>
            <a:ext cx="666750" cy="666750"/>
          </a:xfrm>
          <a:prstGeom prst="roundRect">
            <a:avLst>
              <a:gd name="adj" fmla="val 11429"/>
            </a:avLst>
          </a:prstGeom>
          <a:solidFill>
            <a:srgbClr val="0F1419"/>
          </a:solidFill>
          <a:ln w="19050">
            <a:solidFill>
              <a:srgbClr val="4ECDC4"/>
            </a:solidFill>
          </a:ln>
        </p:spPr>
        <p:txBody>
          <a:bodyPr/>
          <a:lstStyle/>
          <a:p>
            <a:endParaRPr lang="zh-CN" altLang="en-US"/>
          </a:p>
        </p:txBody>
      </p:sp>
      <p:sp>
        <p:nvSpPr>
          <p:cNvPr id="21" name="Freeform 21"/>
          <p:cNvSpPr/>
          <p:nvPr/>
        </p:nvSpPr>
        <p:spPr>
          <a:xfrm>
            <a:off x="4429125" y="1428750"/>
            <a:ext cx="285750" cy="142875"/>
          </a:xfrm>
          <a:custGeom>
            <a:avLst/>
            <a:gdLst/>
            <a:ahLst/>
            <a:cxnLst/>
            <a:rect l="l" t="t" r="r" b="b"/>
            <a:pathLst>
              <a:path w="285750" h="142875">
                <a:moveTo>
                  <a:pt x="0" y="142875"/>
                </a:moveTo>
                <a:lnTo>
                  <a:pt x="142875" y="0"/>
                </a:lnTo>
                <a:lnTo>
                  <a:pt x="285750" y="142875"/>
                </a:lnTo>
              </a:path>
            </a:pathLst>
          </a:custGeom>
          <a:noFill/>
          <a:ln w="19050">
            <a:solidFill>
              <a:srgbClr val="4ECDC4"/>
            </a:solidFill>
          </a:ln>
        </p:spPr>
        <p:txBody>
          <a:bodyPr/>
          <a:lstStyle/>
          <a:p>
            <a:endParaRPr lang="zh-CN" altLang="en-US"/>
          </a:p>
        </p:txBody>
      </p:sp>
      <p:sp>
        <p:nvSpPr>
          <p:cNvPr id="22" name="Freeform 22"/>
          <p:cNvSpPr/>
          <p:nvPr/>
        </p:nvSpPr>
        <p:spPr>
          <a:xfrm>
            <a:off x="4429125" y="1666875"/>
            <a:ext cx="285750" cy="142875"/>
          </a:xfrm>
          <a:custGeom>
            <a:avLst/>
            <a:gdLst/>
            <a:ahLst/>
            <a:cxnLst/>
            <a:rect l="l" t="t" r="r" b="b"/>
            <a:pathLst>
              <a:path w="285750" h="142875">
                <a:moveTo>
                  <a:pt x="0" y="0"/>
                </a:moveTo>
                <a:lnTo>
                  <a:pt x="142875" y="142875"/>
                </a:lnTo>
                <a:lnTo>
                  <a:pt x="285750" y="0"/>
                </a:lnTo>
              </a:path>
            </a:pathLst>
          </a:custGeom>
          <a:noFill/>
          <a:ln w="19050">
            <a:solidFill>
              <a:srgbClr val="4ECDC4"/>
            </a:solidFill>
          </a:ln>
        </p:spPr>
        <p:txBody>
          <a:bodyPr/>
          <a:lstStyle/>
          <a:p>
            <a:endParaRPr lang="zh-CN" altLang="en-US"/>
          </a:p>
        </p:txBody>
      </p:sp>
      <p:sp>
        <p:nvSpPr>
          <p:cNvPr id="23" name="Line 23"/>
          <p:cNvSpPr/>
          <p:nvPr/>
        </p:nvSpPr>
        <p:spPr>
          <a:xfrm>
            <a:off x="4572000" y="1428750"/>
            <a:ext cx="9525" cy="381000"/>
          </a:xfrm>
          <a:custGeom>
            <a:avLst/>
            <a:gdLst/>
            <a:ahLst/>
            <a:cxnLst/>
            <a:rect l="l" t="t" r="r" b="b"/>
            <a:pathLst>
              <a:path w="9525" h="381000">
                <a:moveTo>
                  <a:pt x="0" y="0"/>
                </a:moveTo>
                <a:lnTo>
                  <a:pt x="0" y="381000"/>
                </a:lnTo>
              </a:path>
            </a:pathLst>
          </a:custGeom>
          <a:noFill/>
          <a:ln w="19050">
            <a:solidFill>
              <a:srgbClr val="4ECDC4"/>
            </a:solidFill>
            <a:custDash>
              <a:ds d="150000" sp="150000"/>
            </a:custDash>
          </a:ln>
        </p:spPr>
        <p:txBody>
          <a:bodyPr/>
          <a:lstStyle/>
          <a:p>
            <a:endParaRPr lang="zh-CN" altLang="en-US"/>
          </a:p>
        </p:txBody>
      </p:sp>
      <p:sp>
        <p:nvSpPr>
          <p:cNvPr id="24" name="TextBox 24"/>
          <p:cNvSpPr txBox="1"/>
          <p:nvPr/>
        </p:nvSpPr>
        <p:spPr>
          <a:xfrm>
            <a:off x="4132898" y="2076450"/>
            <a:ext cx="878205" cy="304800"/>
          </a:xfrm>
          <a:prstGeom prst="rect">
            <a:avLst/>
          </a:prstGeom>
          <a:noFill/>
          <a:ln>
            <a:noFill/>
          </a:ln>
        </p:spPr>
        <p:txBody>
          <a:bodyPr wrap="none" lIns="0" tIns="0" rIns="0" bIns="0" anchor="t" anchorCtr="0">
            <a:spAutoFit/>
          </a:bodyPr>
          <a:lstStyle/>
          <a:p>
            <a:pPr algn="ctr"/>
            <a:r>
              <a:rPr lang="zh-CN" sz="1500" b="1" dirty="0">
                <a:solidFill>
                  <a:srgbClr val="4ECDC4"/>
                </a:solidFill>
                <a:latin typeface="Arial" panose="020B0604020202020204"/>
                <a:ea typeface="微软雅黑" panose="020B0503020204020204" charset="-122"/>
                <a:cs typeface="Arial" panose="020B0604020202020204"/>
              </a:rPr>
              <a:t>异步编程</a:t>
            </a:r>
          </a:p>
        </p:txBody>
      </p:sp>
      <p:sp>
        <p:nvSpPr>
          <p:cNvPr id="25" name="Line 25"/>
          <p:cNvSpPr/>
          <p:nvPr/>
        </p:nvSpPr>
        <p:spPr>
          <a:xfrm>
            <a:off x="3810000" y="2381250"/>
            <a:ext cx="1524000" cy="9525"/>
          </a:xfrm>
          <a:custGeom>
            <a:avLst/>
            <a:gdLst/>
            <a:ahLst/>
            <a:cxnLst/>
            <a:rect l="l" t="t" r="r" b="b"/>
            <a:pathLst>
              <a:path w="1524000" h="9525">
                <a:moveTo>
                  <a:pt x="0" y="0"/>
                </a:moveTo>
                <a:lnTo>
                  <a:pt x="1524000" y="0"/>
                </a:lnTo>
              </a:path>
            </a:pathLst>
          </a:custGeom>
          <a:noFill/>
          <a:ln w="9525">
            <a:solidFill>
              <a:srgbClr val="2D3748"/>
            </a:solidFill>
          </a:ln>
        </p:spPr>
        <p:txBody>
          <a:bodyPr/>
          <a:lstStyle/>
          <a:p>
            <a:endParaRPr lang="zh-CN" altLang="en-US"/>
          </a:p>
        </p:txBody>
      </p:sp>
      <p:sp>
        <p:nvSpPr>
          <p:cNvPr id="26" name="TextBox 26"/>
          <p:cNvSpPr txBox="1"/>
          <p:nvPr/>
        </p:nvSpPr>
        <p:spPr>
          <a:xfrm>
            <a:off x="3596640" y="2395537"/>
            <a:ext cx="1200150" cy="842010"/>
          </a:xfrm>
          <a:prstGeom prst="rect">
            <a:avLst/>
          </a:prstGeom>
          <a:noFill/>
          <a:ln>
            <a:noFill/>
          </a:ln>
        </p:spPr>
        <p:txBody>
          <a:bodyPr wrap="square" lIns="0" tIns="0" rIns="0" bIns="0" anchor="t" anchorCtr="0"/>
          <a:lstStyle/>
          <a:p>
            <a:pPr algn="l">
              <a:lnSpc>
                <a:spcPts val="1650"/>
              </a:lnSpc>
            </a:pPr>
            <a:r>
              <a:rPr lang="zh-CN" sz="1050" dirty="0">
                <a:solidFill>
                  <a:srgbClr val="E8EAED"/>
                </a:solidFill>
                <a:latin typeface="Arial" panose="020B0604020202020204"/>
                <a:ea typeface="微软雅黑" panose="020B0503020204020204" charset="-122"/>
                <a:cs typeface="Arial" panose="020B0604020202020204"/>
              </a:rPr>
              <a:t>Sanic 原生异步支持异步数据库操作SSE 实时推送高并发处理能力</a:t>
            </a:r>
          </a:p>
        </p:txBody>
      </p:sp>
      <p:sp>
        <p:nvSpPr>
          <p:cNvPr id="27" name="Rectangle 27"/>
          <p:cNvSpPr/>
          <p:nvPr/>
        </p:nvSpPr>
        <p:spPr>
          <a:xfrm>
            <a:off x="3524250" y="3333750"/>
            <a:ext cx="2190750" cy="285750"/>
          </a:xfrm>
          <a:prstGeom prst="roundRect">
            <a:avLst>
              <a:gd name="adj" fmla="val 13333"/>
            </a:avLst>
          </a:prstGeom>
          <a:solidFill>
            <a:srgbClr val="0F1419"/>
          </a:solidFill>
          <a:ln>
            <a:noFill/>
          </a:ln>
        </p:spPr>
        <p:txBody>
          <a:bodyPr/>
          <a:lstStyle/>
          <a:p>
            <a:endParaRPr lang="zh-CN" altLang="en-US"/>
          </a:p>
        </p:txBody>
      </p:sp>
      <p:sp>
        <p:nvSpPr>
          <p:cNvPr id="28" name="TextBox 28"/>
          <p:cNvSpPr txBox="1"/>
          <p:nvPr/>
        </p:nvSpPr>
        <p:spPr>
          <a:xfrm>
            <a:off x="3656648" y="3435191"/>
            <a:ext cx="1572149" cy="167640"/>
          </a:xfrm>
          <a:prstGeom prst="rect">
            <a:avLst/>
          </a:prstGeom>
          <a:noFill/>
          <a:ln>
            <a:noFill/>
          </a:ln>
        </p:spPr>
        <p:txBody>
          <a:bodyPr wrap="none" lIns="0" tIns="0" rIns="0" bIns="0" anchor="t" anchorCtr="0">
            <a:spAutoFit/>
          </a:bodyPr>
          <a:lstStyle/>
          <a:p>
            <a:pPr algn="l"/>
            <a:r>
              <a:rPr lang="zh-CN" sz="825" dirty="0">
                <a:solidFill>
                  <a:srgbClr val="4ECDC4"/>
                </a:solidFill>
                <a:latin typeface="Consolas" panose="020B0609020204030204"/>
                <a:ea typeface="微软雅黑" panose="020B0503020204020204" charset="-122"/>
                <a:cs typeface="Consolas" panose="020B0609020204030204"/>
              </a:rPr>
              <a:t>async def handler(request):</a:t>
            </a:r>
          </a:p>
        </p:txBody>
      </p:sp>
      <p:sp>
        <p:nvSpPr>
          <p:cNvPr id="29" name="Rectangle 29"/>
          <p:cNvSpPr/>
          <p:nvPr/>
        </p:nvSpPr>
        <p:spPr>
          <a:xfrm>
            <a:off x="6096000" y="1047750"/>
            <a:ext cx="2571750" cy="2667000"/>
          </a:xfrm>
          <a:prstGeom prst="roundRect">
            <a:avLst>
              <a:gd name="adj" fmla="val 4444"/>
            </a:avLst>
          </a:prstGeom>
          <a:solidFill>
            <a:srgbClr val="1A2332"/>
          </a:solidFill>
          <a:ln w="9525">
            <a:solidFill>
              <a:srgbClr val="2D3748"/>
            </a:solidFill>
          </a:ln>
        </p:spPr>
        <p:txBody>
          <a:bodyPr/>
          <a:lstStyle/>
          <a:p>
            <a:endParaRPr lang="zh-CN" altLang="en-US"/>
          </a:p>
        </p:txBody>
      </p:sp>
      <p:sp>
        <p:nvSpPr>
          <p:cNvPr id="30" name="Rectangle 30"/>
          <p:cNvSpPr/>
          <p:nvPr/>
        </p:nvSpPr>
        <p:spPr>
          <a:xfrm>
            <a:off x="6096000" y="1047750"/>
            <a:ext cx="2571750" cy="2667000"/>
          </a:xfrm>
          <a:prstGeom prst="roundRect">
            <a:avLst>
              <a:gd name="adj" fmla="val 4444"/>
            </a:avLst>
          </a:prstGeom>
          <a:gradFill>
            <a:gsLst>
              <a:gs pos="0">
                <a:srgbClr val="00D4FF">
                  <a:alpha val="10000"/>
                </a:srgbClr>
              </a:gs>
              <a:gs pos="100000">
                <a:srgbClr val="00D4FF">
                  <a:alpha val="0"/>
                </a:srgbClr>
              </a:gs>
            </a:gsLst>
            <a:lin ang="5400000" scaled="1"/>
          </a:gradFill>
          <a:ln>
            <a:noFill/>
          </a:ln>
        </p:spPr>
        <p:txBody>
          <a:bodyPr/>
          <a:lstStyle/>
          <a:p>
            <a:endParaRPr lang="zh-CN" altLang="en-US"/>
          </a:p>
        </p:txBody>
      </p:sp>
      <p:sp>
        <p:nvSpPr>
          <p:cNvPr id="31" name="Rectangle 31"/>
          <p:cNvSpPr/>
          <p:nvPr/>
        </p:nvSpPr>
        <p:spPr>
          <a:xfrm>
            <a:off x="7000875" y="1238250"/>
            <a:ext cx="666750" cy="666750"/>
          </a:xfrm>
          <a:prstGeom prst="roundRect">
            <a:avLst>
              <a:gd name="adj" fmla="val 11429"/>
            </a:avLst>
          </a:prstGeom>
          <a:solidFill>
            <a:srgbClr val="0F1419"/>
          </a:solidFill>
          <a:ln w="19050">
            <a:solidFill>
              <a:srgbClr val="FF6B35"/>
            </a:solidFill>
          </a:ln>
        </p:spPr>
        <p:txBody>
          <a:bodyPr/>
          <a:lstStyle/>
          <a:p>
            <a:endParaRPr lang="zh-CN" altLang="en-US"/>
          </a:p>
        </p:txBody>
      </p:sp>
      <p:sp>
        <p:nvSpPr>
          <p:cNvPr id="32" name="Ellipse 32"/>
          <p:cNvSpPr/>
          <p:nvPr/>
        </p:nvSpPr>
        <p:spPr>
          <a:xfrm>
            <a:off x="7162800" y="1400175"/>
            <a:ext cx="152400" cy="152400"/>
          </a:xfrm>
          <a:prstGeom prst="ellipse">
            <a:avLst/>
          </a:prstGeom>
          <a:noFill/>
          <a:ln w="14288">
            <a:solidFill>
              <a:srgbClr val="FF6B35"/>
            </a:solidFill>
          </a:ln>
        </p:spPr>
        <p:txBody>
          <a:bodyPr/>
          <a:lstStyle/>
          <a:p>
            <a:endParaRPr lang="zh-CN" altLang="en-US"/>
          </a:p>
        </p:txBody>
      </p:sp>
      <p:sp>
        <p:nvSpPr>
          <p:cNvPr id="33" name="Ellipse 33"/>
          <p:cNvSpPr/>
          <p:nvPr/>
        </p:nvSpPr>
        <p:spPr>
          <a:xfrm>
            <a:off x="7353300" y="1400175"/>
            <a:ext cx="152400" cy="152400"/>
          </a:xfrm>
          <a:prstGeom prst="ellipse">
            <a:avLst/>
          </a:prstGeom>
          <a:noFill/>
          <a:ln w="14288">
            <a:solidFill>
              <a:srgbClr val="FF6B35"/>
            </a:solidFill>
          </a:ln>
        </p:spPr>
        <p:txBody>
          <a:bodyPr/>
          <a:lstStyle/>
          <a:p>
            <a:endParaRPr lang="zh-CN" altLang="en-US"/>
          </a:p>
        </p:txBody>
      </p:sp>
      <p:sp>
        <p:nvSpPr>
          <p:cNvPr id="34" name="Ellipse 34"/>
          <p:cNvSpPr/>
          <p:nvPr/>
        </p:nvSpPr>
        <p:spPr>
          <a:xfrm>
            <a:off x="7258050" y="1590675"/>
            <a:ext cx="152400" cy="152400"/>
          </a:xfrm>
          <a:prstGeom prst="ellipse">
            <a:avLst/>
          </a:prstGeom>
          <a:noFill/>
          <a:ln w="14288">
            <a:solidFill>
              <a:srgbClr val="FF6B35"/>
            </a:solidFill>
          </a:ln>
        </p:spPr>
        <p:txBody>
          <a:bodyPr/>
          <a:lstStyle/>
          <a:p>
            <a:endParaRPr lang="zh-CN" altLang="en-US"/>
          </a:p>
        </p:txBody>
      </p:sp>
      <p:sp>
        <p:nvSpPr>
          <p:cNvPr id="35" name="Line 35"/>
          <p:cNvSpPr/>
          <p:nvPr/>
        </p:nvSpPr>
        <p:spPr>
          <a:xfrm>
            <a:off x="7286625" y="1524000"/>
            <a:ext cx="95250" cy="95250"/>
          </a:xfrm>
          <a:custGeom>
            <a:avLst/>
            <a:gdLst/>
            <a:ahLst/>
            <a:cxnLst/>
            <a:rect l="l" t="t" r="r" b="b"/>
            <a:pathLst>
              <a:path w="95250" h="95250">
                <a:moveTo>
                  <a:pt x="0" y="0"/>
                </a:moveTo>
                <a:lnTo>
                  <a:pt x="95250" y="95250"/>
                </a:lnTo>
              </a:path>
            </a:pathLst>
          </a:custGeom>
          <a:noFill/>
          <a:ln w="9525">
            <a:solidFill>
              <a:srgbClr val="FF6B35"/>
            </a:solidFill>
          </a:ln>
        </p:spPr>
        <p:txBody>
          <a:bodyPr/>
          <a:lstStyle/>
          <a:p>
            <a:endParaRPr lang="zh-CN" altLang="en-US"/>
          </a:p>
        </p:txBody>
      </p:sp>
      <p:sp>
        <p:nvSpPr>
          <p:cNvPr id="36" name="Line 36"/>
          <p:cNvSpPr/>
          <p:nvPr/>
        </p:nvSpPr>
        <p:spPr>
          <a:xfrm>
            <a:off x="7286625" y="1524000"/>
            <a:ext cx="95250" cy="95250"/>
          </a:xfrm>
          <a:custGeom>
            <a:avLst/>
            <a:gdLst/>
            <a:ahLst/>
            <a:cxnLst/>
            <a:rect l="l" t="t" r="r" b="b"/>
            <a:pathLst>
              <a:path w="95250" h="95250">
                <a:moveTo>
                  <a:pt x="95250" y="0"/>
                </a:moveTo>
                <a:lnTo>
                  <a:pt x="0" y="95250"/>
                </a:lnTo>
              </a:path>
            </a:pathLst>
          </a:custGeom>
          <a:noFill/>
          <a:ln w="9525">
            <a:solidFill>
              <a:srgbClr val="FF6B35"/>
            </a:solidFill>
          </a:ln>
        </p:spPr>
        <p:txBody>
          <a:bodyPr/>
          <a:lstStyle/>
          <a:p>
            <a:endParaRPr lang="zh-CN" altLang="en-US"/>
          </a:p>
        </p:txBody>
      </p:sp>
      <p:sp>
        <p:nvSpPr>
          <p:cNvPr id="37" name="TextBox 37"/>
          <p:cNvSpPr txBox="1"/>
          <p:nvPr/>
        </p:nvSpPr>
        <p:spPr>
          <a:xfrm>
            <a:off x="6895148" y="2076450"/>
            <a:ext cx="878205" cy="304800"/>
          </a:xfrm>
          <a:prstGeom prst="rect">
            <a:avLst/>
          </a:prstGeom>
          <a:noFill/>
          <a:ln>
            <a:noFill/>
          </a:ln>
        </p:spPr>
        <p:txBody>
          <a:bodyPr wrap="none" lIns="0" tIns="0" rIns="0" bIns="0" anchor="t" anchorCtr="0">
            <a:spAutoFit/>
          </a:bodyPr>
          <a:lstStyle/>
          <a:p>
            <a:pPr algn="ctr"/>
            <a:r>
              <a:rPr lang="zh-CN" sz="1500" b="1" dirty="0">
                <a:solidFill>
                  <a:srgbClr val="FF6B35"/>
                </a:solidFill>
                <a:latin typeface="Arial" panose="020B0604020202020204"/>
                <a:ea typeface="微软雅黑" panose="020B0503020204020204" charset="-122"/>
                <a:cs typeface="Arial" panose="020B0604020202020204"/>
              </a:rPr>
              <a:t>并发爬取</a:t>
            </a:r>
          </a:p>
        </p:txBody>
      </p:sp>
      <p:sp>
        <p:nvSpPr>
          <p:cNvPr id="38" name="Line 38"/>
          <p:cNvSpPr/>
          <p:nvPr/>
        </p:nvSpPr>
        <p:spPr>
          <a:xfrm>
            <a:off x="6572250" y="2381250"/>
            <a:ext cx="1524000" cy="9525"/>
          </a:xfrm>
          <a:custGeom>
            <a:avLst/>
            <a:gdLst/>
            <a:ahLst/>
            <a:cxnLst/>
            <a:rect l="l" t="t" r="r" b="b"/>
            <a:pathLst>
              <a:path w="1524000" h="9525">
                <a:moveTo>
                  <a:pt x="0" y="0"/>
                </a:moveTo>
                <a:lnTo>
                  <a:pt x="1524000" y="0"/>
                </a:lnTo>
              </a:path>
            </a:pathLst>
          </a:custGeom>
          <a:noFill/>
          <a:ln w="9525">
            <a:solidFill>
              <a:srgbClr val="2D3748"/>
            </a:solidFill>
          </a:ln>
        </p:spPr>
        <p:txBody>
          <a:bodyPr/>
          <a:lstStyle/>
          <a:p>
            <a:endParaRPr lang="zh-CN" altLang="en-US"/>
          </a:p>
        </p:txBody>
      </p:sp>
      <p:sp>
        <p:nvSpPr>
          <p:cNvPr id="39" name="TextBox 39"/>
          <p:cNvSpPr txBox="1"/>
          <p:nvPr/>
        </p:nvSpPr>
        <p:spPr>
          <a:xfrm>
            <a:off x="6368415" y="2351723"/>
            <a:ext cx="1313498" cy="842010"/>
          </a:xfrm>
          <a:prstGeom prst="rect">
            <a:avLst/>
          </a:prstGeom>
          <a:noFill/>
          <a:ln>
            <a:noFill/>
          </a:ln>
        </p:spPr>
        <p:txBody>
          <a:bodyPr wrap="square" lIns="0" tIns="0" rIns="0" bIns="0" anchor="t" anchorCtr="0"/>
          <a:lstStyle/>
          <a:p>
            <a:pPr algn="l">
              <a:lnSpc>
                <a:spcPts val="1650"/>
              </a:lnSpc>
            </a:pPr>
            <a:r>
              <a:rPr lang="zh-CN" sz="1050" dirty="0">
                <a:solidFill>
                  <a:srgbClr val="E8EAED"/>
                </a:solidFill>
                <a:latin typeface="Arial" panose="020B0604020202020204"/>
                <a:ea typeface="微软雅黑" panose="020B0503020204020204" charset="-122"/>
                <a:cs typeface="Arial" panose="020B0604020202020204"/>
              </a:rPr>
              <a:t>ThreadPoolExecutor多线程并发抓取线程安全数据库操作合理并发控制</a:t>
            </a:r>
          </a:p>
        </p:txBody>
      </p:sp>
      <p:sp>
        <p:nvSpPr>
          <p:cNvPr id="40" name="Rectangle 40"/>
          <p:cNvSpPr/>
          <p:nvPr/>
        </p:nvSpPr>
        <p:spPr>
          <a:xfrm>
            <a:off x="6286500" y="3333750"/>
            <a:ext cx="2190750" cy="285750"/>
          </a:xfrm>
          <a:prstGeom prst="roundRect">
            <a:avLst>
              <a:gd name="adj" fmla="val 13333"/>
            </a:avLst>
          </a:prstGeom>
          <a:solidFill>
            <a:srgbClr val="0F1419"/>
          </a:solidFill>
          <a:ln>
            <a:noFill/>
          </a:ln>
        </p:spPr>
        <p:txBody>
          <a:bodyPr/>
          <a:lstStyle/>
          <a:p>
            <a:endParaRPr lang="zh-CN" altLang="en-US"/>
          </a:p>
        </p:txBody>
      </p:sp>
      <p:sp>
        <p:nvSpPr>
          <p:cNvPr id="41" name="TextBox 41"/>
          <p:cNvSpPr txBox="1"/>
          <p:nvPr/>
        </p:nvSpPr>
        <p:spPr>
          <a:xfrm>
            <a:off x="6418898" y="3435191"/>
            <a:ext cx="939570" cy="167640"/>
          </a:xfrm>
          <a:prstGeom prst="rect">
            <a:avLst/>
          </a:prstGeom>
          <a:noFill/>
          <a:ln>
            <a:noFill/>
          </a:ln>
        </p:spPr>
        <p:txBody>
          <a:bodyPr wrap="none" lIns="0" tIns="0" rIns="0" bIns="0" anchor="t" anchorCtr="0">
            <a:spAutoFit/>
          </a:bodyPr>
          <a:lstStyle/>
          <a:p>
            <a:pPr algn="l"/>
            <a:r>
              <a:rPr lang="zh-CN" sz="825" dirty="0">
                <a:solidFill>
                  <a:srgbClr val="FF6B35"/>
                </a:solidFill>
                <a:latin typeface="Consolas" panose="020B0609020204030204"/>
                <a:ea typeface="微软雅黑" panose="020B0503020204020204" charset="-122"/>
                <a:cs typeface="Consolas" panose="020B0609020204030204"/>
              </a:rPr>
              <a:t>MAX_WORKERS = 4</a:t>
            </a:r>
          </a:p>
        </p:txBody>
      </p:sp>
      <p:sp>
        <p:nvSpPr>
          <p:cNvPr id="42" name="Rectangle 42"/>
          <p:cNvSpPr/>
          <p:nvPr/>
        </p:nvSpPr>
        <p:spPr>
          <a:xfrm>
            <a:off x="8858250" y="1047750"/>
            <a:ext cx="2571750" cy="2667000"/>
          </a:xfrm>
          <a:prstGeom prst="roundRect">
            <a:avLst>
              <a:gd name="adj" fmla="val 4444"/>
            </a:avLst>
          </a:prstGeom>
          <a:solidFill>
            <a:srgbClr val="1A2332"/>
          </a:solidFill>
          <a:ln w="9525">
            <a:solidFill>
              <a:srgbClr val="2D3748"/>
            </a:solidFill>
          </a:ln>
        </p:spPr>
        <p:txBody>
          <a:bodyPr/>
          <a:lstStyle/>
          <a:p>
            <a:endParaRPr lang="zh-CN" altLang="en-US"/>
          </a:p>
        </p:txBody>
      </p:sp>
      <p:sp>
        <p:nvSpPr>
          <p:cNvPr id="43" name="Rectangle 43"/>
          <p:cNvSpPr/>
          <p:nvPr/>
        </p:nvSpPr>
        <p:spPr>
          <a:xfrm>
            <a:off x="8858250" y="1047750"/>
            <a:ext cx="2571750" cy="2667000"/>
          </a:xfrm>
          <a:prstGeom prst="roundRect">
            <a:avLst>
              <a:gd name="adj" fmla="val 4444"/>
            </a:avLst>
          </a:prstGeom>
          <a:gradFill>
            <a:gsLst>
              <a:gs pos="0">
                <a:srgbClr val="00D4FF">
                  <a:alpha val="10000"/>
                </a:srgbClr>
              </a:gs>
              <a:gs pos="100000">
                <a:srgbClr val="00D4FF">
                  <a:alpha val="0"/>
                </a:srgbClr>
              </a:gs>
            </a:gsLst>
            <a:lin ang="5400000" scaled="1"/>
          </a:gradFill>
          <a:ln>
            <a:noFill/>
          </a:ln>
        </p:spPr>
        <p:txBody>
          <a:bodyPr/>
          <a:lstStyle/>
          <a:p>
            <a:endParaRPr lang="zh-CN" altLang="en-US"/>
          </a:p>
        </p:txBody>
      </p:sp>
      <p:sp>
        <p:nvSpPr>
          <p:cNvPr id="44" name="Rectangle 44"/>
          <p:cNvSpPr/>
          <p:nvPr/>
        </p:nvSpPr>
        <p:spPr>
          <a:xfrm>
            <a:off x="9763125" y="1238250"/>
            <a:ext cx="666750" cy="666750"/>
          </a:xfrm>
          <a:prstGeom prst="roundRect">
            <a:avLst>
              <a:gd name="adj" fmla="val 11429"/>
            </a:avLst>
          </a:prstGeom>
          <a:solidFill>
            <a:srgbClr val="0F1419"/>
          </a:solidFill>
          <a:ln w="19050">
            <a:solidFill>
              <a:srgbClr val="10B981"/>
            </a:solidFill>
          </a:ln>
        </p:spPr>
        <p:txBody>
          <a:bodyPr/>
          <a:lstStyle/>
          <a:p>
            <a:endParaRPr lang="zh-CN" altLang="en-US"/>
          </a:p>
        </p:txBody>
      </p:sp>
      <p:sp>
        <p:nvSpPr>
          <p:cNvPr id="45" name="Freeform 45"/>
          <p:cNvSpPr/>
          <p:nvPr/>
        </p:nvSpPr>
        <p:spPr>
          <a:xfrm>
            <a:off x="10096500" y="1381125"/>
            <a:ext cx="9525" cy="333375"/>
          </a:xfrm>
          <a:custGeom>
            <a:avLst/>
            <a:gdLst/>
            <a:ahLst/>
            <a:cxnLst/>
            <a:rect l="l" t="t" r="r" b="b"/>
            <a:pathLst>
              <a:path w="9525" h="333375">
                <a:moveTo>
                  <a:pt x="0" y="0"/>
                </a:moveTo>
                <a:lnTo>
                  <a:pt x="0" y="333375"/>
                </a:lnTo>
              </a:path>
            </a:pathLst>
          </a:custGeom>
          <a:solidFill>
            <a:srgbClr val="000000"/>
          </a:solidFill>
          <a:ln w="19050">
            <a:solidFill>
              <a:srgbClr val="10B981"/>
            </a:solidFill>
          </a:ln>
        </p:spPr>
        <p:txBody>
          <a:bodyPr/>
          <a:lstStyle/>
          <a:p>
            <a:endParaRPr lang="zh-CN" altLang="en-US"/>
          </a:p>
        </p:txBody>
      </p:sp>
      <p:sp>
        <p:nvSpPr>
          <p:cNvPr id="46" name="Freeform 46"/>
          <p:cNvSpPr/>
          <p:nvPr/>
        </p:nvSpPr>
        <p:spPr>
          <a:xfrm>
            <a:off x="9953625" y="1381125"/>
            <a:ext cx="285750" cy="95250"/>
          </a:xfrm>
          <a:custGeom>
            <a:avLst/>
            <a:gdLst/>
            <a:ahLst/>
            <a:cxnLst/>
            <a:rect l="l" t="t" r="r" b="b"/>
            <a:pathLst>
              <a:path w="285750" h="95250">
                <a:moveTo>
                  <a:pt x="0" y="95250"/>
                </a:moveTo>
                <a:lnTo>
                  <a:pt x="142875" y="0"/>
                </a:lnTo>
                <a:lnTo>
                  <a:pt x="285750" y="95250"/>
                </a:lnTo>
              </a:path>
            </a:pathLst>
          </a:custGeom>
          <a:noFill/>
          <a:ln w="19050">
            <a:solidFill>
              <a:srgbClr val="10B981"/>
            </a:solidFill>
          </a:ln>
        </p:spPr>
        <p:txBody>
          <a:bodyPr/>
          <a:lstStyle/>
          <a:p>
            <a:endParaRPr lang="zh-CN" altLang="en-US"/>
          </a:p>
        </p:txBody>
      </p:sp>
      <p:sp>
        <p:nvSpPr>
          <p:cNvPr id="47" name="Rectangle 47"/>
          <p:cNvSpPr/>
          <p:nvPr/>
        </p:nvSpPr>
        <p:spPr>
          <a:xfrm>
            <a:off x="10001250" y="1714500"/>
            <a:ext cx="190500" cy="142875"/>
          </a:xfrm>
          <a:prstGeom prst="roundRect">
            <a:avLst>
              <a:gd name="adj" fmla="val 13333"/>
            </a:avLst>
          </a:prstGeom>
          <a:noFill/>
          <a:ln w="19050">
            <a:solidFill>
              <a:srgbClr val="10B981"/>
            </a:solidFill>
          </a:ln>
        </p:spPr>
        <p:txBody>
          <a:bodyPr/>
          <a:lstStyle/>
          <a:p>
            <a:endParaRPr lang="zh-CN" altLang="en-US"/>
          </a:p>
        </p:txBody>
      </p:sp>
      <p:sp>
        <p:nvSpPr>
          <p:cNvPr id="48" name="Ellipse 48"/>
          <p:cNvSpPr/>
          <p:nvPr/>
        </p:nvSpPr>
        <p:spPr>
          <a:xfrm>
            <a:off x="10067925" y="1752600"/>
            <a:ext cx="57150" cy="57150"/>
          </a:xfrm>
          <a:prstGeom prst="ellipse">
            <a:avLst/>
          </a:prstGeom>
          <a:solidFill>
            <a:srgbClr val="10B981"/>
          </a:solidFill>
          <a:ln>
            <a:noFill/>
          </a:ln>
        </p:spPr>
        <p:txBody>
          <a:bodyPr/>
          <a:lstStyle/>
          <a:p>
            <a:endParaRPr lang="zh-CN" altLang="en-US"/>
          </a:p>
        </p:txBody>
      </p:sp>
      <p:sp>
        <p:nvSpPr>
          <p:cNvPr id="49" name="TextBox 49"/>
          <p:cNvSpPr txBox="1"/>
          <p:nvPr/>
        </p:nvSpPr>
        <p:spPr>
          <a:xfrm>
            <a:off x="9657398" y="2076450"/>
            <a:ext cx="878205" cy="304800"/>
          </a:xfrm>
          <a:prstGeom prst="rect">
            <a:avLst/>
          </a:prstGeom>
          <a:noFill/>
          <a:ln>
            <a:noFill/>
          </a:ln>
        </p:spPr>
        <p:txBody>
          <a:bodyPr wrap="none" lIns="0" tIns="0" rIns="0" bIns="0" anchor="t" anchorCtr="0">
            <a:spAutoFit/>
          </a:bodyPr>
          <a:lstStyle/>
          <a:p>
            <a:pPr algn="ctr"/>
            <a:r>
              <a:rPr lang="zh-CN" sz="1500" b="1" dirty="0">
                <a:solidFill>
                  <a:srgbClr val="10B981"/>
                </a:solidFill>
                <a:latin typeface="Arial" panose="020B0604020202020204"/>
                <a:ea typeface="微软雅黑" panose="020B0503020204020204" charset="-122"/>
                <a:cs typeface="Arial" panose="020B0604020202020204"/>
              </a:rPr>
              <a:t>安全设计</a:t>
            </a:r>
          </a:p>
        </p:txBody>
      </p:sp>
      <p:sp>
        <p:nvSpPr>
          <p:cNvPr id="50" name="Line 50"/>
          <p:cNvSpPr/>
          <p:nvPr/>
        </p:nvSpPr>
        <p:spPr>
          <a:xfrm>
            <a:off x="9334500" y="2381250"/>
            <a:ext cx="1524000" cy="9525"/>
          </a:xfrm>
          <a:custGeom>
            <a:avLst/>
            <a:gdLst/>
            <a:ahLst/>
            <a:cxnLst/>
            <a:rect l="l" t="t" r="r" b="b"/>
            <a:pathLst>
              <a:path w="1524000" h="9525">
                <a:moveTo>
                  <a:pt x="0" y="0"/>
                </a:moveTo>
                <a:lnTo>
                  <a:pt x="1524000" y="0"/>
                </a:lnTo>
              </a:path>
            </a:pathLst>
          </a:custGeom>
          <a:noFill/>
          <a:ln w="9525">
            <a:solidFill>
              <a:srgbClr val="2D3748"/>
            </a:solidFill>
          </a:ln>
        </p:spPr>
        <p:txBody>
          <a:bodyPr/>
          <a:lstStyle/>
          <a:p>
            <a:endParaRPr lang="zh-CN" altLang="en-US"/>
          </a:p>
        </p:txBody>
      </p:sp>
      <p:sp>
        <p:nvSpPr>
          <p:cNvPr id="51" name="TextBox 51"/>
          <p:cNvSpPr txBox="1"/>
          <p:nvPr/>
        </p:nvSpPr>
        <p:spPr>
          <a:xfrm>
            <a:off x="9171623" y="2388552"/>
            <a:ext cx="953452" cy="842010"/>
          </a:xfrm>
          <a:prstGeom prst="rect">
            <a:avLst/>
          </a:prstGeom>
          <a:noFill/>
          <a:ln>
            <a:noFill/>
          </a:ln>
        </p:spPr>
        <p:txBody>
          <a:bodyPr wrap="square" lIns="0" tIns="0" rIns="0" bIns="0" anchor="t" anchorCtr="0"/>
          <a:lstStyle/>
          <a:p>
            <a:pPr algn="l">
              <a:lnSpc>
                <a:spcPts val="1650"/>
              </a:lnSpc>
            </a:pPr>
            <a:r>
              <a:rPr lang="zh-CN" sz="1050" dirty="0">
                <a:solidFill>
                  <a:srgbClr val="E8EAED"/>
                </a:solidFill>
                <a:latin typeface="Arial" panose="020B0604020202020204"/>
                <a:ea typeface="微软雅黑" panose="020B0503020204020204" charset="-122"/>
                <a:cs typeface="Arial" panose="020B0604020202020204"/>
              </a:rPr>
              <a:t>URL 白名单验证防止 SSRF 攻击API Key 鉴权内网地址限制</a:t>
            </a:r>
          </a:p>
        </p:txBody>
      </p:sp>
      <p:sp>
        <p:nvSpPr>
          <p:cNvPr id="52" name="Rectangle 52"/>
          <p:cNvSpPr/>
          <p:nvPr/>
        </p:nvSpPr>
        <p:spPr>
          <a:xfrm>
            <a:off x="9048750" y="3333750"/>
            <a:ext cx="2190750" cy="285750"/>
          </a:xfrm>
          <a:prstGeom prst="roundRect">
            <a:avLst>
              <a:gd name="adj" fmla="val 13333"/>
            </a:avLst>
          </a:prstGeom>
          <a:solidFill>
            <a:srgbClr val="0F1419"/>
          </a:solidFill>
          <a:ln>
            <a:noFill/>
          </a:ln>
        </p:spPr>
        <p:txBody>
          <a:bodyPr/>
          <a:lstStyle/>
          <a:p>
            <a:endParaRPr lang="zh-CN" altLang="en-US"/>
          </a:p>
        </p:txBody>
      </p:sp>
      <p:sp>
        <p:nvSpPr>
          <p:cNvPr id="53" name="TextBox 53"/>
          <p:cNvSpPr txBox="1"/>
          <p:nvPr/>
        </p:nvSpPr>
        <p:spPr>
          <a:xfrm>
            <a:off x="9181148" y="3435191"/>
            <a:ext cx="1363123" cy="167640"/>
          </a:xfrm>
          <a:prstGeom prst="rect">
            <a:avLst/>
          </a:prstGeom>
          <a:noFill/>
          <a:ln>
            <a:noFill/>
          </a:ln>
        </p:spPr>
        <p:txBody>
          <a:bodyPr wrap="none" lIns="0" tIns="0" rIns="0" bIns="0" anchor="t" anchorCtr="0">
            <a:spAutoFit/>
          </a:bodyPr>
          <a:lstStyle/>
          <a:p>
            <a:pPr algn="l"/>
            <a:r>
              <a:rPr lang="zh-CN" sz="825" dirty="0">
                <a:solidFill>
                  <a:srgbClr val="10B981"/>
                </a:solidFill>
                <a:latin typeface="Consolas" panose="020B0609020204030204"/>
                <a:ea typeface="微软雅黑" panose="020B0503020204020204" charset="-122"/>
                <a:cs typeface="Consolas" panose="020B0609020204030204"/>
              </a:rPr>
              <a:t>validate_target_url(url)</a:t>
            </a:r>
          </a:p>
        </p:txBody>
      </p:sp>
      <p:sp>
        <p:nvSpPr>
          <p:cNvPr id="54" name="Rectangle 54"/>
          <p:cNvSpPr/>
          <p:nvPr/>
        </p:nvSpPr>
        <p:spPr>
          <a:xfrm>
            <a:off x="571500" y="4000500"/>
            <a:ext cx="10858500" cy="2381250"/>
          </a:xfrm>
          <a:prstGeom prst="roundRect">
            <a:avLst>
              <a:gd name="adj" fmla="val 4800"/>
            </a:avLst>
          </a:prstGeom>
          <a:solidFill>
            <a:srgbClr val="1A2332"/>
          </a:solidFill>
          <a:ln w="9525">
            <a:solidFill>
              <a:srgbClr val="2D3748"/>
            </a:solidFill>
          </a:ln>
        </p:spPr>
        <p:txBody>
          <a:bodyPr/>
          <a:lstStyle/>
          <a:p>
            <a:endParaRPr lang="zh-CN" altLang="en-US"/>
          </a:p>
        </p:txBody>
      </p:sp>
      <p:sp>
        <p:nvSpPr>
          <p:cNvPr id="55" name="TextBox 55"/>
          <p:cNvSpPr txBox="1"/>
          <p:nvPr/>
        </p:nvSpPr>
        <p:spPr>
          <a:xfrm>
            <a:off x="741045" y="4203382"/>
            <a:ext cx="966026" cy="335280"/>
          </a:xfrm>
          <a:prstGeom prst="rect">
            <a:avLst/>
          </a:prstGeom>
          <a:noFill/>
          <a:ln>
            <a:noFill/>
          </a:ln>
        </p:spPr>
        <p:txBody>
          <a:bodyPr wrap="none" lIns="0" tIns="0" rIns="0" bIns="0" anchor="t" anchorCtr="0">
            <a:spAutoFit/>
          </a:bodyPr>
          <a:lstStyle/>
          <a:p>
            <a:pPr algn="l"/>
            <a:r>
              <a:rPr lang="zh-CN" sz="1650" b="1" dirty="0">
                <a:solidFill>
                  <a:srgbClr val="E8EAED"/>
                </a:solidFill>
                <a:latin typeface="Arial" panose="020B0604020202020204"/>
                <a:ea typeface="微软雅黑" panose="020B0503020204020204" charset="-122"/>
                <a:cs typeface="Arial" panose="020B0604020202020204"/>
              </a:rPr>
              <a:t>设计原则</a:t>
            </a:r>
          </a:p>
        </p:txBody>
      </p:sp>
      <p:sp>
        <p:nvSpPr>
          <p:cNvPr id="56" name="Rectangle 56"/>
          <p:cNvSpPr/>
          <p:nvPr/>
        </p:nvSpPr>
        <p:spPr>
          <a:xfrm>
            <a:off x="762000" y="4572000"/>
            <a:ext cx="4762500" cy="1524000"/>
          </a:xfrm>
          <a:prstGeom prst="roundRect">
            <a:avLst>
              <a:gd name="adj" fmla="val 5000"/>
            </a:avLst>
          </a:prstGeom>
          <a:solidFill>
            <a:srgbClr val="0F1419"/>
          </a:solidFill>
          <a:ln w="9525">
            <a:solidFill>
              <a:srgbClr val="2D3748"/>
            </a:solidFill>
          </a:ln>
        </p:spPr>
        <p:txBody>
          <a:bodyPr/>
          <a:lstStyle/>
          <a:p>
            <a:endParaRPr lang="zh-CN" altLang="en-US"/>
          </a:p>
        </p:txBody>
      </p:sp>
      <p:sp>
        <p:nvSpPr>
          <p:cNvPr id="57" name="TextBox 57"/>
          <p:cNvSpPr txBox="1"/>
          <p:nvPr/>
        </p:nvSpPr>
        <p:spPr>
          <a:xfrm>
            <a:off x="939165" y="4657406"/>
            <a:ext cx="966597" cy="243840"/>
          </a:xfrm>
          <a:prstGeom prst="rect">
            <a:avLst/>
          </a:prstGeom>
          <a:noFill/>
          <a:ln>
            <a:noFill/>
          </a:ln>
        </p:spPr>
        <p:txBody>
          <a:bodyPr wrap="none" lIns="0" tIns="0" rIns="0" bIns="0" anchor="t" anchorCtr="0">
            <a:spAutoFit/>
          </a:bodyPr>
          <a:lstStyle/>
          <a:p>
            <a:pPr algn="l"/>
            <a:r>
              <a:rPr lang="zh-CN" sz="1200" dirty="0">
                <a:solidFill>
                  <a:srgbClr val="00D4FF"/>
                </a:solidFill>
                <a:latin typeface="Arial" panose="020B0604020202020204"/>
                <a:ea typeface="微软雅黑" panose="020B0503020204020204" charset="-122"/>
                <a:cs typeface="Arial" panose="020B0604020202020204"/>
              </a:rPr>
              <a:t>✓ 模块化设计</a:t>
            </a:r>
          </a:p>
        </p:txBody>
      </p:sp>
      <p:sp>
        <p:nvSpPr>
          <p:cNvPr id="58" name="TextBox 58"/>
          <p:cNvSpPr txBox="1"/>
          <p:nvPr/>
        </p:nvSpPr>
        <p:spPr>
          <a:xfrm>
            <a:off x="939165" y="4906328"/>
            <a:ext cx="2126932"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职责分离，每个模块负责单一功能</a:t>
            </a:r>
          </a:p>
        </p:txBody>
      </p:sp>
      <p:sp>
        <p:nvSpPr>
          <p:cNvPr id="59" name="TextBox 59"/>
          <p:cNvSpPr txBox="1"/>
          <p:nvPr/>
        </p:nvSpPr>
        <p:spPr>
          <a:xfrm>
            <a:off x="939165" y="5169536"/>
            <a:ext cx="966597" cy="243840"/>
          </a:xfrm>
          <a:prstGeom prst="rect">
            <a:avLst/>
          </a:prstGeom>
          <a:noFill/>
          <a:ln>
            <a:noFill/>
          </a:ln>
        </p:spPr>
        <p:txBody>
          <a:bodyPr wrap="none" lIns="0" tIns="0" rIns="0" bIns="0" anchor="t" anchorCtr="0">
            <a:spAutoFit/>
          </a:bodyPr>
          <a:lstStyle/>
          <a:p>
            <a:pPr algn="l"/>
            <a:r>
              <a:rPr lang="zh-CN" sz="1200" dirty="0">
                <a:solidFill>
                  <a:srgbClr val="4ECDC4"/>
                </a:solidFill>
                <a:latin typeface="Arial" panose="020B0604020202020204"/>
                <a:ea typeface="微软雅黑" panose="020B0503020204020204" charset="-122"/>
                <a:cs typeface="Arial" panose="020B0604020202020204"/>
              </a:rPr>
              <a:t>✓ 松耦合架构</a:t>
            </a:r>
          </a:p>
        </p:txBody>
      </p:sp>
      <p:sp>
        <p:nvSpPr>
          <p:cNvPr id="60" name="TextBox 60"/>
          <p:cNvSpPr txBox="1"/>
          <p:nvPr/>
        </p:nvSpPr>
        <p:spPr>
          <a:xfrm>
            <a:off x="939165" y="5439728"/>
            <a:ext cx="1986915"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模块间通过接口交互，易于扩展</a:t>
            </a:r>
          </a:p>
        </p:txBody>
      </p:sp>
      <p:sp>
        <p:nvSpPr>
          <p:cNvPr id="61" name="TextBox 61"/>
          <p:cNvSpPr txBox="1"/>
          <p:nvPr/>
        </p:nvSpPr>
        <p:spPr>
          <a:xfrm>
            <a:off x="929056" y="5661660"/>
            <a:ext cx="806577" cy="243840"/>
          </a:xfrm>
          <a:prstGeom prst="rect">
            <a:avLst/>
          </a:prstGeom>
          <a:noFill/>
          <a:ln>
            <a:noFill/>
          </a:ln>
        </p:spPr>
        <p:txBody>
          <a:bodyPr wrap="none" lIns="0" tIns="0" rIns="0" bIns="0" anchor="t" anchorCtr="0">
            <a:spAutoFit/>
          </a:bodyPr>
          <a:lstStyle/>
          <a:p>
            <a:pPr algn="l"/>
            <a:r>
              <a:rPr lang="zh-CN" sz="1200" dirty="0">
                <a:solidFill>
                  <a:srgbClr val="FF6B35"/>
                </a:solidFill>
                <a:latin typeface="Arial" panose="020B0604020202020204"/>
                <a:ea typeface="微软雅黑" panose="020B0503020204020204" charset="-122"/>
                <a:cs typeface="Arial" panose="020B0604020202020204"/>
              </a:rPr>
              <a:t>✓ 易于测试</a:t>
            </a:r>
          </a:p>
        </p:txBody>
      </p:sp>
      <p:sp>
        <p:nvSpPr>
          <p:cNvPr id="62" name="TextBox 62"/>
          <p:cNvSpPr txBox="1"/>
          <p:nvPr/>
        </p:nvSpPr>
        <p:spPr>
          <a:xfrm>
            <a:off x="939165" y="5870258"/>
            <a:ext cx="2322957" cy="213360"/>
          </a:xfrm>
          <a:prstGeom prst="rect">
            <a:avLst/>
          </a:prstGeom>
          <a:noFill/>
          <a:ln>
            <a:noFill/>
          </a:ln>
        </p:spPr>
        <p:txBody>
          <a:bodyPr wrap="none" lIns="0" tIns="0" rIns="0" bIns="0" anchor="t" anchorCtr="0">
            <a:spAutoFit/>
          </a:bodyPr>
          <a:lstStyle/>
          <a:p>
            <a:pPr algn="l"/>
            <a:r>
              <a:rPr lang="zh-CN" sz="1050" dirty="0">
                <a:solidFill>
                  <a:srgbClr val="9AA0A6"/>
                </a:solidFill>
                <a:latin typeface="Arial" panose="020B0604020202020204"/>
                <a:ea typeface="微软雅黑" panose="020B0503020204020204" charset="-122"/>
                <a:cs typeface="Arial" panose="020B0604020202020204"/>
              </a:rPr>
              <a:t>每个模块可独立测试，39 个测试用例</a:t>
            </a:r>
          </a:p>
        </p:txBody>
      </p:sp>
      <p:sp>
        <p:nvSpPr>
          <p:cNvPr id="63" name="Rectangle 63"/>
          <p:cNvSpPr/>
          <p:nvPr/>
        </p:nvSpPr>
        <p:spPr>
          <a:xfrm>
            <a:off x="5905500" y="4572000"/>
            <a:ext cx="5334000" cy="1524000"/>
          </a:xfrm>
          <a:prstGeom prst="roundRect">
            <a:avLst>
              <a:gd name="adj" fmla="val 5000"/>
            </a:avLst>
          </a:prstGeom>
          <a:solidFill>
            <a:srgbClr val="0F1419"/>
          </a:solidFill>
          <a:ln w="9525">
            <a:solidFill>
              <a:srgbClr val="2D3748"/>
            </a:solidFill>
          </a:ln>
        </p:spPr>
        <p:txBody>
          <a:bodyPr/>
          <a:lstStyle/>
          <a:p>
            <a:endParaRPr lang="zh-CN" altLang="en-US"/>
          </a:p>
        </p:txBody>
      </p:sp>
      <p:sp>
        <p:nvSpPr>
          <p:cNvPr id="64" name="TextBox 64"/>
          <p:cNvSpPr txBox="1"/>
          <p:nvPr/>
        </p:nvSpPr>
        <p:spPr>
          <a:xfrm>
            <a:off x="6080760" y="4728210"/>
            <a:ext cx="670560" cy="243840"/>
          </a:xfrm>
          <a:prstGeom prst="rect">
            <a:avLst/>
          </a:prstGeom>
          <a:noFill/>
          <a:ln>
            <a:noFill/>
          </a:ln>
        </p:spPr>
        <p:txBody>
          <a:bodyPr wrap="none" lIns="0" tIns="0" rIns="0" bIns="0" anchor="t" anchorCtr="0">
            <a:spAutoFit/>
          </a:bodyPr>
          <a:lstStyle/>
          <a:p>
            <a:pPr algn="l"/>
            <a:r>
              <a:rPr lang="zh-CN" sz="1200" dirty="0">
                <a:solidFill>
                  <a:srgbClr val="E8EAED"/>
                </a:solidFill>
                <a:latin typeface="Arial" panose="020B0604020202020204"/>
                <a:ea typeface="微软雅黑" panose="020B0503020204020204" charset="-122"/>
                <a:cs typeface="Arial" panose="020B0604020202020204"/>
              </a:rPr>
              <a:t>核心依赖</a:t>
            </a:r>
          </a:p>
        </p:txBody>
      </p:sp>
      <p:sp>
        <p:nvSpPr>
          <p:cNvPr id="65" name="Rectangle 65"/>
          <p:cNvSpPr/>
          <p:nvPr/>
        </p:nvSpPr>
        <p:spPr>
          <a:xfrm>
            <a:off x="6096000" y="5048250"/>
            <a:ext cx="952500" cy="285750"/>
          </a:xfrm>
          <a:prstGeom prst="roundRect">
            <a:avLst>
              <a:gd name="adj" fmla="val 50000"/>
            </a:avLst>
          </a:prstGeom>
          <a:solidFill>
            <a:srgbClr val="00D4FF">
              <a:alpha val="20000"/>
            </a:srgbClr>
          </a:solidFill>
          <a:ln w="9525">
            <a:solidFill>
              <a:srgbClr val="00D4FF"/>
            </a:solidFill>
          </a:ln>
        </p:spPr>
        <p:txBody>
          <a:bodyPr/>
          <a:lstStyle/>
          <a:p>
            <a:endParaRPr lang="zh-CN" altLang="en-US"/>
          </a:p>
        </p:txBody>
      </p:sp>
      <p:sp>
        <p:nvSpPr>
          <p:cNvPr id="66" name="TextBox 66"/>
          <p:cNvSpPr txBox="1"/>
          <p:nvPr/>
        </p:nvSpPr>
        <p:spPr>
          <a:xfrm>
            <a:off x="6410801" y="5141595"/>
            <a:ext cx="322898" cy="182880"/>
          </a:xfrm>
          <a:prstGeom prst="rect">
            <a:avLst/>
          </a:prstGeom>
          <a:noFill/>
          <a:ln>
            <a:noFill/>
          </a:ln>
        </p:spPr>
        <p:txBody>
          <a:bodyPr wrap="none" lIns="0" tIns="0" rIns="0" bIns="0" anchor="t" anchorCtr="0">
            <a:spAutoFit/>
          </a:bodyPr>
          <a:lstStyle/>
          <a:p>
            <a:pPr algn="ctr"/>
            <a:r>
              <a:rPr lang="zh-CN" sz="900" dirty="0">
                <a:solidFill>
                  <a:srgbClr val="00D4FF"/>
                </a:solidFill>
                <a:latin typeface="Arial" panose="020B0604020202020204"/>
                <a:ea typeface="微软雅黑" panose="020B0503020204020204" charset="-122"/>
                <a:cs typeface="Arial" panose="020B0604020202020204"/>
              </a:rPr>
              <a:t>Sanic</a:t>
            </a:r>
          </a:p>
        </p:txBody>
      </p:sp>
      <p:sp>
        <p:nvSpPr>
          <p:cNvPr id="67" name="Rectangle 67"/>
          <p:cNvSpPr/>
          <p:nvPr/>
        </p:nvSpPr>
        <p:spPr>
          <a:xfrm>
            <a:off x="7239000" y="5048250"/>
            <a:ext cx="952500" cy="285750"/>
          </a:xfrm>
          <a:prstGeom prst="roundRect">
            <a:avLst>
              <a:gd name="adj" fmla="val 50000"/>
            </a:avLst>
          </a:prstGeom>
          <a:solidFill>
            <a:srgbClr val="4ECDC4">
              <a:alpha val="20000"/>
            </a:srgbClr>
          </a:solidFill>
          <a:ln w="9525">
            <a:solidFill>
              <a:srgbClr val="4ECDC4"/>
            </a:solidFill>
          </a:ln>
        </p:spPr>
        <p:txBody>
          <a:bodyPr/>
          <a:lstStyle/>
          <a:p>
            <a:endParaRPr lang="zh-CN" altLang="en-US"/>
          </a:p>
        </p:txBody>
      </p:sp>
      <p:sp>
        <p:nvSpPr>
          <p:cNvPr id="68" name="TextBox 68"/>
          <p:cNvSpPr txBox="1"/>
          <p:nvPr/>
        </p:nvSpPr>
        <p:spPr>
          <a:xfrm>
            <a:off x="7508796" y="5141595"/>
            <a:ext cx="412909" cy="182880"/>
          </a:xfrm>
          <a:prstGeom prst="rect">
            <a:avLst/>
          </a:prstGeom>
          <a:noFill/>
          <a:ln>
            <a:noFill/>
          </a:ln>
        </p:spPr>
        <p:txBody>
          <a:bodyPr wrap="none" lIns="0" tIns="0" rIns="0" bIns="0" anchor="t" anchorCtr="0">
            <a:spAutoFit/>
          </a:bodyPr>
          <a:lstStyle/>
          <a:p>
            <a:pPr algn="ctr"/>
            <a:r>
              <a:rPr lang="zh-CN" sz="900" dirty="0">
                <a:solidFill>
                  <a:srgbClr val="4ECDC4"/>
                </a:solidFill>
                <a:latin typeface="Arial" panose="020B0604020202020204"/>
                <a:ea typeface="微软雅黑" panose="020B0503020204020204" charset="-122"/>
                <a:cs typeface="Arial" panose="020B0604020202020204"/>
              </a:rPr>
              <a:t>SQLite</a:t>
            </a:r>
          </a:p>
        </p:txBody>
      </p:sp>
      <p:sp>
        <p:nvSpPr>
          <p:cNvPr id="69" name="Rectangle 69"/>
          <p:cNvSpPr/>
          <p:nvPr/>
        </p:nvSpPr>
        <p:spPr>
          <a:xfrm>
            <a:off x="8382000" y="5048250"/>
            <a:ext cx="952500" cy="285750"/>
          </a:xfrm>
          <a:prstGeom prst="roundRect">
            <a:avLst>
              <a:gd name="adj" fmla="val 50000"/>
            </a:avLst>
          </a:prstGeom>
          <a:solidFill>
            <a:srgbClr val="FF6B35">
              <a:alpha val="20000"/>
            </a:srgbClr>
          </a:solidFill>
          <a:ln w="9525">
            <a:solidFill>
              <a:srgbClr val="FF6B35"/>
            </a:solidFill>
          </a:ln>
        </p:spPr>
        <p:txBody>
          <a:bodyPr/>
          <a:lstStyle/>
          <a:p>
            <a:endParaRPr lang="zh-CN" altLang="en-US"/>
          </a:p>
        </p:txBody>
      </p:sp>
      <p:sp>
        <p:nvSpPr>
          <p:cNvPr id="70" name="TextBox 70"/>
          <p:cNvSpPr txBox="1"/>
          <p:nvPr/>
        </p:nvSpPr>
        <p:spPr>
          <a:xfrm>
            <a:off x="8747808" y="5141595"/>
            <a:ext cx="220885" cy="182880"/>
          </a:xfrm>
          <a:prstGeom prst="rect">
            <a:avLst/>
          </a:prstGeom>
          <a:noFill/>
          <a:ln>
            <a:noFill/>
          </a:ln>
        </p:spPr>
        <p:txBody>
          <a:bodyPr wrap="none" lIns="0" tIns="0" rIns="0" bIns="0" anchor="t" anchorCtr="0">
            <a:spAutoFit/>
          </a:bodyPr>
          <a:lstStyle/>
          <a:p>
            <a:pPr algn="ctr"/>
            <a:r>
              <a:rPr lang="zh-CN" sz="900" dirty="0">
                <a:solidFill>
                  <a:srgbClr val="FF6B35"/>
                </a:solidFill>
                <a:latin typeface="Arial" panose="020B0604020202020204"/>
                <a:ea typeface="微软雅黑" panose="020B0503020204020204" charset="-122"/>
                <a:cs typeface="Arial" panose="020B0604020202020204"/>
              </a:rPr>
              <a:t>BS4</a:t>
            </a:r>
          </a:p>
        </p:txBody>
      </p:sp>
      <p:sp>
        <p:nvSpPr>
          <p:cNvPr id="71" name="Rectangle 71"/>
          <p:cNvSpPr/>
          <p:nvPr/>
        </p:nvSpPr>
        <p:spPr>
          <a:xfrm>
            <a:off x="9525000" y="5048250"/>
            <a:ext cx="952500" cy="285750"/>
          </a:xfrm>
          <a:prstGeom prst="roundRect">
            <a:avLst>
              <a:gd name="adj" fmla="val 50000"/>
            </a:avLst>
          </a:prstGeom>
          <a:solidFill>
            <a:srgbClr val="10B981">
              <a:alpha val="20000"/>
            </a:srgbClr>
          </a:solidFill>
          <a:ln w="9525">
            <a:solidFill>
              <a:srgbClr val="10B981"/>
            </a:solidFill>
          </a:ln>
        </p:spPr>
        <p:txBody>
          <a:bodyPr/>
          <a:lstStyle/>
          <a:p>
            <a:endParaRPr lang="zh-CN" altLang="en-US"/>
          </a:p>
        </p:txBody>
      </p:sp>
      <p:sp>
        <p:nvSpPr>
          <p:cNvPr id="72" name="TextBox 72"/>
          <p:cNvSpPr txBox="1"/>
          <p:nvPr/>
        </p:nvSpPr>
        <p:spPr>
          <a:xfrm>
            <a:off x="9854803" y="5141595"/>
            <a:ext cx="292894" cy="182880"/>
          </a:xfrm>
          <a:prstGeom prst="rect">
            <a:avLst/>
          </a:prstGeom>
          <a:noFill/>
          <a:ln>
            <a:noFill/>
          </a:ln>
        </p:spPr>
        <p:txBody>
          <a:bodyPr wrap="none" lIns="0" tIns="0" rIns="0" bIns="0" anchor="t" anchorCtr="0">
            <a:spAutoFit/>
          </a:bodyPr>
          <a:lstStyle/>
          <a:p>
            <a:pPr algn="ctr"/>
            <a:r>
              <a:rPr lang="zh-CN" sz="900" dirty="0">
                <a:solidFill>
                  <a:srgbClr val="10B981"/>
                </a:solidFill>
                <a:latin typeface="Arial" panose="020B0604020202020204"/>
                <a:ea typeface="微软雅黑" panose="020B0503020204020204" charset="-122"/>
                <a:cs typeface="Arial" panose="020B0604020202020204"/>
              </a:rPr>
              <a:t>jieba</a:t>
            </a:r>
          </a:p>
        </p:txBody>
      </p:sp>
      <p:sp>
        <p:nvSpPr>
          <p:cNvPr id="73" name="Rectangle 73"/>
          <p:cNvSpPr/>
          <p:nvPr/>
        </p:nvSpPr>
        <p:spPr>
          <a:xfrm>
            <a:off x="6096000" y="5524500"/>
            <a:ext cx="1143000" cy="285750"/>
          </a:xfrm>
          <a:prstGeom prst="roundRect">
            <a:avLst>
              <a:gd name="adj" fmla="val 50000"/>
            </a:avLst>
          </a:prstGeom>
          <a:solidFill>
            <a:srgbClr val="00D4FF">
              <a:alpha val="20000"/>
            </a:srgbClr>
          </a:solidFill>
          <a:ln w="9525">
            <a:solidFill>
              <a:srgbClr val="00D4FF"/>
            </a:solidFill>
          </a:ln>
        </p:spPr>
        <p:txBody>
          <a:bodyPr/>
          <a:lstStyle/>
          <a:p>
            <a:endParaRPr lang="zh-CN" altLang="en-US"/>
          </a:p>
        </p:txBody>
      </p:sp>
      <p:sp>
        <p:nvSpPr>
          <p:cNvPr id="74" name="TextBox 74"/>
          <p:cNvSpPr txBox="1"/>
          <p:nvPr/>
        </p:nvSpPr>
        <p:spPr>
          <a:xfrm>
            <a:off x="6362033" y="5617845"/>
            <a:ext cx="610934" cy="182880"/>
          </a:xfrm>
          <a:prstGeom prst="rect">
            <a:avLst/>
          </a:prstGeom>
          <a:noFill/>
          <a:ln>
            <a:noFill/>
          </a:ln>
        </p:spPr>
        <p:txBody>
          <a:bodyPr wrap="none" lIns="0" tIns="0" rIns="0" bIns="0" anchor="t" anchorCtr="0">
            <a:spAutoFit/>
          </a:bodyPr>
          <a:lstStyle/>
          <a:p>
            <a:pPr algn="ctr"/>
            <a:r>
              <a:rPr lang="zh-CN" sz="900" dirty="0">
                <a:solidFill>
                  <a:srgbClr val="00D4FF"/>
                </a:solidFill>
                <a:latin typeface="Arial" panose="020B0604020202020204"/>
                <a:ea typeface="微软雅黑" panose="020B0503020204020204" charset="-122"/>
                <a:cs typeface="Arial" panose="020B0604020202020204"/>
              </a:rPr>
              <a:t>WordCloud</a:t>
            </a:r>
          </a:p>
        </p:txBody>
      </p:sp>
      <p:sp>
        <p:nvSpPr>
          <p:cNvPr id="75" name="Rectangle 75"/>
          <p:cNvSpPr/>
          <p:nvPr/>
        </p:nvSpPr>
        <p:spPr>
          <a:xfrm>
            <a:off x="7429500" y="5524500"/>
            <a:ext cx="1143000" cy="285750"/>
          </a:xfrm>
          <a:prstGeom prst="roundRect">
            <a:avLst>
              <a:gd name="adj" fmla="val 50000"/>
            </a:avLst>
          </a:prstGeom>
          <a:solidFill>
            <a:srgbClr val="4ECDC4">
              <a:alpha val="20000"/>
            </a:srgbClr>
          </a:solidFill>
          <a:ln w="9525">
            <a:solidFill>
              <a:srgbClr val="4ECDC4"/>
            </a:solidFill>
          </a:ln>
        </p:spPr>
        <p:txBody>
          <a:bodyPr/>
          <a:lstStyle/>
          <a:p>
            <a:endParaRPr lang="zh-CN" altLang="en-US"/>
          </a:p>
        </p:txBody>
      </p:sp>
      <p:sp>
        <p:nvSpPr>
          <p:cNvPr id="76" name="TextBox 76"/>
          <p:cNvSpPr txBox="1"/>
          <p:nvPr/>
        </p:nvSpPr>
        <p:spPr>
          <a:xfrm>
            <a:off x="7761541" y="5617845"/>
            <a:ext cx="478917" cy="182880"/>
          </a:xfrm>
          <a:prstGeom prst="rect">
            <a:avLst/>
          </a:prstGeom>
          <a:noFill/>
          <a:ln>
            <a:noFill/>
          </a:ln>
        </p:spPr>
        <p:txBody>
          <a:bodyPr wrap="none" lIns="0" tIns="0" rIns="0" bIns="0" anchor="t" anchorCtr="0">
            <a:spAutoFit/>
          </a:bodyPr>
          <a:lstStyle/>
          <a:p>
            <a:pPr algn="ctr"/>
            <a:r>
              <a:rPr lang="zh-CN" sz="900" dirty="0">
                <a:solidFill>
                  <a:srgbClr val="4ECDC4"/>
                </a:solidFill>
                <a:latin typeface="Arial" panose="020B0604020202020204"/>
                <a:ea typeface="微软雅黑" panose="020B0503020204020204" charset="-122"/>
                <a:cs typeface="Arial" panose="020B0604020202020204"/>
              </a:rPr>
              <a:t>snownlp</a:t>
            </a:r>
          </a:p>
        </p:txBody>
      </p:sp>
      <p:sp>
        <p:nvSpPr>
          <p:cNvPr id="77" name="Rectangle 77"/>
          <p:cNvSpPr/>
          <p:nvPr/>
        </p:nvSpPr>
        <p:spPr>
          <a:xfrm>
            <a:off x="8763000" y="5524500"/>
            <a:ext cx="1143000" cy="285750"/>
          </a:xfrm>
          <a:prstGeom prst="roundRect">
            <a:avLst>
              <a:gd name="adj" fmla="val 50000"/>
            </a:avLst>
          </a:prstGeom>
          <a:solidFill>
            <a:srgbClr val="FF6B35">
              <a:alpha val="20000"/>
            </a:srgbClr>
          </a:solidFill>
          <a:ln w="9525">
            <a:solidFill>
              <a:srgbClr val="FF6B35"/>
            </a:solidFill>
          </a:ln>
        </p:spPr>
        <p:txBody>
          <a:bodyPr/>
          <a:lstStyle/>
          <a:p>
            <a:endParaRPr lang="zh-CN" altLang="en-US"/>
          </a:p>
        </p:txBody>
      </p:sp>
      <p:sp>
        <p:nvSpPr>
          <p:cNvPr id="78" name="TextBox 78"/>
          <p:cNvSpPr txBox="1"/>
          <p:nvPr/>
        </p:nvSpPr>
        <p:spPr>
          <a:xfrm>
            <a:off x="9059037" y="5617845"/>
            <a:ext cx="550926" cy="182880"/>
          </a:xfrm>
          <a:prstGeom prst="rect">
            <a:avLst/>
          </a:prstGeom>
          <a:noFill/>
          <a:ln>
            <a:noFill/>
          </a:ln>
        </p:spPr>
        <p:txBody>
          <a:bodyPr wrap="none" lIns="0" tIns="0" rIns="0" bIns="0" anchor="t" anchorCtr="0">
            <a:spAutoFit/>
          </a:bodyPr>
          <a:lstStyle/>
          <a:p>
            <a:pPr algn="ctr"/>
            <a:r>
              <a:rPr lang="zh-CN" sz="900" dirty="0">
                <a:solidFill>
                  <a:srgbClr val="FF6B35"/>
                </a:solidFill>
                <a:latin typeface="Arial" panose="020B0604020202020204"/>
                <a:ea typeface="微软雅黑" panose="020B0503020204020204" charset="-122"/>
                <a:cs typeface="Arial" panose="020B0604020202020204"/>
              </a:rPr>
              <a:t>Requests</a:t>
            </a:r>
          </a:p>
        </p:txBody>
      </p:sp>
      <p:sp>
        <p:nvSpPr>
          <p:cNvPr id="79" name="TextBox 79"/>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09 / 11</a:t>
            </a:r>
          </a:p>
        </p:txBody>
      </p:sp>
      <p:sp>
        <p:nvSpPr>
          <p:cNvPr id="80" name="Rectangle 80"/>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
        <p:nvSpPr>
          <p:cNvPr id="81" name="文本框 80">
            <a:extLst>
              <a:ext uri="{FF2B5EF4-FFF2-40B4-BE49-F238E27FC236}">
                <a16:creationId xmlns:a16="http://schemas.microsoft.com/office/drawing/2014/main" id="{CBF24884-4600-E6FA-E244-F175C27A96FD}"/>
              </a:ext>
            </a:extLst>
          </p:cNvPr>
          <p:cNvSpPr txBox="1"/>
          <p:nvPr/>
        </p:nvSpPr>
        <p:spPr>
          <a:xfrm>
            <a:off x="762000" y="3237547"/>
            <a:ext cx="2276047" cy="624786"/>
          </a:xfrm>
          <a:prstGeom prst="rect">
            <a:avLst/>
          </a:prstGeom>
          <a:noFill/>
        </p:spPr>
        <p:txBody>
          <a:bodyPr wrap="square" rtlCol="0">
            <a:spAutoFit/>
          </a:bodyPr>
          <a:lstStyle/>
          <a:p>
            <a:r>
              <a:rPr lang="zh-CN" altLang="zh-CN" sz="830" dirty="0">
                <a:solidFill>
                  <a:srgbClr val="4ECDC4"/>
                </a:solidFill>
                <a:latin typeface="Consolas" panose="020B0609020204030204"/>
                <a:ea typeface="微软雅黑" panose="020B0503020204020204" charset="-122"/>
                <a:cs typeface="Consolas" panose="020B0609020204030204"/>
              </a:rPr>
              <a:t>TRANSITIONS = {"{"}pending: {"{"}running{"}"}{"}"}</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285750" y="0"/>
            <a:ext cx="12192000" cy="6858000"/>
          </a:xfrm>
          <a:prstGeom prst="rect">
            <a:avLst/>
          </a:prstGeom>
          <a:gradFill>
            <a:gsLst>
              <a:gs pos="0">
                <a:srgbClr val="00D4FF">
                  <a:alpha val="15000"/>
                </a:srgbClr>
              </a:gs>
              <a:gs pos="100000">
                <a:srgbClr val="00D4FF">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38100"/>
          </a:xfrm>
          <a:prstGeom prst="rect">
            <a:avLst/>
          </a:prstGeom>
          <a:gradFill>
            <a:gsLst>
              <a:gs pos="0">
                <a:srgbClr val="00D4FF"/>
              </a:gs>
              <a:gs pos="100000">
                <a:srgbClr val="4ECDC4"/>
              </a:gs>
            </a:gsLst>
            <a:lin ang="0" scaled="1"/>
          </a:gradFill>
          <a:ln>
            <a:noFill/>
          </a:ln>
        </p:spPr>
        <p:txBody>
          <a:bodyPr/>
          <a:lstStyle/>
          <a:p>
            <a:endParaRPr lang="zh-CN" altLang="en-US"/>
          </a:p>
        </p:txBody>
      </p:sp>
      <p:sp>
        <p:nvSpPr>
          <p:cNvPr id="5" name="Rectangle 5"/>
          <p:cNvSpPr/>
          <p:nvPr/>
        </p:nvSpPr>
        <p:spPr>
          <a:xfrm>
            <a:off x="571500" y="381000"/>
            <a:ext cx="38100" cy="381000"/>
          </a:xfrm>
          <a:prstGeom prst="rect">
            <a:avLst/>
          </a:prstGeom>
          <a:solidFill>
            <a:srgbClr val="00D4FF"/>
          </a:solidFill>
          <a:ln>
            <a:noFill/>
          </a:ln>
        </p:spPr>
        <p:txBody>
          <a:bodyPr/>
          <a:lstStyle/>
          <a:p>
            <a:endParaRPr lang="zh-CN" altLang="en-US"/>
          </a:p>
        </p:txBody>
      </p:sp>
      <p:sp>
        <p:nvSpPr>
          <p:cNvPr id="6" name="TextBox 6"/>
          <p:cNvSpPr txBox="1"/>
          <p:nvPr/>
        </p:nvSpPr>
        <p:spPr>
          <a:xfrm>
            <a:off x="727710" y="356235"/>
            <a:ext cx="1580769" cy="548640"/>
          </a:xfrm>
          <a:prstGeom prst="rect">
            <a:avLst/>
          </a:prstGeom>
          <a:noFill/>
          <a:ln>
            <a:noFill/>
          </a:ln>
        </p:spPr>
        <p:txBody>
          <a:bodyPr wrap="none" lIns="0" tIns="0" rIns="0" bIns="0" anchor="t" anchorCtr="0">
            <a:spAutoFit/>
          </a:bodyPr>
          <a:lstStyle/>
          <a:p>
            <a:pPr algn="l"/>
            <a:r>
              <a:rPr lang="zh-CN" sz="2700" b="1" dirty="0">
                <a:solidFill>
                  <a:srgbClr val="E8EAED"/>
                </a:solidFill>
                <a:latin typeface="Arial" panose="020B0604020202020204"/>
                <a:ea typeface="微软雅黑" panose="020B0503020204020204" charset="-122"/>
                <a:cs typeface="Arial" panose="020B0604020202020204"/>
              </a:rPr>
              <a:t>项目总结</a:t>
            </a:r>
          </a:p>
        </p:txBody>
      </p:sp>
      <p:sp>
        <p:nvSpPr>
          <p:cNvPr id="7" name="TextBox 7"/>
          <p:cNvSpPr txBox="1"/>
          <p:nvPr/>
        </p:nvSpPr>
        <p:spPr>
          <a:xfrm>
            <a:off x="2649855" y="501968"/>
            <a:ext cx="1501473" cy="274320"/>
          </a:xfrm>
          <a:prstGeom prst="rect">
            <a:avLst/>
          </a:prstGeom>
          <a:noFill/>
          <a:ln>
            <a:noFill/>
          </a:ln>
        </p:spPr>
        <p:txBody>
          <a:bodyPr wrap="none" lIns="0" tIns="0" rIns="0" bIns="0" anchor="t" anchorCtr="0">
            <a:spAutoFit/>
          </a:bodyPr>
          <a:lstStyle/>
          <a:p>
            <a:pPr algn="l"/>
            <a:r>
              <a:rPr lang="zh-CN" sz="1350" dirty="0">
                <a:solidFill>
                  <a:srgbClr val="9AA0A6"/>
                </a:solidFill>
                <a:latin typeface="Arial" panose="020B0604020202020204"/>
                <a:ea typeface="微软雅黑" panose="020B0503020204020204" charset="-122"/>
                <a:cs typeface="Arial" panose="020B0604020202020204"/>
              </a:rPr>
              <a:t>Project Summary</a:t>
            </a:r>
          </a:p>
        </p:txBody>
      </p:sp>
      <p:sp>
        <p:nvSpPr>
          <p:cNvPr id="8" name="Rectangle 8"/>
          <p:cNvSpPr/>
          <p:nvPr/>
        </p:nvSpPr>
        <p:spPr>
          <a:xfrm>
            <a:off x="571500" y="1047750"/>
            <a:ext cx="11049000" cy="1428750"/>
          </a:xfrm>
          <a:prstGeom prst="roundRect">
            <a:avLst>
              <a:gd name="adj" fmla="val 8000"/>
            </a:avLst>
          </a:prstGeom>
          <a:solidFill>
            <a:srgbClr val="1A2332"/>
          </a:solidFill>
          <a:ln w="9525">
            <a:solidFill>
              <a:srgbClr val="2D3748"/>
            </a:solidFill>
          </a:ln>
        </p:spPr>
        <p:txBody>
          <a:bodyPr/>
          <a:lstStyle/>
          <a:p>
            <a:endParaRPr lang="zh-CN" altLang="en-US"/>
          </a:p>
        </p:txBody>
      </p:sp>
      <p:sp>
        <p:nvSpPr>
          <p:cNvPr id="9" name="TextBox 9"/>
          <p:cNvSpPr txBox="1"/>
          <p:nvPr/>
        </p:nvSpPr>
        <p:spPr>
          <a:xfrm>
            <a:off x="2582108" y="1393508"/>
            <a:ext cx="7027783" cy="335280"/>
          </a:xfrm>
          <a:prstGeom prst="rect">
            <a:avLst/>
          </a:prstGeom>
          <a:noFill/>
          <a:ln>
            <a:noFill/>
          </a:ln>
        </p:spPr>
        <p:txBody>
          <a:bodyPr wrap="none" lIns="0" tIns="0" rIns="0" bIns="0" anchor="t" anchorCtr="0">
            <a:spAutoFit/>
          </a:bodyPr>
          <a:lstStyle/>
          <a:p>
            <a:pPr algn="ctr"/>
            <a:r>
              <a:rPr lang="zh-CN" sz="1650" dirty="0">
                <a:solidFill>
                  <a:srgbClr val="E8EAED"/>
                </a:solidFill>
                <a:latin typeface="Arial" panose="020B0604020202020204"/>
                <a:ea typeface="微软雅黑" panose="020B0503020204020204" charset="-122"/>
                <a:cs typeface="Arial" panose="020B0604020202020204"/>
              </a:rPr>
              <a:t>PyMS 项目综合运用了 Python Web 开发、数据爬取、清洗与可视化技术</a:t>
            </a:r>
          </a:p>
        </p:txBody>
      </p:sp>
      <p:sp>
        <p:nvSpPr>
          <p:cNvPr id="10" name="TextBox 10"/>
          <p:cNvSpPr txBox="1"/>
          <p:nvPr/>
        </p:nvSpPr>
        <p:spPr>
          <a:xfrm>
            <a:off x="4094798" y="1726882"/>
            <a:ext cx="4002405" cy="335280"/>
          </a:xfrm>
          <a:prstGeom prst="rect">
            <a:avLst/>
          </a:prstGeom>
          <a:noFill/>
          <a:ln>
            <a:noFill/>
          </a:ln>
        </p:spPr>
        <p:txBody>
          <a:bodyPr wrap="none" lIns="0" tIns="0" rIns="0" bIns="0" anchor="t" anchorCtr="0">
            <a:spAutoFit/>
          </a:bodyPr>
          <a:lstStyle/>
          <a:p>
            <a:pPr algn="ctr"/>
            <a:r>
              <a:rPr lang="zh-CN" sz="1650" dirty="0">
                <a:solidFill>
                  <a:srgbClr val="E8EAED"/>
                </a:solidFill>
                <a:latin typeface="Arial" panose="020B0604020202020204"/>
                <a:ea typeface="微软雅黑" panose="020B0503020204020204" charset="-122"/>
                <a:cs typeface="Arial" panose="020B0604020202020204"/>
              </a:rPr>
              <a:t>完成了从数据采集到分析展示的完整流程</a:t>
            </a:r>
          </a:p>
        </p:txBody>
      </p:sp>
      <p:sp>
        <p:nvSpPr>
          <p:cNvPr id="11" name="TextBox 11"/>
          <p:cNvSpPr txBox="1"/>
          <p:nvPr/>
        </p:nvSpPr>
        <p:spPr>
          <a:xfrm>
            <a:off x="4720590" y="2156460"/>
            <a:ext cx="2750820" cy="243840"/>
          </a:xfrm>
          <a:prstGeom prst="rect">
            <a:avLst/>
          </a:prstGeom>
          <a:noFill/>
          <a:ln>
            <a:noFill/>
          </a:ln>
        </p:spPr>
        <p:txBody>
          <a:bodyPr wrap="none" lIns="0" tIns="0" rIns="0" bIns="0" anchor="t" anchorCtr="0">
            <a:spAutoFit/>
          </a:bodyPr>
          <a:lstStyle/>
          <a:p>
            <a:pPr algn="ctr"/>
            <a:r>
              <a:rPr lang="zh-CN" sz="1200" dirty="0">
                <a:solidFill>
                  <a:srgbClr val="9AA0A6"/>
                </a:solidFill>
                <a:latin typeface="Arial" panose="020B0604020202020204"/>
                <a:ea typeface="微软雅黑" panose="020B0503020204020204" charset="-122"/>
                <a:cs typeface="Arial" panose="020B0604020202020204"/>
              </a:rPr>
              <a:t>一个完整的数据采集与分析云服务系统</a:t>
            </a:r>
          </a:p>
        </p:txBody>
      </p:sp>
      <p:sp>
        <p:nvSpPr>
          <p:cNvPr id="12" name="Rectangle 12"/>
          <p:cNvSpPr/>
          <p:nvPr/>
        </p:nvSpPr>
        <p:spPr>
          <a:xfrm>
            <a:off x="566737" y="2642870"/>
            <a:ext cx="3429000" cy="2176780"/>
          </a:xfrm>
          <a:prstGeom prst="roundRect">
            <a:avLst>
              <a:gd name="adj" fmla="val 6000"/>
            </a:avLst>
          </a:prstGeom>
          <a:solidFill>
            <a:srgbClr val="1A2332"/>
          </a:solidFill>
          <a:ln w="9525">
            <a:solidFill>
              <a:srgbClr val="2D3748"/>
            </a:solidFill>
          </a:ln>
        </p:spPr>
        <p:txBody>
          <a:bodyPr/>
          <a:lstStyle/>
          <a:p>
            <a:endParaRPr lang="zh-CN" altLang="en-US"/>
          </a:p>
        </p:txBody>
      </p:sp>
      <p:sp>
        <p:nvSpPr>
          <p:cNvPr id="13" name="Rectangle 13"/>
          <p:cNvSpPr/>
          <p:nvPr/>
        </p:nvSpPr>
        <p:spPr>
          <a:xfrm>
            <a:off x="768327" y="2795588"/>
            <a:ext cx="571500" cy="571500"/>
          </a:xfrm>
          <a:prstGeom prst="roundRect">
            <a:avLst>
              <a:gd name="adj" fmla="val 13333"/>
            </a:avLst>
          </a:prstGeom>
          <a:solidFill>
            <a:srgbClr val="0F1419"/>
          </a:solidFill>
          <a:ln w="19050">
            <a:solidFill>
              <a:srgbClr val="00D4FF"/>
            </a:solidFill>
          </a:ln>
        </p:spPr>
        <p:txBody>
          <a:bodyPr/>
          <a:lstStyle/>
          <a:p>
            <a:endParaRPr lang="zh-CN" altLang="en-US"/>
          </a:p>
        </p:txBody>
      </p:sp>
      <p:sp>
        <p:nvSpPr>
          <p:cNvPr id="14" name="TextBox 14"/>
          <p:cNvSpPr txBox="1"/>
          <p:nvPr/>
        </p:nvSpPr>
        <p:spPr>
          <a:xfrm>
            <a:off x="911202" y="2914332"/>
            <a:ext cx="285750" cy="365760"/>
          </a:xfrm>
          <a:prstGeom prst="rect">
            <a:avLst/>
          </a:prstGeom>
          <a:noFill/>
          <a:ln>
            <a:noFill/>
          </a:ln>
        </p:spPr>
        <p:txBody>
          <a:bodyPr wrap="none" lIns="0" tIns="0" rIns="0" bIns="0" anchor="t" anchorCtr="0">
            <a:spAutoFit/>
          </a:bodyPr>
          <a:lstStyle/>
          <a:p>
            <a:pPr algn="ctr"/>
            <a:r>
              <a:rPr lang="zh-CN" sz="1800" dirty="0">
                <a:solidFill>
                  <a:srgbClr val="00D4FF"/>
                </a:solidFill>
                <a:latin typeface="Arial" panose="020B0604020202020204"/>
                <a:ea typeface="微软雅黑" panose="020B0503020204020204" charset="-122"/>
                <a:cs typeface="Arial" panose="020B0604020202020204"/>
              </a:rPr>
              <a:t>技</a:t>
            </a:r>
          </a:p>
        </p:txBody>
      </p:sp>
      <p:sp>
        <p:nvSpPr>
          <p:cNvPr id="15" name="TextBox 15"/>
          <p:cNvSpPr txBox="1"/>
          <p:nvPr/>
        </p:nvSpPr>
        <p:spPr>
          <a:xfrm>
            <a:off x="1858733" y="2968942"/>
            <a:ext cx="966026" cy="335280"/>
          </a:xfrm>
          <a:prstGeom prst="rect">
            <a:avLst/>
          </a:prstGeom>
          <a:noFill/>
          <a:ln>
            <a:noFill/>
          </a:ln>
        </p:spPr>
        <p:txBody>
          <a:bodyPr wrap="none" lIns="0" tIns="0" rIns="0" bIns="0" anchor="t" anchorCtr="0">
            <a:spAutoFit/>
          </a:bodyPr>
          <a:lstStyle/>
          <a:p>
            <a:pPr algn="ctr"/>
            <a:r>
              <a:rPr lang="zh-CN" sz="1650" b="1" dirty="0">
                <a:solidFill>
                  <a:srgbClr val="00D4FF"/>
                </a:solidFill>
                <a:latin typeface="Arial" panose="020B0604020202020204"/>
                <a:ea typeface="微软雅黑" panose="020B0503020204020204" charset="-122"/>
                <a:cs typeface="Arial" panose="020B0604020202020204"/>
              </a:rPr>
              <a:t>技术收获</a:t>
            </a:r>
          </a:p>
        </p:txBody>
      </p:sp>
      <p:sp>
        <p:nvSpPr>
          <p:cNvPr id="16" name="TextBox 16"/>
          <p:cNvSpPr txBox="1"/>
          <p:nvPr/>
        </p:nvSpPr>
        <p:spPr>
          <a:xfrm>
            <a:off x="1766886" y="3437572"/>
            <a:ext cx="1343025" cy="1143000"/>
          </a:xfrm>
          <a:prstGeom prst="rect">
            <a:avLst/>
          </a:prstGeom>
          <a:noFill/>
          <a:ln>
            <a:noFill/>
          </a:ln>
        </p:spPr>
        <p:txBody>
          <a:bodyPr wrap="square" lIns="0" tIns="0" rIns="0" bIns="0" anchor="t" anchorCtr="0"/>
          <a:lstStyle/>
          <a:p>
            <a:pPr algn="l">
              <a:lnSpc>
                <a:spcPts val="1800"/>
              </a:lnSpc>
            </a:pPr>
            <a:r>
              <a:rPr lang="zh-CN" sz="1125" dirty="0">
                <a:solidFill>
                  <a:srgbClr val="E8EAED"/>
                </a:solidFill>
                <a:latin typeface="Arial" panose="020B0604020202020204"/>
                <a:ea typeface="微软雅黑" panose="020B0503020204020204" charset="-122"/>
                <a:cs typeface="Arial" panose="020B0604020202020204"/>
              </a:rPr>
              <a:t>Sanic 框架开发SQLite 数据库设计jieba 中文分词WordCloud 词云生成snownlp 情感分析</a:t>
            </a:r>
          </a:p>
        </p:txBody>
      </p:sp>
      <p:sp>
        <p:nvSpPr>
          <p:cNvPr id="17" name="Rectangle 17"/>
          <p:cNvSpPr/>
          <p:nvPr/>
        </p:nvSpPr>
        <p:spPr>
          <a:xfrm>
            <a:off x="4271963" y="2648902"/>
            <a:ext cx="3429000" cy="2180590"/>
          </a:xfrm>
          <a:prstGeom prst="roundRect">
            <a:avLst>
              <a:gd name="adj" fmla="val 6000"/>
            </a:avLst>
          </a:prstGeom>
          <a:solidFill>
            <a:srgbClr val="1A2332"/>
          </a:solidFill>
          <a:ln w="9525">
            <a:solidFill>
              <a:srgbClr val="2D3748"/>
            </a:solidFill>
          </a:ln>
        </p:spPr>
        <p:txBody>
          <a:bodyPr/>
          <a:lstStyle/>
          <a:p>
            <a:endParaRPr lang="zh-CN" altLang="en-US"/>
          </a:p>
        </p:txBody>
      </p:sp>
      <p:sp>
        <p:nvSpPr>
          <p:cNvPr id="18" name="Rectangle 18"/>
          <p:cNvSpPr/>
          <p:nvPr/>
        </p:nvSpPr>
        <p:spPr>
          <a:xfrm>
            <a:off x="4498777" y="2797176"/>
            <a:ext cx="571500" cy="571500"/>
          </a:xfrm>
          <a:prstGeom prst="roundRect">
            <a:avLst>
              <a:gd name="adj" fmla="val 13333"/>
            </a:avLst>
          </a:prstGeom>
          <a:solidFill>
            <a:srgbClr val="0F1419"/>
          </a:solidFill>
          <a:ln w="19050">
            <a:solidFill>
              <a:srgbClr val="4ECDC4"/>
            </a:solidFill>
          </a:ln>
        </p:spPr>
        <p:txBody>
          <a:bodyPr/>
          <a:lstStyle/>
          <a:p>
            <a:endParaRPr lang="zh-CN" altLang="en-US"/>
          </a:p>
        </p:txBody>
      </p:sp>
      <p:sp>
        <p:nvSpPr>
          <p:cNvPr id="19" name="TextBox 19"/>
          <p:cNvSpPr txBox="1"/>
          <p:nvPr/>
        </p:nvSpPr>
        <p:spPr>
          <a:xfrm>
            <a:off x="4641652" y="2915602"/>
            <a:ext cx="285750" cy="365760"/>
          </a:xfrm>
          <a:prstGeom prst="rect">
            <a:avLst/>
          </a:prstGeom>
          <a:noFill/>
          <a:ln>
            <a:noFill/>
          </a:ln>
        </p:spPr>
        <p:txBody>
          <a:bodyPr wrap="none" lIns="0" tIns="0" rIns="0" bIns="0" anchor="t" anchorCtr="0">
            <a:spAutoFit/>
          </a:bodyPr>
          <a:lstStyle/>
          <a:p>
            <a:pPr algn="ctr"/>
            <a:r>
              <a:rPr lang="zh-CN" sz="1800" dirty="0">
                <a:solidFill>
                  <a:srgbClr val="4ECDC4"/>
                </a:solidFill>
                <a:latin typeface="Arial" panose="020B0604020202020204"/>
                <a:ea typeface="微软雅黑" panose="020B0503020204020204" charset="-122"/>
                <a:cs typeface="Arial" panose="020B0604020202020204"/>
              </a:rPr>
              <a:t>能</a:t>
            </a:r>
          </a:p>
        </p:txBody>
      </p:sp>
      <p:sp>
        <p:nvSpPr>
          <p:cNvPr id="20" name="TextBox 20"/>
          <p:cNvSpPr txBox="1"/>
          <p:nvPr/>
        </p:nvSpPr>
        <p:spPr>
          <a:xfrm>
            <a:off x="5699364" y="2943860"/>
            <a:ext cx="966026" cy="335280"/>
          </a:xfrm>
          <a:prstGeom prst="rect">
            <a:avLst/>
          </a:prstGeom>
          <a:noFill/>
          <a:ln>
            <a:noFill/>
          </a:ln>
        </p:spPr>
        <p:txBody>
          <a:bodyPr wrap="none" lIns="0" tIns="0" rIns="0" bIns="0" anchor="t" anchorCtr="0">
            <a:spAutoFit/>
          </a:bodyPr>
          <a:lstStyle/>
          <a:p>
            <a:pPr algn="ctr"/>
            <a:r>
              <a:rPr lang="zh-CN" sz="1650" b="1" dirty="0">
                <a:solidFill>
                  <a:srgbClr val="4ECDC4"/>
                </a:solidFill>
                <a:latin typeface="Arial" panose="020B0604020202020204"/>
                <a:ea typeface="微软雅黑" panose="020B0503020204020204" charset="-122"/>
                <a:cs typeface="Arial" panose="020B0604020202020204"/>
              </a:rPr>
              <a:t>能力提升</a:t>
            </a:r>
          </a:p>
        </p:txBody>
      </p:sp>
      <p:sp>
        <p:nvSpPr>
          <p:cNvPr id="21" name="TextBox 21"/>
          <p:cNvSpPr txBox="1"/>
          <p:nvPr/>
        </p:nvSpPr>
        <p:spPr>
          <a:xfrm>
            <a:off x="5457667" y="3363278"/>
            <a:ext cx="1314450" cy="1143000"/>
          </a:xfrm>
          <a:prstGeom prst="rect">
            <a:avLst/>
          </a:prstGeom>
          <a:noFill/>
          <a:ln>
            <a:noFill/>
          </a:ln>
        </p:spPr>
        <p:txBody>
          <a:bodyPr wrap="square" lIns="0" tIns="0" rIns="0" bIns="0" anchor="t" anchorCtr="0"/>
          <a:lstStyle/>
          <a:p>
            <a:pPr algn="l">
              <a:lnSpc>
                <a:spcPts val="1800"/>
              </a:lnSpc>
            </a:pPr>
            <a:r>
              <a:rPr lang="zh-CN" sz="1125" dirty="0">
                <a:solidFill>
                  <a:srgbClr val="E8EAED"/>
                </a:solidFill>
                <a:latin typeface="Arial" panose="020B0604020202020204"/>
                <a:ea typeface="微软雅黑" panose="020B0503020204020204" charset="-122"/>
                <a:cs typeface="Arial" panose="020B0604020202020204"/>
              </a:rPr>
              <a:t>Web 应用开发能力数据处理与分析能力系统架构设计能力安全防护意识项目工程化能力</a:t>
            </a:r>
          </a:p>
        </p:txBody>
      </p:sp>
      <p:sp>
        <p:nvSpPr>
          <p:cNvPr id="22" name="Rectangle 22"/>
          <p:cNvSpPr/>
          <p:nvPr/>
        </p:nvSpPr>
        <p:spPr>
          <a:xfrm>
            <a:off x="8189119" y="2651760"/>
            <a:ext cx="3429000" cy="2216150"/>
          </a:xfrm>
          <a:prstGeom prst="roundRect">
            <a:avLst>
              <a:gd name="adj" fmla="val 6000"/>
            </a:avLst>
          </a:prstGeom>
          <a:solidFill>
            <a:srgbClr val="1A2332"/>
          </a:solidFill>
          <a:ln w="9525">
            <a:solidFill>
              <a:srgbClr val="2D3748"/>
            </a:solidFill>
          </a:ln>
        </p:spPr>
        <p:txBody>
          <a:bodyPr/>
          <a:lstStyle/>
          <a:p>
            <a:endParaRPr lang="zh-CN" altLang="en-US"/>
          </a:p>
        </p:txBody>
      </p:sp>
      <p:sp>
        <p:nvSpPr>
          <p:cNvPr id="23" name="Rectangle 23"/>
          <p:cNvSpPr/>
          <p:nvPr/>
        </p:nvSpPr>
        <p:spPr>
          <a:xfrm>
            <a:off x="8522177" y="2797176"/>
            <a:ext cx="571500" cy="571500"/>
          </a:xfrm>
          <a:prstGeom prst="roundRect">
            <a:avLst>
              <a:gd name="adj" fmla="val 13333"/>
            </a:avLst>
          </a:prstGeom>
          <a:solidFill>
            <a:srgbClr val="0F1419"/>
          </a:solidFill>
          <a:ln w="19050">
            <a:solidFill>
              <a:srgbClr val="FF6B35"/>
            </a:solidFill>
          </a:ln>
        </p:spPr>
        <p:txBody>
          <a:bodyPr/>
          <a:lstStyle/>
          <a:p>
            <a:endParaRPr lang="zh-CN" altLang="en-US"/>
          </a:p>
        </p:txBody>
      </p:sp>
      <p:sp>
        <p:nvSpPr>
          <p:cNvPr id="24" name="TextBox 24"/>
          <p:cNvSpPr txBox="1"/>
          <p:nvPr/>
        </p:nvSpPr>
        <p:spPr>
          <a:xfrm>
            <a:off x="8665640" y="2913380"/>
            <a:ext cx="285750" cy="365760"/>
          </a:xfrm>
          <a:prstGeom prst="rect">
            <a:avLst/>
          </a:prstGeom>
          <a:noFill/>
          <a:ln>
            <a:noFill/>
          </a:ln>
        </p:spPr>
        <p:txBody>
          <a:bodyPr wrap="none" lIns="0" tIns="0" rIns="0" bIns="0" anchor="t" anchorCtr="0">
            <a:spAutoFit/>
          </a:bodyPr>
          <a:lstStyle/>
          <a:p>
            <a:pPr algn="ctr"/>
            <a:r>
              <a:rPr lang="zh-CN" sz="1800" dirty="0">
                <a:solidFill>
                  <a:srgbClr val="FF6B35"/>
                </a:solidFill>
                <a:latin typeface="Arial" panose="020B0604020202020204"/>
                <a:ea typeface="微软雅黑" panose="020B0503020204020204" charset="-122"/>
                <a:cs typeface="Arial" panose="020B0604020202020204"/>
              </a:rPr>
              <a:t>展</a:t>
            </a:r>
          </a:p>
        </p:txBody>
      </p:sp>
      <p:sp>
        <p:nvSpPr>
          <p:cNvPr id="25" name="TextBox 25"/>
          <p:cNvSpPr txBox="1"/>
          <p:nvPr/>
        </p:nvSpPr>
        <p:spPr>
          <a:xfrm>
            <a:off x="9689694" y="2968942"/>
            <a:ext cx="966026" cy="335280"/>
          </a:xfrm>
          <a:prstGeom prst="rect">
            <a:avLst/>
          </a:prstGeom>
          <a:noFill/>
          <a:ln>
            <a:noFill/>
          </a:ln>
        </p:spPr>
        <p:txBody>
          <a:bodyPr wrap="none" lIns="0" tIns="0" rIns="0" bIns="0" anchor="t" anchorCtr="0">
            <a:spAutoFit/>
          </a:bodyPr>
          <a:lstStyle/>
          <a:p>
            <a:pPr algn="ctr"/>
            <a:r>
              <a:rPr lang="zh-CN" sz="1650" b="1" dirty="0">
                <a:solidFill>
                  <a:srgbClr val="FF6B35"/>
                </a:solidFill>
                <a:latin typeface="Arial" panose="020B0604020202020204"/>
                <a:ea typeface="微软雅黑" panose="020B0503020204020204" charset="-122"/>
                <a:cs typeface="Arial" panose="020B0604020202020204"/>
              </a:rPr>
              <a:t>未来展望</a:t>
            </a:r>
          </a:p>
        </p:txBody>
      </p:sp>
      <p:sp>
        <p:nvSpPr>
          <p:cNvPr id="26" name="TextBox 26"/>
          <p:cNvSpPr txBox="1"/>
          <p:nvPr/>
        </p:nvSpPr>
        <p:spPr>
          <a:xfrm>
            <a:off x="9484145" y="3352006"/>
            <a:ext cx="1171575" cy="1143000"/>
          </a:xfrm>
          <a:prstGeom prst="rect">
            <a:avLst/>
          </a:prstGeom>
          <a:noFill/>
          <a:ln>
            <a:noFill/>
          </a:ln>
        </p:spPr>
        <p:txBody>
          <a:bodyPr wrap="square" lIns="0" tIns="0" rIns="0" bIns="0" anchor="t" anchorCtr="0"/>
          <a:lstStyle/>
          <a:p>
            <a:pPr algn="l">
              <a:lnSpc>
                <a:spcPts val="1800"/>
              </a:lnSpc>
            </a:pPr>
            <a:r>
              <a:rPr lang="zh-CN" sz="1125" dirty="0">
                <a:solidFill>
                  <a:srgbClr val="E8EAED"/>
                </a:solidFill>
                <a:latin typeface="Arial" panose="020B0604020202020204"/>
                <a:ea typeface="微软雅黑" panose="020B0503020204020204" charset="-122"/>
                <a:cs typeface="Arial" panose="020B0604020202020204"/>
              </a:rPr>
              <a:t>支持更多数据源增加机器学习模型优化用户界面支持分布式爬取数据持久化优化</a:t>
            </a:r>
          </a:p>
        </p:txBody>
      </p:sp>
      <p:sp>
        <p:nvSpPr>
          <p:cNvPr id="27" name="Rectangle 27"/>
          <p:cNvSpPr/>
          <p:nvPr/>
        </p:nvSpPr>
        <p:spPr>
          <a:xfrm>
            <a:off x="571500" y="4953000"/>
            <a:ext cx="11049000" cy="1333500"/>
          </a:xfrm>
          <a:prstGeom prst="roundRect">
            <a:avLst>
              <a:gd name="adj" fmla="val 8571"/>
            </a:avLst>
          </a:prstGeom>
          <a:solidFill>
            <a:srgbClr val="1A2332"/>
          </a:solidFill>
          <a:ln w="9525">
            <a:solidFill>
              <a:srgbClr val="2D3748"/>
            </a:solidFill>
          </a:ln>
        </p:spPr>
        <p:txBody>
          <a:bodyPr/>
          <a:lstStyle/>
          <a:p>
            <a:endParaRPr lang="zh-CN" altLang="en-US"/>
          </a:p>
        </p:txBody>
      </p:sp>
      <p:sp>
        <p:nvSpPr>
          <p:cNvPr id="28" name="TextBox 28"/>
          <p:cNvSpPr txBox="1"/>
          <p:nvPr/>
        </p:nvSpPr>
        <p:spPr>
          <a:xfrm>
            <a:off x="742950" y="5172075"/>
            <a:ext cx="878205" cy="304800"/>
          </a:xfrm>
          <a:prstGeom prst="rect">
            <a:avLst/>
          </a:prstGeom>
          <a:noFill/>
          <a:ln>
            <a:noFill/>
          </a:ln>
        </p:spPr>
        <p:txBody>
          <a:bodyPr wrap="none" lIns="0" tIns="0" rIns="0" bIns="0" anchor="t" anchorCtr="0">
            <a:spAutoFit/>
          </a:bodyPr>
          <a:lstStyle/>
          <a:p>
            <a:pPr algn="l"/>
            <a:r>
              <a:rPr lang="zh-CN" sz="1500" b="1" dirty="0">
                <a:solidFill>
                  <a:srgbClr val="E8EAED"/>
                </a:solidFill>
                <a:latin typeface="Arial" panose="020B0604020202020204"/>
                <a:ea typeface="微软雅黑" panose="020B0503020204020204" charset="-122"/>
                <a:cs typeface="Arial" panose="020B0604020202020204"/>
              </a:rPr>
              <a:t>项目数据</a:t>
            </a:r>
          </a:p>
        </p:txBody>
      </p:sp>
      <p:sp>
        <p:nvSpPr>
          <p:cNvPr id="29" name="Rectangle 29"/>
          <p:cNvSpPr/>
          <p:nvPr/>
        </p:nvSpPr>
        <p:spPr>
          <a:xfrm>
            <a:off x="952500" y="5524500"/>
            <a:ext cx="1905000" cy="571500"/>
          </a:xfrm>
          <a:prstGeom prst="roundRect">
            <a:avLst>
              <a:gd name="adj" fmla="val 13333"/>
            </a:avLst>
          </a:prstGeom>
          <a:solidFill>
            <a:srgbClr val="0F1419"/>
          </a:solidFill>
          <a:ln w="9525">
            <a:solidFill>
              <a:srgbClr val="00D4FF"/>
            </a:solidFill>
          </a:ln>
        </p:spPr>
        <p:txBody>
          <a:bodyPr/>
          <a:lstStyle/>
          <a:p>
            <a:endParaRPr lang="zh-CN" altLang="en-US"/>
          </a:p>
        </p:txBody>
      </p:sp>
      <p:sp>
        <p:nvSpPr>
          <p:cNvPr id="30" name="TextBox 30"/>
          <p:cNvSpPr txBox="1"/>
          <p:nvPr/>
        </p:nvSpPr>
        <p:spPr>
          <a:xfrm>
            <a:off x="1797470" y="5535930"/>
            <a:ext cx="215060" cy="426720"/>
          </a:xfrm>
          <a:prstGeom prst="rect">
            <a:avLst/>
          </a:prstGeom>
          <a:noFill/>
          <a:ln>
            <a:noFill/>
          </a:ln>
        </p:spPr>
        <p:txBody>
          <a:bodyPr wrap="none" lIns="0" tIns="0" rIns="0" bIns="0" anchor="t" anchorCtr="0">
            <a:spAutoFit/>
          </a:bodyPr>
          <a:lstStyle/>
          <a:p>
            <a:pPr algn="ctr"/>
            <a:r>
              <a:rPr lang="zh-CN" sz="2100" b="1" dirty="0">
                <a:solidFill>
                  <a:srgbClr val="00D4FF"/>
                </a:solidFill>
                <a:latin typeface="Arial" panose="020B0604020202020204"/>
                <a:ea typeface="微软雅黑" panose="020B0503020204020204" charset="-122"/>
                <a:cs typeface="Arial" panose="020B0604020202020204"/>
              </a:rPr>
              <a:t>8</a:t>
            </a:r>
          </a:p>
        </p:txBody>
      </p:sp>
      <p:sp>
        <p:nvSpPr>
          <p:cNvPr id="31" name="TextBox 31"/>
          <p:cNvSpPr txBox="1"/>
          <p:nvPr/>
        </p:nvSpPr>
        <p:spPr>
          <a:xfrm>
            <a:off x="1541621" y="5887402"/>
            <a:ext cx="726758"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核心依赖包</a:t>
            </a:r>
          </a:p>
        </p:txBody>
      </p:sp>
      <p:sp>
        <p:nvSpPr>
          <p:cNvPr id="32" name="Rectangle 32"/>
          <p:cNvSpPr/>
          <p:nvPr/>
        </p:nvSpPr>
        <p:spPr>
          <a:xfrm>
            <a:off x="3238500" y="5524500"/>
            <a:ext cx="1905000" cy="571500"/>
          </a:xfrm>
          <a:prstGeom prst="roundRect">
            <a:avLst>
              <a:gd name="adj" fmla="val 13333"/>
            </a:avLst>
          </a:prstGeom>
          <a:solidFill>
            <a:srgbClr val="0F1419"/>
          </a:solidFill>
          <a:ln w="9525">
            <a:solidFill>
              <a:srgbClr val="4ECDC4"/>
            </a:solidFill>
          </a:ln>
        </p:spPr>
        <p:txBody>
          <a:bodyPr/>
          <a:lstStyle/>
          <a:p>
            <a:endParaRPr lang="zh-CN" altLang="en-US"/>
          </a:p>
        </p:txBody>
      </p:sp>
      <p:sp>
        <p:nvSpPr>
          <p:cNvPr id="33" name="TextBox 33"/>
          <p:cNvSpPr txBox="1"/>
          <p:nvPr/>
        </p:nvSpPr>
        <p:spPr>
          <a:xfrm>
            <a:off x="4002610" y="5535930"/>
            <a:ext cx="376780" cy="426720"/>
          </a:xfrm>
          <a:prstGeom prst="rect">
            <a:avLst/>
          </a:prstGeom>
          <a:noFill/>
          <a:ln>
            <a:noFill/>
          </a:ln>
        </p:spPr>
        <p:txBody>
          <a:bodyPr wrap="none" lIns="0" tIns="0" rIns="0" bIns="0" anchor="t" anchorCtr="0">
            <a:spAutoFit/>
          </a:bodyPr>
          <a:lstStyle/>
          <a:p>
            <a:pPr algn="ctr"/>
            <a:r>
              <a:rPr lang="zh-CN" sz="2100" b="1" dirty="0">
                <a:solidFill>
                  <a:srgbClr val="4ECDC4"/>
                </a:solidFill>
                <a:latin typeface="Arial" panose="020B0604020202020204"/>
                <a:ea typeface="微软雅黑" panose="020B0503020204020204" charset="-122"/>
                <a:cs typeface="Arial" panose="020B0604020202020204"/>
              </a:rPr>
              <a:t>11</a:t>
            </a:r>
          </a:p>
        </p:txBody>
      </p:sp>
      <p:sp>
        <p:nvSpPr>
          <p:cNvPr id="34" name="TextBox 34"/>
          <p:cNvSpPr txBox="1"/>
          <p:nvPr/>
        </p:nvSpPr>
        <p:spPr>
          <a:xfrm>
            <a:off x="3897630" y="5887402"/>
            <a:ext cx="586740"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核心模块</a:t>
            </a:r>
          </a:p>
        </p:txBody>
      </p:sp>
      <p:sp>
        <p:nvSpPr>
          <p:cNvPr id="35" name="Rectangle 35"/>
          <p:cNvSpPr/>
          <p:nvPr/>
        </p:nvSpPr>
        <p:spPr>
          <a:xfrm>
            <a:off x="5524500" y="5524500"/>
            <a:ext cx="1905000" cy="571500"/>
          </a:xfrm>
          <a:prstGeom prst="roundRect">
            <a:avLst>
              <a:gd name="adj" fmla="val 13333"/>
            </a:avLst>
          </a:prstGeom>
          <a:solidFill>
            <a:srgbClr val="0F1419"/>
          </a:solidFill>
          <a:ln w="9525">
            <a:solidFill>
              <a:srgbClr val="FF6B35"/>
            </a:solidFill>
          </a:ln>
        </p:spPr>
        <p:txBody>
          <a:bodyPr/>
          <a:lstStyle/>
          <a:p>
            <a:endParaRPr lang="zh-CN" altLang="en-US"/>
          </a:p>
        </p:txBody>
      </p:sp>
      <p:sp>
        <p:nvSpPr>
          <p:cNvPr id="36" name="TextBox 36"/>
          <p:cNvSpPr txBox="1"/>
          <p:nvPr/>
        </p:nvSpPr>
        <p:spPr>
          <a:xfrm>
            <a:off x="6288610" y="5535930"/>
            <a:ext cx="376780" cy="426720"/>
          </a:xfrm>
          <a:prstGeom prst="rect">
            <a:avLst/>
          </a:prstGeom>
          <a:noFill/>
          <a:ln>
            <a:noFill/>
          </a:ln>
        </p:spPr>
        <p:txBody>
          <a:bodyPr wrap="none" lIns="0" tIns="0" rIns="0" bIns="0" anchor="t" anchorCtr="0">
            <a:spAutoFit/>
          </a:bodyPr>
          <a:lstStyle/>
          <a:p>
            <a:pPr algn="ctr"/>
            <a:r>
              <a:rPr lang="zh-CN" sz="2100" b="1" dirty="0">
                <a:solidFill>
                  <a:srgbClr val="FF6B35"/>
                </a:solidFill>
                <a:latin typeface="Arial" panose="020B0604020202020204"/>
                <a:ea typeface="微软雅黑" panose="020B0503020204020204" charset="-122"/>
                <a:cs typeface="Arial" panose="020B0604020202020204"/>
              </a:rPr>
              <a:t>12</a:t>
            </a:r>
          </a:p>
        </p:txBody>
      </p:sp>
      <p:sp>
        <p:nvSpPr>
          <p:cNvPr id="37" name="TextBox 37"/>
          <p:cNvSpPr txBox="1"/>
          <p:nvPr/>
        </p:nvSpPr>
        <p:spPr>
          <a:xfrm>
            <a:off x="6204633" y="5887402"/>
            <a:ext cx="544735"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API 接口</a:t>
            </a:r>
          </a:p>
        </p:txBody>
      </p:sp>
      <p:sp>
        <p:nvSpPr>
          <p:cNvPr id="38" name="Rectangle 38"/>
          <p:cNvSpPr/>
          <p:nvPr/>
        </p:nvSpPr>
        <p:spPr>
          <a:xfrm>
            <a:off x="7810500" y="5524500"/>
            <a:ext cx="1905000" cy="571500"/>
          </a:xfrm>
          <a:prstGeom prst="roundRect">
            <a:avLst>
              <a:gd name="adj" fmla="val 13333"/>
            </a:avLst>
          </a:prstGeom>
          <a:solidFill>
            <a:srgbClr val="0F1419"/>
          </a:solidFill>
          <a:ln w="9525">
            <a:solidFill>
              <a:srgbClr val="10B981"/>
            </a:solidFill>
          </a:ln>
        </p:spPr>
        <p:txBody>
          <a:bodyPr/>
          <a:lstStyle/>
          <a:p>
            <a:endParaRPr lang="zh-CN" altLang="en-US"/>
          </a:p>
        </p:txBody>
      </p:sp>
      <p:sp>
        <p:nvSpPr>
          <p:cNvPr id="39" name="TextBox 39"/>
          <p:cNvSpPr txBox="1"/>
          <p:nvPr/>
        </p:nvSpPr>
        <p:spPr>
          <a:xfrm>
            <a:off x="8574610" y="5535930"/>
            <a:ext cx="376780" cy="426720"/>
          </a:xfrm>
          <a:prstGeom prst="rect">
            <a:avLst/>
          </a:prstGeom>
          <a:noFill/>
          <a:ln>
            <a:noFill/>
          </a:ln>
        </p:spPr>
        <p:txBody>
          <a:bodyPr wrap="none" lIns="0" tIns="0" rIns="0" bIns="0" anchor="t" anchorCtr="0">
            <a:spAutoFit/>
          </a:bodyPr>
          <a:lstStyle/>
          <a:p>
            <a:pPr algn="ctr"/>
            <a:r>
              <a:rPr lang="zh-CN" sz="2100" b="1" dirty="0">
                <a:solidFill>
                  <a:srgbClr val="10B981"/>
                </a:solidFill>
                <a:latin typeface="Arial" panose="020B0604020202020204"/>
                <a:ea typeface="微软雅黑" panose="020B0503020204020204" charset="-122"/>
                <a:cs typeface="Arial" panose="020B0604020202020204"/>
              </a:rPr>
              <a:t>39</a:t>
            </a:r>
          </a:p>
        </p:txBody>
      </p:sp>
      <p:sp>
        <p:nvSpPr>
          <p:cNvPr id="40" name="TextBox 40"/>
          <p:cNvSpPr txBox="1"/>
          <p:nvPr/>
        </p:nvSpPr>
        <p:spPr>
          <a:xfrm>
            <a:off x="8469630" y="5887402"/>
            <a:ext cx="586740"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测试用例</a:t>
            </a:r>
          </a:p>
        </p:txBody>
      </p:sp>
      <p:sp>
        <p:nvSpPr>
          <p:cNvPr id="41" name="Rectangle 41"/>
          <p:cNvSpPr/>
          <p:nvPr/>
        </p:nvSpPr>
        <p:spPr>
          <a:xfrm>
            <a:off x="10096500" y="5524500"/>
            <a:ext cx="1333500" cy="571500"/>
          </a:xfrm>
          <a:prstGeom prst="roundRect">
            <a:avLst>
              <a:gd name="adj" fmla="val 13333"/>
            </a:avLst>
          </a:prstGeom>
          <a:solidFill>
            <a:srgbClr val="0F1419"/>
          </a:solidFill>
          <a:ln w="9525">
            <a:solidFill>
              <a:srgbClr val="6B7280"/>
            </a:solidFill>
          </a:ln>
        </p:spPr>
        <p:txBody>
          <a:bodyPr/>
          <a:lstStyle/>
          <a:p>
            <a:endParaRPr lang="zh-CN" altLang="en-US"/>
          </a:p>
        </p:txBody>
      </p:sp>
      <p:sp>
        <p:nvSpPr>
          <p:cNvPr id="42" name="TextBox 42"/>
          <p:cNvSpPr txBox="1"/>
          <p:nvPr/>
        </p:nvSpPr>
        <p:spPr>
          <a:xfrm>
            <a:off x="10655720" y="5535930"/>
            <a:ext cx="215060" cy="426720"/>
          </a:xfrm>
          <a:prstGeom prst="rect">
            <a:avLst/>
          </a:prstGeom>
          <a:noFill/>
          <a:ln>
            <a:noFill/>
          </a:ln>
        </p:spPr>
        <p:txBody>
          <a:bodyPr wrap="none" lIns="0" tIns="0" rIns="0" bIns="0" anchor="t" anchorCtr="0">
            <a:spAutoFit/>
          </a:bodyPr>
          <a:lstStyle/>
          <a:p>
            <a:pPr algn="ctr"/>
            <a:r>
              <a:rPr lang="zh-CN" sz="2100" b="1" dirty="0">
                <a:solidFill>
                  <a:srgbClr val="6B7280"/>
                </a:solidFill>
                <a:latin typeface="Arial" panose="020B0604020202020204"/>
                <a:ea typeface="微软雅黑" panose="020B0503020204020204" charset="-122"/>
                <a:cs typeface="Arial" panose="020B0604020202020204"/>
              </a:rPr>
              <a:t>6</a:t>
            </a:r>
          </a:p>
        </p:txBody>
      </p:sp>
      <p:sp>
        <p:nvSpPr>
          <p:cNvPr id="43" name="TextBox 43"/>
          <p:cNvSpPr txBox="1"/>
          <p:nvPr/>
        </p:nvSpPr>
        <p:spPr>
          <a:xfrm>
            <a:off x="10469880" y="5887402"/>
            <a:ext cx="586740"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任务状态</a:t>
            </a:r>
          </a:p>
        </p:txBody>
      </p:sp>
      <p:sp>
        <p:nvSpPr>
          <p:cNvPr id="44" name="TextBox 44"/>
          <p:cNvSpPr txBox="1"/>
          <p:nvPr/>
        </p:nvSpPr>
        <p:spPr>
          <a:xfrm>
            <a:off x="11302270" y="657034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10 / 11</a:t>
            </a:r>
          </a:p>
        </p:txBody>
      </p:sp>
      <p:sp>
        <p:nvSpPr>
          <p:cNvPr id="45" name="Rectangle 45"/>
          <p:cNvSpPr/>
          <p:nvPr/>
        </p:nvSpPr>
        <p:spPr>
          <a:xfrm>
            <a:off x="0" y="6819900"/>
            <a:ext cx="12192000" cy="38100"/>
          </a:xfrm>
          <a:prstGeom prst="rect">
            <a:avLst/>
          </a:prstGeom>
          <a:gradFill>
            <a:gsLst>
              <a:gs pos="0">
                <a:srgbClr val="00D4FF">
                  <a:alpha val="50000"/>
                </a:srgbClr>
              </a:gs>
              <a:gs pos="100000">
                <a:srgbClr val="4ECDC4">
                  <a:alpha val="50000"/>
                </a:srgbClr>
              </a:gs>
            </a:gsLst>
            <a:lin ang="0" scaled="1"/>
          </a:gradFill>
          <a:ln>
            <a:noFill/>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419"/>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00D4FF">
                  <a:alpha val="20000"/>
                </a:srgbClr>
              </a:gs>
              <a:gs pos="100000">
                <a:srgbClr val="00D4FF">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FF6B35">
                  <a:alpha val="10000"/>
                </a:srgbClr>
              </a:gs>
              <a:gs pos="100000">
                <a:srgbClr val="FF6B35">
                  <a:alpha val="0"/>
                </a:srgbClr>
              </a:gs>
            </a:gsLst>
            <a:path path="circle">
              <a:fillToRect l="50000" t="50000" r="50000" b="50000"/>
            </a:path>
          </a:gradFill>
          <a:ln>
            <a:noFill/>
          </a:ln>
        </p:spPr>
        <p:txBody>
          <a:bodyPr/>
          <a:lstStyle/>
          <a:p>
            <a:endParaRPr lang="zh-CN" altLang="en-US"/>
          </a:p>
        </p:txBody>
      </p:sp>
      <p:sp>
        <p:nvSpPr>
          <p:cNvPr id="5" name="Line 5"/>
          <p:cNvSpPr/>
          <p:nvPr/>
        </p:nvSpPr>
        <p:spPr>
          <a:xfrm>
            <a:off x="0" y="1714500"/>
            <a:ext cx="12192000" cy="9525"/>
          </a:xfrm>
          <a:custGeom>
            <a:avLst/>
            <a:gdLst/>
            <a:ahLst/>
            <a:cxnLst/>
            <a:rect l="l" t="t" r="r" b="b"/>
            <a:pathLst>
              <a:path w="12192000" h="9525">
                <a:moveTo>
                  <a:pt x="0" y="0"/>
                </a:moveTo>
                <a:lnTo>
                  <a:pt x="12192000" y="0"/>
                </a:lnTo>
              </a:path>
            </a:pathLst>
          </a:custGeom>
          <a:noFill/>
          <a:ln w="4762">
            <a:solidFill>
              <a:srgbClr val="2D3748">
                <a:alpha val="20000"/>
              </a:srgbClr>
            </a:solidFill>
          </a:ln>
        </p:spPr>
        <p:txBody>
          <a:bodyPr/>
          <a:lstStyle/>
          <a:p>
            <a:endParaRPr lang="zh-CN" altLang="en-US"/>
          </a:p>
        </p:txBody>
      </p:sp>
      <p:sp>
        <p:nvSpPr>
          <p:cNvPr id="6" name="Line 6"/>
          <p:cNvSpPr/>
          <p:nvPr/>
        </p:nvSpPr>
        <p:spPr>
          <a:xfrm>
            <a:off x="0" y="3429000"/>
            <a:ext cx="12192000" cy="9525"/>
          </a:xfrm>
          <a:custGeom>
            <a:avLst/>
            <a:gdLst/>
            <a:ahLst/>
            <a:cxnLst/>
            <a:rect l="l" t="t" r="r" b="b"/>
            <a:pathLst>
              <a:path w="12192000" h="9525">
                <a:moveTo>
                  <a:pt x="0" y="0"/>
                </a:moveTo>
                <a:lnTo>
                  <a:pt x="12192000" y="0"/>
                </a:lnTo>
              </a:path>
            </a:pathLst>
          </a:custGeom>
          <a:noFill/>
          <a:ln w="4762">
            <a:solidFill>
              <a:srgbClr val="2D3748">
                <a:alpha val="20000"/>
              </a:srgbClr>
            </a:solidFill>
          </a:ln>
        </p:spPr>
        <p:txBody>
          <a:bodyPr/>
          <a:lstStyle/>
          <a:p>
            <a:endParaRPr lang="zh-CN" altLang="en-US"/>
          </a:p>
        </p:txBody>
      </p:sp>
      <p:sp>
        <p:nvSpPr>
          <p:cNvPr id="7" name="Line 7"/>
          <p:cNvSpPr/>
          <p:nvPr/>
        </p:nvSpPr>
        <p:spPr>
          <a:xfrm>
            <a:off x="0" y="5143500"/>
            <a:ext cx="12192000" cy="9525"/>
          </a:xfrm>
          <a:custGeom>
            <a:avLst/>
            <a:gdLst/>
            <a:ahLst/>
            <a:cxnLst/>
            <a:rect l="l" t="t" r="r" b="b"/>
            <a:pathLst>
              <a:path w="12192000" h="9525">
                <a:moveTo>
                  <a:pt x="0" y="0"/>
                </a:moveTo>
                <a:lnTo>
                  <a:pt x="12192000" y="0"/>
                </a:lnTo>
              </a:path>
            </a:pathLst>
          </a:custGeom>
          <a:noFill/>
          <a:ln w="4762">
            <a:solidFill>
              <a:srgbClr val="2D3748">
                <a:alpha val="20000"/>
              </a:srgbClr>
            </a:solidFill>
          </a:ln>
        </p:spPr>
        <p:txBody>
          <a:bodyPr/>
          <a:lstStyle/>
          <a:p>
            <a:endParaRPr lang="zh-CN" altLang="en-US"/>
          </a:p>
        </p:txBody>
      </p:sp>
      <p:sp>
        <p:nvSpPr>
          <p:cNvPr id="8" name="Line 8"/>
          <p:cNvSpPr/>
          <p:nvPr/>
        </p:nvSpPr>
        <p:spPr>
          <a:xfrm>
            <a:off x="3048000" y="0"/>
            <a:ext cx="9525" cy="6858000"/>
          </a:xfrm>
          <a:custGeom>
            <a:avLst/>
            <a:gdLst/>
            <a:ahLst/>
            <a:cxnLst/>
            <a:rect l="l" t="t" r="r" b="b"/>
            <a:pathLst>
              <a:path w="9525" h="6858000">
                <a:moveTo>
                  <a:pt x="0" y="0"/>
                </a:moveTo>
                <a:lnTo>
                  <a:pt x="0" y="6858000"/>
                </a:lnTo>
              </a:path>
            </a:pathLst>
          </a:custGeom>
          <a:noFill/>
          <a:ln w="4762">
            <a:solidFill>
              <a:srgbClr val="2D3748">
                <a:alpha val="20000"/>
              </a:srgbClr>
            </a:solidFill>
          </a:ln>
        </p:spPr>
        <p:txBody>
          <a:bodyPr/>
          <a:lstStyle/>
          <a:p>
            <a:endParaRPr lang="zh-CN" altLang="en-US"/>
          </a:p>
        </p:txBody>
      </p:sp>
      <p:sp>
        <p:nvSpPr>
          <p:cNvPr id="9" name="Line 9"/>
          <p:cNvSpPr/>
          <p:nvPr/>
        </p:nvSpPr>
        <p:spPr>
          <a:xfrm>
            <a:off x="6096000" y="0"/>
            <a:ext cx="9525" cy="6858000"/>
          </a:xfrm>
          <a:custGeom>
            <a:avLst/>
            <a:gdLst/>
            <a:ahLst/>
            <a:cxnLst/>
            <a:rect l="l" t="t" r="r" b="b"/>
            <a:pathLst>
              <a:path w="9525" h="6858000">
                <a:moveTo>
                  <a:pt x="0" y="0"/>
                </a:moveTo>
                <a:lnTo>
                  <a:pt x="0" y="6858000"/>
                </a:lnTo>
              </a:path>
            </a:pathLst>
          </a:custGeom>
          <a:noFill/>
          <a:ln w="4762">
            <a:solidFill>
              <a:srgbClr val="2D3748">
                <a:alpha val="20000"/>
              </a:srgbClr>
            </a:solidFill>
          </a:ln>
        </p:spPr>
        <p:txBody>
          <a:bodyPr/>
          <a:lstStyle/>
          <a:p>
            <a:endParaRPr lang="zh-CN" altLang="en-US"/>
          </a:p>
        </p:txBody>
      </p:sp>
      <p:sp>
        <p:nvSpPr>
          <p:cNvPr id="10" name="Line 10"/>
          <p:cNvSpPr/>
          <p:nvPr/>
        </p:nvSpPr>
        <p:spPr>
          <a:xfrm>
            <a:off x="9144000" y="0"/>
            <a:ext cx="9525" cy="6858000"/>
          </a:xfrm>
          <a:custGeom>
            <a:avLst/>
            <a:gdLst/>
            <a:ahLst/>
            <a:cxnLst/>
            <a:rect l="l" t="t" r="r" b="b"/>
            <a:pathLst>
              <a:path w="9525" h="6858000">
                <a:moveTo>
                  <a:pt x="0" y="0"/>
                </a:moveTo>
                <a:lnTo>
                  <a:pt x="0" y="6858000"/>
                </a:lnTo>
              </a:path>
            </a:pathLst>
          </a:custGeom>
          <a:noFill/>
          <a:ln w="4762">
            <a:solidFill>
              <a:srgbClr val="2D3748">
                <a:alpha val="20000"/>
              </a:srgbClr>
            </a:solidFill>
          </a:ln>
        </p:spPr>
        <p:txBody>
          <a:bodyPr/>
          <a:lstStyle/>
          <a:p>
            <a:endParaRPr lang="zh-CN" altLang="en-US"/>
          </a:p>
        </p:txBody>
      </p:sp>
      <p:sp>
        <p:nvSpPr>
          <p:cNvPr id="11" name="Ellipse 11"/>
          <p:cNvSpPr/>
          <p:nvPr/>
        </p:nvSpPr>
        <p:spPr>
          <a:xfrm>
            <a:off x="952500" y="476250"/>
            <a:ext cx="1905000" cy="1905000"/>
          </a:xfrm>
          <a:prstGeom prst="ellipse">
            <a:avLst/>
          </a:prstGeom>
          <a:noFill/>
          <a:ln w="9525">
            <a:solidFill>
              <a:srgbClr val="00D4FF">
                <a:alpha val="10000"/>
              </a:srgbClr>
            </a:solidFill>
          </a:ln>
        </p:spPr>
        <p:txBody>
          <a:bodyPr/>
          <a:lstStyle/>
          <a:p>
            <a:endParaRPr lang="zh-CN" altLang="en-US"/>
          </a:p>
        </p:txBody>
      </p:sp>
      <p:sp>
        <p:nvSpPr>
          <p:cNvPr id="12" name="Ellipse 12"/>
          <p:cNvSpPr/>
          <p:nvPr/>
        </p:nvSpPr>
        <p:spPr>
          <a:xfrm>
            <a:off x="1143000" y="666750"/>
            <a:ext cx="1524000" cy="1524000"/>
          </a:xfrm>
          <a:prstGeom prst="ellipse">
            <a:avLst/>
          </a:prstGeom>
          <a:noFill/>
          <a:ln w="9525">
            <a:solidFill>
              <a:srgbClr val="4ECDC4">
                <a:alpha val="8000"/>
              </a:srgbClr>
            </a:solidFill>
          </a:ln>
        </p:spPr>
        <p:txBody>
          <a:bodyPr/>
          <a:lstStyle/>
          <a:p>
            <a:endParaRPr lang="zh-CN" altLang="en-US"/>
          </a:p>
        </p:txBody>
      </p:sp>
      <p:sp>
        <p:nvSpPr>
          <p:cNvPr id="13" name="Ellipse 13"/>
          <p:cNvSpPr/>
          <p:nvPr/>
        </p:nvSpPr>
        <p:spPr>
          <a:xfrm>
            <a:off x="9334500" y="4572000"/>
            <a:ext cx="2286000" cy="2286000"/>
          </a:xfrm>
          <a:prstGeom prst="ellipse">
            <a:avLst/>
          </a:prstGeom>
          <a:noFill/>
          <a:ln w="9525">
            <a:solidFill>
              <a:srgbClr val="FF6B35">
                <a:alpha val="10000"/>
              </a:srgbClr>
            </a:solidFill>
          </a:ln>
        </p:spPr>
        <p:txBody>
          <a:bodyPr/>
          <a:lstStyle/>
          <a:p>
            <a:endParaRPr lang="zh-CN" altLang="en-US"/>
          </a:p>
        </p:txBody>
      </p:sp>
      <p:sp>
        <p:nvSpPr>
          <p:cNvPr id="14" name="Ellipse 14"/>
          <p:cNvSpPr/>
          <p:nvPr/>
        </p:nvSpPr>
        <p:spPr>
          <a:xfrm>
            <a:off x="9620250" y="4857750"/>
            <a:ext cx="1714500" cy="1714500"/>
          </a:xfrm>
          <a:prstGeom prst="ellipse">
            <a:avLst/>
          </a:prstGeom>
          <a:noFill/>
          <a:ln w="9525">
            <a:solidFill>
              <a:srgbClr val="00D4FF">
                <a:alpha val="8000"/>
              </a:srgbClr>
            </a:solidFill>
          </a:ln>
        </p:spPr>
        <p:txBody>
          <a:bodyPr/>
          <a:lstStyle/>
          <a:p>
            <a:endParaRPr lang="zh-CN" altLang="en-US"/>
          </a:p>
        </p:txBody>
      </p:sp>
      <p:sp>
        <p:nvSpPr>
          <p:cNvPr id="15" name="Rectangle 15"/>
          <p:cNvSpPr/>
          <p:nvPr/>
        </p:nvSpPr>
        <p:spPr>
          <a:xfrm>
            <a:off x="571500" y="2381250"/>
            <a:ext cx="38100" cy="2095500"/>
          </a:xfrm>
          <a:prstGeom prst="rect">
            <a:avLst/>
          </a:prstGeom>
          <a:solidFill>
            <a:srgbClr val="00D4FF">
              <a:alpha val="40000"/>
            </a:srgbClr>
          </a:solidFill>
          <a:ln>
            <a:noFill/>
          </a:ln>
        </p:spPr>
        <p:txBody>
          <a:bodyPr/>
          <a:lstStyle/>
          <a:p>
            <a:endParaRPr lang="zh-CN" altLang="en-US"/>
          </a:p>
        </p:txBody>
      </p:sp>
      <p:sp>
        <p:nvSpPr>
          <p:cNvPr id="16" name="Rectangle 16"/>
          <p:cNvSpPr/>
          <p:nvPr/>
        </p:nvSpPr>
        <p:spPr>
          <a:xfrm>
            <a:off x="666750" y="2667000"/>
            <a:ext cx="38100" cy="1524000"/>
          </a:xfrm>
          <a:prstGeom prst="rect">
            <a:avLst/>
          </a:prstGeom>
          <a:solidFill>
            <a:srgbClr val="4ECDC4">
              <a:alpha val="30000"/>
            </a:srgbClr>
          </a:solidFill>
          <a:ln>
            <a:noFill/>
          </a:ln>
        </p:spPr>
        <p:txBody>
          <a:bodyPr/>
          <a:lstStyle/>
          <a:p>
            <a:endParaRPr lang="zh-CN" altLang="en-US"/>
          </a:p>
        </p:txBody>
      </p:sp>
      <p:sp>
        <p:nvSpPr>
          <p:cNvPr id="17" name="Rectangle 17"/>
          <p:cNvSpPr/>
          <p:nvPr/>
        </p:nvSpPr>
        <p:spPr>
          <a:xfrm>
            <a:off x="11582400" y="2381250"/>
            <a:ext cx="38100" cy="2095500"/>
          </a:xfrm>
          <a:prstGeom prst="rect">
            <a:avLst/>
          </a:prstGeom>
          <a:solidFill>
            <a:srgbClr val="00D4FF">
              <a:alpha val="40000"/>
            </a:srgbClr>
          </a:solidFill>
          <a:ln>
            <a:noFill/>
          </a:ln>
        </p:spPr>
        <p:txBody>
          <a:bodyPr/>
          <a:lstStyle/>
          <a:p>
            <a:endParaRPr lang="zh-CN" altLang="en-US"/>
          </a:p>
        </p:txBody>
      </p:sp>
      <p:sp>
        <p:nvSpPr>
          <p:cNvPr id="18" name="Rectangle 18"/>
          <p:cNvSpPr/>
          <p:nvPr/>
        </p:nvSpPr>
        <p:spPr>
          <a:xfrm>
            <a:off x="11487150" y="2667000"/>
            <a:ext cx="38100" cy="1524000"/>
          </a:xfrm>
          <a:prstGeom prst="rect">
            <a:avLst/>
          </a:prstGeom>
          <a:solidFill>
            <a:srgbClr val="4ECDC4">
              <a:alpha val="30000"/>
            </a:srgbClr>
          </a:solidFill>
          <a:ln>
            <a:noFill/>
          </a:ln>
        </p:spPr>
        <p:txBody>
          <a:bodyPr/>
          <a:lstStyle/>
          <a:p>
            <a:endParaRPr lang="zh-CN" altLang="en-US"/>
          </a:p>
        </p:txBody>
      </p:sp>
      <p:sp>
        <p:nvSpPr>
          <p:cNvPr id="19" name="TextBox 19"/>
          <p:cNvSpPr txBox="1"/>
          <p:nvPr/>
        </p:nvSpPr>
        <p:spPr>
          <a:xfrm>
            <a:off x="4778692" y="2181225"/>
            <a:ext cx="2634615" cy="914400"/>
          </a:xfrm>
          <a:prstGeom prst="rect">
            <a:avLst/>
          </a:prstGeom>
          <a:noFill/>
          <a:ln>
            <a:noFill/>
          </a:ln>
        </p:spPr>
        <p:txBody>
          <a:bodyPr wrap="none" lIns="0" tIns="0" rIns="0" bIns="0" anchor="t" anchorCtr="0">
            <a:spAutoFit/>
          </a:bodyPr>
          <a:lstStyle/>
          <a:p>
            <a:pPr algn="ctr"/>
            <a:r>
              <a:rPr lang="zh-CN" sz="4500" b="1" dirty="0">
                <a:gradFill>
                  <a:gsLst>
                    <a:gs pos="0">
                      <a:srgbClr val="00D4FF"/>
                    </a:gs>
                    <a:gs pos="100000">
                      <a:srgbClr val="4ECDC4"/>
                    </a:gs>
                  </a:gsLst>
                  <a:lin ang="2700000" scaled="1"/>
                </a:gradFill>
                <a:latin typeface="Arial" panose="020B0604020202020204"/>
                <a:ea typeface="微软雅黑" panose="020B0503020204020204" charset="-122"/>
                <a:cs typeface="Arial" panose="020B0604020202020204"/>
              </a:rPr>
              <a:t>感谢聆听</a:t>
            </a:r>
          </a:p>
        </p:txBody>
      </p:sp>
      <p:sp>
        <p:nvSpPr>
          <p:cNvPr id="20" name="TextBox 20"/>
          <p:cNvSpPr txBox="1"/>
          <p:nvPr/>
        </p:nvSpPr>
        <p:spPr>
          <a:xfrm>
            <a:off x="5089208" y="3011805"/>
            <a:ext cx="2013585" cy="426720"/>
          </a:xfrm>
          <a:prstGeom prst="rect">
            <a:avLst/>
          </a:prstGeom>
          <a:noFill/>
          <a:ln>
            <a:noFill/>
          </a:ln>
        </p:spPr>
        <p:txBody>
          <a:bodyPr wrap="none" lIns="0" tIns="0" rIns="0" bIns="0" anchor="t" anchorCtr="0">
            <a:spAutoFit/>
          </a:bodyPr>
          <a:lstStyle/>
          <a:p>
            <a:pPr algn="ctr"/>
            <a:r>
              <a:rPr lang="zh-CN" sz="2100" dirty="0">
                <a:solidFill>
                  <a:srgbClr val="E8EAED">
                    <a:alphaMod val="90000"/>
                  </a:srgbClr>
                </a:solidFill>
                <a:latin typeface="Arial" panose="020B0604020202020204"/>
                <a:ea typeface="微软雅黑" panose="020B0503020204020204" charset="-122"/>
                <a:cs typeface="Arial" panose="020B0604020202020204"/>
              </a:rPr>
              <a:t>欢迎提问与交流</a:t>
            </a:r>
          </a:p>
        </p:txBody>
      </p:sp>
      <p:sp>
        <p:nvSpPr>
          <p:cNvPr id="21" name="Line 21"/>
          <p:cNvSpPr/>
          <p:nvPr/>
        </p:nvSpPr>
        <p:spPr>
          <a:xfrm>
            <a:off x="4191000" y="3619500"/>
            <a:ext cx="3810000" cy="9525"/>
          </a:xfrm>
          <a:custGeom>
            <a:avLst/>
            <a:gdLst/>
            <a:ahLst/>
            <a:cxnLst/>
            <a:rect l="l" t="t" r="r" b="b"/>
            <a:pathLst>
              <a:path w="3810000" h="9525">
                <a:moveTo>
                  <a:pt x="0" y="0"/>
                </a:moveTo>
                <a:lnTo>
                  <a:pt x="3810000" y="0"/>
                </a:lnTo>
              </a:path>
            </a:pathLst>
          </a:custGeom>
          <a:noFill/>
          <a:ln w="19050">
            <a:solidFill>
              <a:srgbClr val="00D4FF">
                <a:alpha val="60000"/>
              </a:srgbClr>
            </a:solidFill>
          </a:ln>
        </p:spPr>
        <p:txBody>
          <a:bodyPr/>
          <a:lstStyle/>
          <a:p>
            <a:endParaRPr lang="zh-CN" altLang="en-US"/>
          </a:p>
        </p:txBody>
      </p:sp>
      <p:sp>
        <p:nvSpPr>
          <p:cNvPr id="22" name="Ellipse 22"/>
          <p:cNvSpPr/>
          <p:nvPr/>
        </p:nvSpPr>
        <p:spPr>
          <a:xfrm>
            <a:off x="6057900" y="3581400"/>
            <a:ext cx="76200" cy="76200"/>
          </a:xfrm>
          <a:prstGeom prst="ellipse">
            <a:avLst/>
          </a:prstGeom>
          <a:solidFill>
            <a:srgbClr val="00D4FF"/>
          </a:solidFill>
          <a:ln>
            <a:noFill/>
          </a:ln>
        </p:spPr>
        <p:txBody>
          <a:bodyPr/>
          <a:lstStyle/>
          <a:p>
            <a:endParaRPr lang="zh-CN" altLang="en-US"/>
          </a:p>
        </p:txBody>
      </p:sp>
      <p:sp>
        <p:nvSpPr>
          <p:cNvPr id="23" name="TextBox 23"/>
          <p:cNvSpPr txBox="1"/>
          <p:nvPr/>
        </p:nvSpPr>
        <p:spPr>
          <a:xfrm>
            <a:off x="5106829" y="3933825"/>
            <a:ext cx="1978343" cy="304800"/>
          </a:xfrm>
          <a:prstGeom prst="rect">
            <a:avLst/>
          </a:prstGeom>
          <a:noFill/>
          <a:ln>
            <a:noFill/>
          </a:ln>
        </p:spPr>
        <p:txBody>
          <a:bodyPr wrap="none" lIns="0" tIns="0" rIns="0" bIns="0" anchor="t" anchorCtr="0">
            <a:spAutoFit/>
          </a:bodyPr>
          <a:lstStyle/>
          <a:p>
            <a:pPr algn="ctr"/>
            <a:r>
              <a:rPr lang="zh-CN" sz="1500" dirty="0">
                <a:solidFill>
                  <a:srgbClr val="9AA0A6"/>
                </a:solidFill>
                <a:latin typeface="Arial" panose="020B0604020202020204"/>
                <a:ea typeface="微软雅黑" panose="020B0503020204020204" charset="-122"/>
                <a:cs typeface="Arial" panose="020B0604020202020204"/>
              </a:rPr>
              <a:t>PyMS 网页爬虫控制台</a:t>
            </a:r>
          </a:p>
        </p:txBody>
      </p:sp>
      <p:sp>
        <p:nvSpPr>
          <p:cNvPr id="24" name="TextBox 24"/>
          <p:cNvSpPr txBox="1"/>
          <p:nvPr/>
        </p:nvSpPr>
        <p:spPr>
          <a:xfrm>
            <a:off x="4287631" y="4283392"/>
            <a:ext cx="3616738" cy="274320"/>
          </a:xfrm>
          <a:prstGeom prst="rect">
            <a:avLst/>
          </a:prstGeom>
          <a:noFill/>
          <a:ln>
            <a:noFill/>
          </a:ln>
        </p:spPr>
        <p:txBody>
          <a:bodyPr wrap="none" lIns="0" tIns="0" rIns="0" bIns="0" anchor="t" anchorCtr="0">
            <a:spAutoFit/>
          </a:bodyPr>
          <a:lstStyle/>
          <a:p>
            <a:pPr algn="ctr"/>
            <a:r>
              <a:rPr lang="zh-CN" sz="1350" dirty="0">
                <a:solidFill>
                  <a:srgbClr val="6B7280"/>
                </a:solidFill>
                <a:latin typeface="Arial" panose="020B0604020202020204"/>
                <a:ea typeface="微软雅黑" panose="020B0503020204020204" charset="-122"/>
                <a:cs typeface="Arial" panose="020B0604020202020204"/>
              </a:rPr>
              <a:t>基于 Python 的数据爬虫与可视化云服务设计</a:t>
            </a:r>
          </a:p>
        </p:txBody>
      </p:sp>
      <p:sp>
        <p:nvSpPr>
          <p:cNvPr id="25" name="Rectangle 25"/>
          <p:cNvSpPr/>
          <p:nvPr/>
        </p:nvSpPr>
        <p:spPr>
          <a:xfrm>
            <a:off x="3238500" y="4857750"/>
            <a:ext cx="5715000" cy="1143000"/>
          </a:xfrm>
          <a:prstGeom prst="roundRect">
            <a:avLst>
              <a:gd name="adj" fmla="val 10000"/>
            </a:avLst>
          </a:prstGeom>
          <a:solidFill>
            <a:srgbClr val="1A2332"/>
          </a:solidFill>
          <a:ln w="9525">
            <a:solidFill>
              <a:srgbClr val="2D3748"/>
            </a:solidFill>
          </a:ln>
        </p:spPr>
        <p:txBody>
          <a:bodyPr/>
          <a:lstStyle/>
          <a:p>
            <a:endParaRPr lang="zh-CN" altLang="en-US"/>
          </a:p>
        </p:txBody>
      </p:sp>
      <p:sp>
        <p:nvSpPr>
          <p:cNvPr id="26" name="TextBox 26"/>
          <p:cNvSpPr txBox="1"/>
          <p:nvPr/>
        </p:nvSpPr>
        <p:spPr>
          <a:xfrm>
            <a:off x="3855720" y="5109210"/>
            <a:ext cx="670560" cy="243840"/>
          </a:xfrm>
          <a:prstGeom prst="rect">
            <a:avLst/>
          </a:prstGeom>
          <a:noFill/>
          <a:ln>
            <a:noFill/>
          </a:ln>
        </p:spPr>
        <p:txBody>
          <a:bodyPr wrap="none" lIns="0" tIns="0" rIns="0" bIns="0" anchor="t" anchorCtr="0">
            <a:spAutoFit/>
          </a:bodyPr>
          <a:lstStyle/>
          <a:p>
            <a:pPr algn="ctr"/>
            <a:r>
              <a:rPr lang="zh-CN" sz="1200" dirty="0">
                <a:solidFill>
                  <a:srgbClr val="00D4FF"/>
                </a:solidFill>
                <a:latin typeface="Arial" panose="020B0604020202020204"/>
                <a:ea typeface="微软雅黑" panose="020B0503020204020204" charset="-122"/>
                <a:cs typeface="Arial" panose="020B0604020202020204"/>
              </a:rPr>
              <a:t>项目地址</a:t>
            </a:r>
          </a:p>
        </p:txBody>
      </p:sp>
      <p:sp>
        <p:nvSpPr>
          <p:cNvPr id="27" name="TextBox 27"/>
          <p:cNvSpPr txBox="1"/>
          <p:nvPr/>
        </p:nvSpPr>
        <p:spPr>
          <a:xfrm>
            <a:off x="3589592" y="5363528"/>
            <a:ext cx="1202817" cy="213360"/>
          </a:xfrm>
          <a:prstGeom prst="rect">
            <a:avLst/>
          </a:prstGeom>
          <a:noFill/>
          <a:ln>
            <a:noFill/>
          </a:ln>
        </p:spPr>
        <p:txBody>
          <a:bodyPr wrap="none" lIns="0" tIns="0" rIns="0" bIns="0" anchor="t" anchorCtr="0">
            <a:spAutoFit/>
          </a:bodyPr>
          <a:lstStyle/>
          <a:p>
            <a:pPr algn="ctr"/>
            <a:r>
              <a:rPr lang="zh-CN" sz="1050" dirty="0">
                <a:solidFill>
                  <a:srgbClr val="E8EAED"/>
                </a:solidFill>
                <a:latin typeface="Consolas" panose="020B0609020204030204"/>
                <a:ea typeface="微软雅黑" panose="020B0503020204020204" charset="-122"/>
                <a:cs typeface="Consolas" panose="020B0609020204030204"/>
              </a:rPr>
              <a:t>github.com/pyms</a:t>
            </a:r>
          </a:p>
        </p:txBody>
      </p:sp>
      <p:sp>
        <p:nvSpPr>
          <p:cNvPr id="28" name="Line 28"/>
          <p:cNvSpPr/>
          <p:nvPr/>
        </p:nvSpPr>
        <p:spPr>
          <a:xfrm>
            <a:off x="5143500" y="5048250"/>
            <a:ext cx="9525" cy="666750"/>
          </a:xfrm>
          <a:custGeom>
            <a:avLst/>
            <a:gdLst/>
            <a:ahLst/>
            <a:cxnLst/>
            <a:rect l="l" t="t" r="r" b="b"/>
            <a:pathLst>
              <a:path w="9525" h="666750">
                <a:moveTo>
                  <a:pt x="0" y="0"/>
                </a:moveTo>
                <a:lnTo>
                  <a:pt x="0" y="666750"/>
                </a:lnTo>
              </a:path>
            </a:pathLst>
          </a:custGeom>
          <a:noFill/>
          <a:ln w="9525">
            <a:solidFill>
              <a:srgbClr val="2D3748"/>
            </a:solidFill>
          </a:ln>
        </p:spPr>
        <p:txBody>
          <a:bodyPr/>
          <a:lstStyle/>
          <a:p>
            <a:endParaRPr lang="zh-CN" altLang="en-US"/>
          </a:p>
        </p:txBody>
      </p:sp>
      <p:sp>
        <p:nvSpPr>
          <p:cNvPr id="29" name="TextBox 29"/>
          <p:cNvSpPr txBox="1"/>
          <p:nvPr/>
        </p:nvSpPr>
        <p:spPr>
          <a:xfrm>
            <a:off x="6793230" y="5109210"/>
            <a:ext cx="510540" cy="243840"/>
          </a:xfrm>
          <a:prstGeom prst="rect">
            <a:avLst/>
          </a:prstGeom>
          <a:noFill/>
          <a:ln>
            <a:noFill/>
          </a:ln>
        </p:spPr>
        <p:txBody>
          <a:bodyPr wrap="none" lIns="0" tIns="0" rIns="0" bIns="0" anchor="t" anchorCtr="0">
            <a:spAutoFit/>
          </a:bodyPr>
          <a:lstStyle/>
          <a:p>
            <a:pPr algn="ctr"/>
            <a:r>
              <a:rPr lang="zh-CN" sz="1200" dirty="0">
                <a:solidFill>
                  <a:srgbClr val="4ECDC4"/>
                </a:solidFill>
                <a:latin typeface="Arial" panose="020B0604020202020204"/>
                <a:ea typeface="微软雅黑" panose="020B0503020204020204" charset="-122"/>
                <a:cs typeface="Arial" panose="020B0604020202020204"/>
              </a:rPr>
              <a:t>技术栈</a:t>
            </a:r>
          </a:p>
        </p:txBody>
      </p:sp>
      <p:sp>
        <p:nvSpPr>
          <p:cNvPr id="30" name="TextBox 30"/>
          <p:cNvSpPr txBox="1"/>
          <p:nvPr/>
        </p:nvSpPr>
        <p:spPr>
          <a:xfrm>
            <a:off x="6240566" y="5363528"/>
            <a:ext cx="1615869" cy="213360"/>
          </a:xfrm>
          <a:prstGeom prst="rect">
            <a:avLst/>
          </a:prstGeom>
          <a:noFill/>
          <a:ln>
            <a:noFill/>
          </a:ln>
        </p:spPr>
        <p:txBody>
          <a:bodyPr wrap="none" lIns="0" tIns="0" rIns="0" bIns="0" anchor="t" anchorCtr="0">
            <a:spAutoFit/>
          </a:bodyPr>
          <a:lstStyle/>
          <a:p>
            <a:pPr algn="ctr"/>
            <a:r>
              <a:rPr lang="zh-CN" sz="1050" dirty="0">
                <a:solidFill>
                  <a:srgbClr val="E8EAED"/>
                </a:solidFill>
                <a:latin typeface="Arial" panose="020B0604020202020204"/>
                <a:ea typeface="微软雅黑" panose="020B0503020204020204" charset="-122"/>
                <a:cs typeface="Arial" panose="020B0604020202020204"/>
              </a:rPr>
              <a:t>Python + Sanic + SQLite</a:t>
            </a:r>
          </a:p>
        </p:txBody>
      </p:sp>
      <p:sp>
        <p:nvSpPr>
          <p:cNvPr id="31" name="TextBox 31"/>
          <p:cNvSpPr txBox="1"/>
          <p:nvPr/>
        </p:nvSpPr>
        <p:spPr>
          <a:xfrm>
            <a:off x="6107549" y="5601652"/>
            <a:ext cx="1881902" cy="213360"/>
          </a:xfrm>
          <a:prstGeom prst="rect">
            <a:avLst/>
          </a:prstGeom>
          <a:noFill/>
          <a:ln>
            <a:noFill/>
          </a:ln>
        </p:spPr>
        <p:txBody>
          <a:bodyPr wrap="none" lIns="0" tIns="0" rIns="0" bIns="0" anchor="t" anchorCtr="0">
            <a:spAutoFit/>
          </a:bodyPr>
          <a:lstStyle/>
          <a:p>
            <a:pPr algn="ctr"/>
            <a:r>
              <a:rPr lang="zh-CN" sz="1050" dirty="0">
                <a:solidFill>
                  <a:srgbClr val="9AA0A6"/>
                </a:solidFill>
                <a:latin typeface="Arial" panose="020B0604020202020204"/>
                <a:ea typeface="微软雅黑" panose="020B0503020204020204" charset="-122"/>
                <a:cs typeface="Arial" panose="020B0604020202020204"/>
              </a:rPr>
              <a:t>jieba + WordCloud + snownlp</a:t>
            </a:r>
          </a:p>
        </p:txBody>
      </p:sp>
      <p:sp>
        <p:nvSpPr>
          <p:cNvPr id="32" name="Rectangle 32"/>
          <p:cNvSpPr/>
          <p:nvPr/>
        </p:nvSpPr>
        <p:spPr>
          <a:xfrm>
            <a:off x="0" y="6667500"/>
            <a:ext cx="12192000" cy="190500"/>
          </a:xfrm>
          <a:prstGeom prst="rect">
            <a:avLst/>
          </a:prstGeom>
          <a:solidFill>
            <a:srgbClr val="00D4FF">
              <a:alpha val="20000"/>
            </a:srgbClr>
          </a:solidFill>
          <a:ln>
            <a:noFill/>
          </a:ln>
        </p:spPr>
        <p:txBody>
          <a:bodyPr/>
          <a:lstStyle/>
          <a:p>
            <a:endParaRPr lang="zh-CN" altLang="en-US"/>
          </a:p>
        </p:txBody>
      </p:sp>
      <p:sp>
        <p:nvSpPr>
          <p:cNvPr id="33" name="Rectangle 33"/>
          <p:cNvSpPr/>
          <p:nvPr/>
        </p:nvSpPr>
        <p:spPr>
          <a:xfrm>
            <a:off x="0" y="6762750"/>
            <a:ext cx="12192000" cy="95250"/>
          </a:xfrm>
          <a:prstGeom prst="rect">
            <a:avLst/>
          </a:prstGeom>
          <a:solidFill>
            <a:srgbClr val="4ECDC4">
              <a:alpha val="15000"/>
            </a:srgbClr>
          </a:solidFill>
          <a:ln>
            <a:noFill/>
          </a:ln>
        </p:spPr>
        <p:txBody>
          <a:bodyPr/>
          <a:lstStyle/>
          <a:p>
            <a:endParaRPr lang="zh-CN" altLang="en-US"/>
          </a:p>
        </p:txBody>
      </p:sp>
      <p:sp>
        <p:nvSpPr>
          <p:cNvPr id="34" name="Rectangle 34"/>
          <p:cNvSpPr/>
          <p:nvPr/>
        </p:nvSpPr>
        <p:spPr>
          <a:xfrm>
            <a:off x="285750" y="285750"/>
            <a:ext cx="381000" cy="19050"/>
          </a:xfrm>
          <a:prstGeom prst="rect">
            <a:avLst/>
          </a:prstGeom>
          <a:solidFill>
            <a:srgbClr val="00D4FF">
              <a:alpha val="50000"/>
            </a:srgbClr>
          </a:solidFill>
          <a:ln>
            <a:noFill/>
          </a:ln>
        </p:spPr>
        <p:txBody>
          <a:bodyPr/>
          <a:lstStyle/>
          <a:p>
            <a:endParaRPr lang="zh-CN" altLang="en-US"/>
          </a:p>
        </p:txBody>
      </p:sp>
      <p:sp>
        <p:nvSpPr>
          <p:cNvPr id="35" name="Rectangle 35"/>
          <p:cNvSpPr/>
          <p:nvPr/>
        </p:nvSpPr>
        <p:spPr>
          <a:xfrm>
            <a:off x="285750" y="285750"/>
            <a:ext cx="19050" cy="381000"/>
          </a:xfrm>
          <a:prstGeom prst="rect">
            <a:avLst/>
          </a:prstGeom>
          <a:solidFill>
            <a:srgbClr val="00D4FF">
              <a:alpha val="50000"/>
            </a:srgbClr>
          </a:solidFill>
          <a:ln>
            <a:noFill/>
          </a:ln>
        </p:spPr>
        <p:txBody>
          <a:bodyPr/>
          <a:lstStyle/>
          <a:p>
            <a:endParaRPr lang="zh-CN" altLang="en-US"/>
          </a:p>
        </p:txBody>
      </p:sp>
      <p:sp>
        <p:nvSpPr>
          <p:cNvPr id="36" name="Rectangle 36"/>
          <p:cNvSpPr/>
          <p:nvPr/>
        </p:nvSpPr>
        <p:spPr>
          <a:xfrm>
            <a:off x="11525250" y="285750"/>
            <a:ext cx="381000" cy="19050"/>
          </a:xfrm>
          <a:prstGeom prst="rect">
            <a:avLst/>
          </a:prstGeom>
          <a:solidFill>
            <a:srgbClr val="00D4FF">
              <a:alpha val="50000"/>
            </a:srgbClr>
          </a:solidFill>
          <a:ln>
            <a:noFill/>
          </a:ln>
        </p:spPr>
        <p:txBody>
          <a:bodyPr/>
          <a:lstStyle/>
          <a:p>
            <a:endParaRPr lang="zh-CN" altLang="en-US"/>
          </a:p>
        </p:txBody>
      </p:sp>
      <p:sp>
        <p:nvSpPr>
          <p:cNvPr id="37" name="Rectangle 37"/>
          <p:cNvSpPr/>
          <p:nvPr/>
        </p:nvSpPr>
        <p:spPr>
          <a:xfrm>
            <a:off x="11887200" y="285750"/>
            <a:ext cx="19050" cy="381000"/>
          </a:xfrm>
          <a:prstGeom prst="rect">
            <a:avLst/>
          </a:prstGeom>
          <a:solidFill>
            <a:srgbClr val="00D4FF">
              <a:alpha val="50000"/>
            </a:srgbClr>
          </a:solidFill>
          <a:ln>
            <a:noFill/>
          </a:ln>
        </p:spPr>
        <p:txBody>
          <a:bodyPr/>
          <a:lstStyle/>
          <a:p>
            <a:endParaRPr lang="zh-CN" altLang="en-US"/>
          </a:p>
        </p:txBody>
      </p:sp>
      <p:sp>
        <p:nvSpPr>
          <p:cNvPr id="38" name="Rectangle 38"/>
          <p:cNvSpPr/>
          <p:nvPr/>
        </p:nvSpPr>
        <p:spPr>
          <a:xfrm>
            <a:off x="285750" y="6553200"/>
            <a:ext cx="381000" cy="19050"/>
          </a:xfrm>
          <a:prstGeom prst="rect">
            <a:avLst/>
          </a:prstGeom>
          <a:solidFill>
            <a:srgbClr val="4ECDC4">
              <a:alpha val="50000"/>
            </a:srgbClr>
          </a:solidFill>
          <a:ln>
            <a:noFill/>
          </a:ln>
        </p:spPr>
        <p:txBody>
          <a:bodyPr/>
          <a:lstStyle/>
          <a:p>
            <a:endParaRPr lang="zh-CN" altLang="en-US"/>
          </a:p>
        </p:txBody>
      </p:sp>
      <p:sp>
        <p:nvSpPr>
          <p:cNvPr id="39" name="Rectangle 39"/>
          <p:cNvSpPr/>
          <p:nvPr/>
        </p:nvSpPr>
        <p:spPr>
          <a:xfrm>
            <a:off x="285750" y="6191250"/>
            <a:ext cx="19050" cy="381000"/>
          </a:xfrm>
          <a:prstGeom prst="rect">
            <a:avLst/>
          </a:prstGeom>
          <a:solidFill>
            <a:srgbClr val="4ECDC4">
              <a:alpha val="50000"/>
            </a:srgbClr>
          </a:solidFill>
          <a:ln>
            <a:noFill/>
          </a:ln>
        </p:spPr>
        <p:txBody>
          <a:bodyPr/>
          <a:lstStyle/>
          <a:p>
            <a:endParaRPr lang="zh-CN" altLang="en-US"/>
          </a:p>
        </p:txBody>
      </p:sp>
      <p:sp>
        <p:nvSpPr>
          <p:cNvPr id="40" name="Rectangle 40"/>
          <p:cNvSpPr/>
          <p:nvPr/>
        </p:nvSpPr>
        <p:spPr>
          <a:xfrm>
            <a:off x="11525250" y="6553200"/>
            <a:ext cx="381000" cy="19050"/>
          </a:xfrm>
          <a:prstGeom prst="rect">
            <a:avLst/>
          </a:prstGeom>
          <a:solidFill>
            <a:srgbClr val="4ECDC4">
              <a:alpha val="50000"/>
            </a:srgbClr>
          </a:solidFill>
          <a:ln>
            <a:noFill/>
          </a:ln>
        </p:spPr>
        <p:txBody>
          <a:bodyPr/>
          <a:lstStyle/>
          <a:p>
            <a:endParaRPr lang="zh-CN" altLang="en-US"/>
          </a:p>
        </p:txBody>
      </p:sp>
      <p:sp>
        <p:nvSpPr>
          <p:cNvPr id="41" name="Rectangle 41"/>
          <p:cNvSpPr/>
          <p:nvPr/>
        </p:nvSpPr>
        <p:spPr>
          <a:xfrm>
            <a:off x="11887200" y="6191250"/>
            <a:ext cx="19050" cy="381000"/>
          </a:xfrm>
          <a:prstGeom prst="rect">
            <a:avLst/>
          </a:prstGeom>
          <a:solidFill>
            <a:srgbClr val="4ECDC4">
              <a:alpha val="50000"/>
            </a:srgbClr>
          </a:solidFill>
          <a:ln>
            <a:noFill/>
          </a:ln>
        </p:spPr>
        <p:txBody>
          <a:bodyPr/>
          <a:lstStyle/>
          <a:p>
            <a:endParaRPr lang="zh-CN" altLang="en-US"/>
          </a:p>
        </p:txBody>
      </p:sp>
      <p:sp>
        <p:nvSpPr>
          <p:cNvPr id="42" name="TextBox 42"/>
          <p:cNvSpPr txBox="1"/>
          <p:nvPr/>
        </p:nvSpPr>
        <p:spPr>
          <a:xfrm>
            <a:off x="11302270" y="6475095"/>
            <a:ext cx="424910"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11 / 11</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1054</Words>
  <Application>Microsoft Office PowerPoint</Application>
  <PresentationFormat>宽屏</PresentationFormat>
  <Paragraphs>280</Paragraphs>
  <Slides>11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11</vt:i4>
      </vt:variant>
    </vt:vector>
  </HeadingPairs>
  <TitlesOfParts>
    <vt:vector size="15" baseType="lpstr">
      <vt:lpstr>Arial</vt:lpstr>
      <vt:lpstr>Calibri</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3761262294@qq.com</cp:lastModifiedBy>
  <cp:revision>4</cp:revision>
  <dcterms:created xsi:type="dcterms:W3CDTF">2026-06-15T02:27:00Z</dcterms:created>
  <dcterms:modified xsi:type="dcterms:W3CDTF">2026-06-15T03:03:31Z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B86FF696FDF044B4AEABE03003B1DD9E_12</vt:lpwstr>
  </property>
  <property fmtid="{D5CDD505-2E9C-101B-9397-08002B2CF9AE}" pid="3" name="KSOProductBuildVer">
    <vt:lpwstr>2052-12.8.2.15091</vt:lpwstr>
  </property>
</Properties>
</file>